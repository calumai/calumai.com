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bb121f24824604" /><Relationship Type="http://schemas.openxmlformats.org/officeDocument/2006/relationships/extended-properties" Target="/docProps/app.xml" Id="Rc56b7c42ec4e4a8c" /><Relationship Type="http://schemas.openxmlformats.org/officeDocument/2006/relationships/officeDocument" Target="/ppt/presentation.xml" Id="R4ac41c6597bc46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d50510f65a4b26"/>
  </p:sldMasterIdLst>
  <p:notesMasterIdLst>
    <p:notesMasterId xmlns:r="http://schemas.openxmlformats.org/officeDocument/2006/relationships" r:id="Rf2a20a94725d42c1"/>
  </p:notesMasterIdLst>
  <p:sldIdLst>
    <p:sldId xmlns:r="http://schemas.openxmlformats.org/officeDocument/2006/relationships" id="256" r:id="R27eb957eb1a64d7d"/>
    <p:sldId xmlns:r="http://schemas.openxmlformats.org/officeDocument/2006/relationships" id="257" r:id="Rbae6811cb2174986"/>
    <p:sldId xmlns:r="http://schemas.openxmlformats.org/officeDocument/2006/relationships" id="258" r:id="R0bb74cb9c0a74280"/>
    <p:sldId xmlns:r="http://schemas.openxmlformats.org/officeDocument/2006/relationships" id="259" r:id="R034e1acfb6e04ef4"/>
    <p:sldId xmlns:r="http://schemas.openxmlformats.org/officeDocument/2006/relationships" id="260" r:id="Rdb149f5603c94c01"/>
    <p:sldId xmlns:r="http://schemas.openxmlformats.org/officeDocument/2006/relationships" id="261" r:id="R359c1a63e06a4285"/>
    <p:sldId xmlns:r="http://schemas.openxmlformats.org/officeDocument/2006/relationships" id="262" r:id="R232b8516640349d9"/>
    <p:sldId xmlns:r="http://schemas.openxmlformats.org/officeDocument/2006/relationships" id="263" r:id="R69201025227c41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3d6eb8d06e48f1" /><Relationship Type="http://schemas.openxmlformats.org/officeDocument/2006/relationships/slideMaster" Target="/ppt/slideMasters/slideMaster1.xml" Id="Rbbd50510f65a4b26" /><Relationship Type="http://schemas.openxmlformats.org/officeDocument/2006/relationships/notesMaster" Target="/ppt/notesMasters/notesMaster1.xml" Id="Rf2a20a94725d42c1" /><Relationship Type="http://schemas.openxmlformats.org/officeDocument/2006/relationships/presProps" Target="/ppt/presProps.xml" Id="Rf80a3a365ca24b8c" /><Relationship Type="http://schemas.openxmlformats.org/officeDocument/2006/relationships/tableStyles" Target="/ppt/tableStyles.xml" Id="R4c9354ac2a5a4bde" /><Relationship Type="http://schemas.openxmlformats.org/officeDocument/2006/relationships/slide" Target="/ppt/slides/slide1.xml" Id="R27eb957eb1a64d7d" /><Relationship Type="http://schemas.openxmlformats.org/officeDocument/2006/relationships/slide" Target="/ppt/slides/slide2.xml" Id="Rbae6811cb2174986" /><Relationship Type="http://schemas.openxmlformats.org/officeDocument/2006/relationships/slide" Target="/ppt/slides/slide3.xml" Id="R0bb74cb9c0a74280" /><Relationship Type="http://schemas.openxmlformats.org/officeDocument/2006/relationships/slide" Target="/ppt/slides/slide4.xml" Id="R034e1acfb6e04ef4" /><Relationship Type="http://schemas.openxmlformats.org/officeDocument/2006/relationships/slide" Target="/ppt/slides/slide5.xml" Id="Rdb149f5603c94c01" /><Relationship Type="http://schemas.openxmlformats.org/officeDocument/2006/relationships/slide" Target="/ppt/slides/slide6.xml" Id="R359c1a63e06a4285" /><Relationship Type="http://schemas.openxmlformats.org/officeDocument/2006/relationships/slide" Target="/ppt/slides/slide7.xml" Id="R232b8516640349d9" /><Relationship Type="http://schemas.openxmlformats.org/officeDocument/2006/relationships/slide" Target="/ppt/slides/slide8.xml" Id="R69201025227c41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8dcf69980842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a774467b354eea" /><Relationship Type="http://schemas.openxmlformats.org/officeDocument/2006/relationships/notesMaster" Target="/ppt/notesMasters/notesMaster1.xml" Id="R9ce7905d445c4f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0ca1875d4c4b1f" /><Relationship Type="http://schemas.openxmlformats.org/officeDocument/2006/relationships/notesMaster" Target="/ppt/notesMasters/notesMaster1.xml" Id="Re80df086793743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f4757251184abd" /><Relationship Type="http://schemas.openxmlformats.org/officeDocument/2006/relationships/notesMaster" Target="/ppt/notesMasters/notesMaster1.xml" Id="R732292b1c2394f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cc2516c66143d4" /><Relationship Type="http://schemas.openxmlformats.org/officeDocument/2006/relationships/notesMaster" Target="/ppt/notesMasters/notesMaster1.xml" Id="Rb50c5c6a86c948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4ebc0a42e14f69" /><Relationship Type="http://schemas.openxmlformats.org/officeDocument/2006/relationships/notesMaster" Target="/ppt/notesMasters/notesMaster1.xml" Id="R23f19dc5b3a24af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86b83ff80b4738" /><Relationship Type="http://schemas.openxmlformats.org/officeDocument/2006/relationships/notesMaster" Target="/ppt/notesMasters/notesMaster1.xml" Id="R581d6d8461d04a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6f84c6af0114dd4" /><Relationship Type="http://schemas.openxmlformats.org/officeDocument/2006/relationships/notesMaster" Target="/ppt/notesMasters/notesMaster1.xml" Id="R9afbe5e981cc4c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14e04f863f4b93" /><Relationship Type="http://schemas.openxmlformats.org/officeDocument/2006/relationships/notesMaster" Target="/ppt/notesMasters/notesMaster1.xml" Id="R701a2187030148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開場：說明這堂課的實作成果與使用情境。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本頁主要為課程設計與使用者指定內容，無外部非平凡主張。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講師提示：goal；請以學員自己的真實題目示範，不用虛構成果。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本頁主要為課程設計與使用者指定內容，無外部非平凡主張。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講師提示：key；請以學員自己的真實題目示範，不用虛構成果。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本頁主要為課程設計與使用者指定內容，無外部非平凡主張。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講師提示：flow；請以學員自己的真實題目示範，不用虛構成果。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本頁主要為課程設計與使用者指定內容，無外部非平凡主張。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講師提示：prompt；請以學員自己的真實題目示範，不用虛構成果。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本頁主要為課程設計與使用者指定內容，無外部非平凡主張。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講師提示：practice；請以學員自己的真實題目示範，不用虛構成果。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本頁主要為課程設計與使用者指定內容，無外部非平凡主張。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講師提示：deliver；請以學員自己的真實題目示範，不用虛構成果。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本頁主要為課程設計與使用者指定內容，無外部非平凡主張。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講師提示：close；請以學員自己的真實題目示範，不用虛構成果。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本頁主要為課程設計與使用者指定內容，無外部非平凡主張。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f47736869e4e8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b27cf3fcd2400c" /><Relationship Type="http://schemas.openxmlformats.org/officeDocument/2006/relationships/slideLayout" Target="/ppt/slideLayouts/slideLayout1.xml" Id="R244fb615cc384d5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4fb615cc384d5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cc6599d2c14ea3" /><Relationship Type="http://schemas.openxmlformats.org/officeDocument/2006/relationships/notesSlide" Target="/ppt/notesSlides/notesSlide1.xml" Id="R1e9095100afc4e8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42b1c90e6d4f1f" /><Relationship Type="http://schemas.openxmlformats.org/officeDocument/2006/relationships/notesSlide" Target="/ppt/notesSlides/notesSlide2.xml" Id="R2b942512d4f042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ad07a0df284028" /><Relationship Type="http://schemas.openxmlformats.org/officeDocument/2006/relationships/notesSlide" Target="/ppt/notesSlides/notesSlide3.xml" Id="Re6cd3f61a0cc4e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989607ff5d432d" /><Relationship Type="http://schemas.openxmlformats.org/officeDocument/2006/relationships/notesSlide" Target="/ppt/notesSlides/notesSlide4.xml" Id="R277b23d4460547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ef33fda624638" /><Relationship Type="http://schemas.openxmlformats.org/officeDocument/2006/relationships/notesSlide" Target="/ppt/notesSlides/notesSlide5.xml" Id="R78d0d475951a4dd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b5277b0cd34728" /><Relationship Type="http://schemas.openxmlformats.org/officeDocument/2006/relationships/notesSlide" Target="/ppt/notesSlides/notesSlide6.xml" Id="R2855bbb7c6ac43a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a0106809c24d51" /><Relationship Type="http://schemas.openxmlformats.org/officeDocument/2006/relationships/notesSlide" Target="/ppt/notesSlides/notesSlide7.xml" Id="R43971b9528ef42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24a00a3a8c4f2a" /><Relationship Type="http://schemas.openxmlformats.org/officeDocument/2006/relationships/notesSlide" Target="/ppt/notesSlides/notesSlide8.xml" Id="R3aae8395fd22430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AF1939-325A-429E-809B-84851B221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0"/>
            <a:ext cx="3905250" cy="685800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E3A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56654-19F8-448A-8974-504855C8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E3A62F"/>
                </a:solidFill>
              </a:defRPr>
            </a:pPr>
            <a:r>
              <a:rPr sz="1200" b="1">
                <a:solidFill>
                  <a:srgbClr val="E3A62F"/>
                </a:solidFill>
              </a:rPr>
              <a:t>第 02 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E28A7E-06F6-47BC-B9D8-8DA9BCEF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695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活用 Gemini：製作自己的排課行事曆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80886A-ED79-4BD5-A50F-5DFB9706C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57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36273"/>
                </a:solidFill>
              </a:defRPr>
            </a:pPr>
            <a:r>
              <a:rPr sz="1800">
                <a:solidFill>
                  <a:srgbClr val="536273"/>
                </a:solidFill>
              </a:rPr>
              <a:t>把課程規則變成一個可操作的個人排課系統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DAEEC2-46CC-47E9-B4D3-BDBDD3C9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97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3A62F"/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B1EF9A-70CD-4C91-9B55-E2BC83639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81250"/>
            <a:ext cx="1571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463879-7094-43C3-BD7C-F72AE201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33387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今天的作品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排課行事曆原型、欄位表、使用說明</a:t>
            </a:r>
          </a:p>
        </p:txBody>
      </p:sp>
    </p:spTree>
    <p:extLst>
      <p:ext uri="{BB962C8B-B14F-4D97-AF65-F5344CB8AC3E}">
        <p14:creationId xmlns:p14="http://schemas.microsoft.com/office/powerpoint/2010/main" val="14551747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193AE-3DE0-47AA-8E6F-96B45630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DF0E44-8FE5-4E4D-B040-52E58299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學習任務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31DE30-700B-44D7-95F6-E61F93F0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16F548-8B69-4DD5-913E-64DD6C2C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878A50-5A96-40C2-8863-ADF46CAA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今天結束時，你要能完成：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8C859D-36F9-4EBE-AFF6-195C7743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把自然語言需求拆成資料欄位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06C8D1-E5A7-49CA-B8F7-E71E5DFB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讓 Gemini 協助設計排課規則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47015E-E810-49BA-8D1C-99799B81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完成可維護的行事曆原型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282D3F-7D08-4169-BCAD-558994E5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38375"/>
            <a:ext cx="3714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3A62F">
              <a:alpha val="13333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2FBF71-DDCF-4411-A069-2719BDF5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193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3A62F"/>
                </a:solidFill>
              </a:defRPr>
            </a:pPr>
            <a:r>
              <a:rPr sz="1800" b="1">
                <a:solidFill>
                  <a:srgbClr val="E3A62F"/>
                </a:solidFill>
              </a:rPr>
              <a:t>完成標準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979A2F-A319-4A56-B772-62A08882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385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排課行事曆原型、欄位表、使用說明</a:t>
            </a:r>
          </a:p>
        </p:txBody>
      </p:sp>
    </p:spTree>
    <p:extLst>
      <p:ext uri="{BB962C8B-B14F-4D97-AF65-F5344CB8AC3E}">
        <p14:creationId xmlns:p14="http://schemas.microsoft.com/office/powerpoint/2010/main" val="14994626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F9C657-4E9B-40D7-A644-23B1CFFD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209C1A-F945-4041-AA64-15AC5BF6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核心觀念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7073EA-860A-437D-9CC6-AFC0BDE5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DA6AAD-03A1-4E70-A1AD-D639AE72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051AC3-C8D0-47D4-A264-C5A0AD2E6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把這堂課記成三個關鍵決定：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78916B-7098-41A3-B869-F13C55EA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3A62F">
              <a:alpha val="9412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F2FAE5-5850-4F0E-A6FE-CB4A8C12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E3A62F"/>
                </a:solidFill>
              </a:defRPr>
            </a:pPr>
            <a:r>
              <a:rPr sz="1575" b="1">
                <a:solidFill>
                  <a:srgbClr val="E3A62F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7FDFA3-7C37-4700-BE2D-AC4CCE17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52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先定義資料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96F947-B809-463A-BF8E-81C69059C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B75BB4-9BBA-4329-8366-1BDC1B63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E3A62F"/>
                </a:solidFill>
              </a:defRPr>
            </a:pPr>
            <a:r>
              <a:rPr sz="1575" b="1">
                <a:solidFill>
                  <a:srgbClr val="E3A62F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A369B7-9E27-412B-9B0B-35FF6D0F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052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再定義規則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1AFA5-89DB-4AB6-9D43-0B3D6B305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3A62F">
              <a:alpha val="9412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9F5CB7-BA71-42BE-8FE5-7EF6193B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E3A62F"/>
                </a:solidFill>
              </a:defRPr>
            </a:pPr>
            <a:r>
              <a:rPr sz="1575" b="1">
                <a:solidFill>
                  <a:srgbClr val="E3A62F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DE0B56-A043-4308-BCB2-028EC85C0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最後才設計畫面</a:t>
            </a:r>
          </a:p>
        </p:txBody>
      </p:sp>
    </p:spTree>
    <p:extLst>
      <p:ext uri="{BB962C8B-B14F-4D97-AF65-F5344CB8AC3E}">
        <p14:creationId xmlns:p14="http://schemas.microsoft.com/office/powerpoint/2010/main" val="1878021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DAA8FE-627C-48C9-A809-2E002C25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5CFCAD-F70C-4AC0-9FC4-569565D3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操作流程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2225D7-A15E-49E3-BC2D-3515C623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C4CF53-5A27-42D3-BCFB-9EC17081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777399-2B42-40FE-A585-87DF191F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用這條流程，把想法做成可驗收成果：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61766B-D601-4EE5-81D1-8B91284C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13333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0864A5-3316-47E1-A1B9-2B597E115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542A56-E07D-4C98-91AD-0561054D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列出課程、時段、地點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9A87AC-E760-4A78-AEE6-39F74E16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FFB33F-7B3E-49FA-AF38-0590D135D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9ECBDF-FA1C-4435-A174-9D811091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請 Gemini 找出衝堂條件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D39E6-AE89-45BC-972C-A6266DE3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13333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12966A-7E4A-45C6-BAF9-3B7389E0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24C236-EB34-4981-97DB-7D313A41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建立 Google Sheet 欄位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6753AF-168A-4052-8D14-0D080280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207960-3859-45C5-B28C-3D7E35EB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08C820-C96D-4E54-A013-7AB68336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生成排課邏輯與提示詞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A5E92C-1B9F-4AD7-B79B-45C8133BB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13333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80AFF2-3A11-406C-92F3-3C46892C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055340-CA76-402C-B034-7C9E1C86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人工檢查結果</a:t>
            </a:r>
          </a:p>
        </p:txBody>
      </p:sp>
    </p:spTree>
    <p:extLst>
      <p:ext uri="{BB962C8B-B14F-4D97-AF65-F5344CB8AC3E}">
        <p14:creationId xmlns:p14="http://schemas.microsoft.com/office/powerpoint/2010/main" val="1859713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E3AA39-562E-4E3C-8FDD-E2A7D735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674CD8-9234-47A2-A708-B4615FEB8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可直接使用的提示詞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979EF0-27D2-4031-B629-67A07F2A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415764-676F-4CF5-9E85-FB5EBC94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9987F4-AA56-4D30-BA07-480EB1BA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537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1827"/>
          </a:solidFill>
          <a:ln xmlns:a="http://schemas.openxmlformats.org/drawingml/2006/main" w="9525">
            <a:solidFill>
              <a:srgbClr val="10182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64F7E4-2163-468D-9B0A-60B0D96C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10287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FFFFFF"/>
                </a:solidFill>
              </a:defRPr>
            </a:pPr>
            <a:r>
              <a:rPr sz="1725">
                <a:solidFill>
                  <a:srgbClr val="FFFFFF"/>
                </a:solidFill>
              </a:rPr>
              <a:t>請幫我設計一個排課行事曆。先詢問必要條件，再建立課程、日期、時間、地點、教師、班級與備註欄位，最後提出避免衝堂的規則。不要直接假設未知資訊。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CA1C19-A988-4CDD-8F3D-83071CB2D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3A62F"/>
                </a:solidFill>
              </a:defRPr>
            </a:pPr>
            <a:r>
              <a:rPr sz="1500" b="1">
                <a:solidFill>
                  <a:srgbClr val="E3A62F"/>
                </a:solidFill>
              </a:rPr>
              <a:t>使用原則：先上傳／準備真實資料，再要求 AI 生成；產出後人工檢查。</a:t>
            </a:r>
          </a:p>
        </p:txBody>
      </p:sp>
    </p:spTree>
    <p:extLst>
      <p:ext uri="{BB962C8B-B14F-4D97-AF65-F5344CB8AC3E}">
        <p14:creationId xmlns:p14="http://schemas.microsoft.com/office/powerpoint/2010/main" val="2725079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6D9273-CEC1-41DF-A6F5-BD2CF828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0D4849-C66E-43A7-BFDF-CD528707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課堂實作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5E50F-BD3A-4586-A7C8-07CE1A13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69416D-FDD5-48AC-BA63-0F9EC095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737B0D-007D-4900-BD14-96A15093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請在課堂完成這個最小可行版本：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ACD637-62BC-46C4-A5F1-999CB11EA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6858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BC71A2-6D6A-44F3-8135-D01C61456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建立自己的每週課程表，加入至少 5 門課、3 種時段與 2 個可能衝堂的情況。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2E90A6-DAF4-4D19-9166-F96ED1DD2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3143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E3A62F">
              <a:alpha val="13333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A45D93-8DE3-4096-9311-37B09895F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62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3A62F"/>
                </a:solidFill>
              </a:defRPr>
            </a:pPr>
            <a:r>
              <a:rPr sz="1800" b="1">
                <a:solidFill>
                  <a:srgbClr val="E3A62F"/>
                </a:solidFill>
              </a:rPr>
              <a:t>講師檢查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B0B99E-1DEC-4B23-B9F1-7A4B345E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33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能操作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A99121-01D2-4704-8A2A-DAD8359D2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338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有輸入與輸出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D1752A-2C0E-4324-9293-E501F0A53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33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能說明限制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AAB507-29C2-4565-BE2B-D1C28AEE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留下版本紀錄</a:t>
            </a:r>
          </a:p>
        </p:txBody>
      </p:sp>
    </p:spTree>
    <p:extLst>
      <p:ext uri="{BB962C8B-B14F-4D97-AF65-F5344CB8AC3E}">
        <p14:creationId xmlns:p14="http://schemas.microsoft.com/office/powerpoint/2010/main" val="10917257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E213F3-0449-46C0-8B59-AB7764D4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4F9C9B-F0BB-4424-8101-7719EA0C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交付規格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A068DA-8CE9-4F23-98DF-9D88B8EF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1F26E6-3A2B-4767-BD53-11EDFA99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4B59B3-B0F7-4AFD-923B-F70C6F4F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作品包必須讓另一個人接手後也看得懂。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9F80D8-54C4-4BDF-8E95-0B95008D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E3A62F"/>
                </a:solidFill>
              </a:defRPr>
            </a:pPr>
            <a:r>
              <a:rPr sz="1650" b="1">
                <a:solidFill>
                  <a:srgbClr val="E3A62F"/>
                </a:solidFill>
              </a:rPr>
              <a:t>01｜成果檔案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745DED-C7A0-40FB-BA06-B1A2FC3A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C22A4E-5625-4940-B8C4-76932400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8132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02｜提示詞或程式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936BEC-1A33-424A-9F36-4C6AA534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6232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65EF5E-323C-4F12-90BF-B8CBD722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814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03｜輸入資料與來源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6BE9C0-F91D-4614-8202-150B55CA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232425-A5E6-49F8-8146-5612D065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814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04｜測試／人工檢查紀錄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054BA6-C2A2-4F31-A407-5696B69F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6247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D160F-75AF-4888-958C-7F4FCBD1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815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05｜操作說明與下一步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9AFC6A-A99D-4723-B0BF-30C847A4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625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558956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E1E2D0-CD09-4726-8DE8-911AF33F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3A62F"/>
                </a:solidFill>
              </a:defRPr>
            </a:pPr>
            <a:r>
              <a:rPr sz="975" b="1">
                <a:solidFill>
                  <a:srgbClr val="E3A62F"/>
                </a:solidFill>
              </a:rPr>
              <a:t>AI 工具實戰進階班 / 第 02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A75D31-C3CA-465C-AEEE-319510F0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課程總結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CD3810-83D5-45E9-9A7E-02C045BFF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8FF725-184B-45AE-A3B4-8F44D754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5B677-0DE0-48A3-9E5E-A2D1D31B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952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今天不是把工具玩過一次，而是留下可重複使用的流程。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150481-504B-4A1A-9D44-140FD8D1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3A62F"/>
                </a:solidFill>
              </a:defRPr>
            </a:pPr>
            <a:r>
              <a:rPr sz="1950" b="1">
                <a:solidFill>
                  <a:srgbClr val="E3A62F"/>
                </a:solidFill>
              </a:rPr>
              <a:t>下一步：把成果放進你的 AI 備課工具箱。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2D4E4F-9B02-4C54-AD0C-76EC77C0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0500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3A62F"/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8EA220-88B4-4223-A096-8032610A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19375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GO</a:t>
            </a:r>
          </a:p>
        </p:txBody>
      </p:sp>
    </p:spTree>
    <p:extLst>
      <p:ext uri="{BB962C8B-B14F-4D97-AF65-F5344CB8AC3E}">
        <p14:creationId xmlns:p14="http://schemas.microsoft.com/office/powerpoint/2010/main" val="11609642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2026-08-18T08:12:13.5730000Z</dcterms:created>
  <dcterms:modified xsi:type="dcterms:W3CDTF">2026-08-18T08:12:13.5730000Z</dcterms:modified>
</coreProperties>
</file>