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自我介紹＋今天的承諾：課程結束時，每個人手上都有一個全世界都打得開的網址。先問現場：有誰部署過網頁？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讓大家知道實作在後半段，前 25 分鐘是觀念與陷阱，撐過去就會很順。強調中間有 30 分鐘動手做。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請學員現在就打開這三樣東西。沒有網頁檔案的人，等一下給範例 zip。確認每個人都登入 Google 帳號。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先問現場：你希望結束後帶走哪一個？請 2-3 位分享。把他們說的寫在白板上，實作時就用自己的題目做。強調族語教材做成網頁的兩個好處：學生手機就能開、族語字元與發音檔都能放。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用一句話定義：GAS 是跑在 Google 雲端的 JavaScript。重點是它隱藏的 Web App 模式：寫一個 doGet() 就有網址。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這頁讓學員意識到今天學的不只做網頁。舉一個貼近他們的例子：表單填完自動寄通知信。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Vibe Coding 追求節奏，部署往往是最卡的一關。GAS 把這道牆整片拆掉：AI 產生程式碼，貼上，就上線。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用這張圖收尾三個優勢：不用裝環境、試算表當資料庫、AI 寫好直接貼上就部署。停三秒讓大家看完再往下。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誠實說明限制，避免學員回去用在錯的場合。強調 30-50 人同時上線就可能被拒絕連線，不要拿它辦大型活動報名。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這是新手最容易卡的地方，講慢一點。示範：改 HTML → 重新整理 → 沒變 → 到管理部署發布新版本 → 才變。也介紹 /dev 測試網址。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解釋為什麼 ./image.png 在 GAS 會失效：檔案其實在雲端硬碟，不在同一個網站目錄。今天用的範例腳本會幫忙轉換，但資料夾權限必須打開。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轉場。請大家把雲端硬碟打開，接下來邊講邊做。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重點：一定要先進到「將來要當網站根目錄的那個資料夾」再新增，位置錯了後面會找不到檔案。出現通知訊息時點「建立程式碼」。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快速掃過五個區域，只細講「編輯器」和「部署」。左側六個視圖裡，零基礎學員只會用到編輯器。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三個選項的差別要講清楚，尤其是測試部署 /dev：開發階段用它，改完存檔重整就看到，不必一直發新版本。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點擊新部署後、左側齒輪裡的四種型態。今天只用第一個，其他三個講一句話帶過就好，讓他們知道 GAS 的延伸空間。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轉場：兩條路都通，選一條做就好。建議零基礎選方法 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開連結 → 右上「建立副本」→ 把副本拖到 Web Test 資料夾。提醒：連結很長，用課程講義或 QR code 給他們。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這是完整流程的地圖。強調順序不能跳：音檔權限沒開，後面配對出來的連結學生也播不出來。先讓大家看完五個階段再一階一階做。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權限這步最容易漏掉，漏了後面音檔一定播不出來。資料夾 ID 就是網址列 folders/ 後面那串，請他們貼到記事本備用。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第一列一定要留給標題，程式會跳過它。D 欄先空著，階段四會自動填。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從試算表的「擴充功能 → Apps Script」進去，這樣程式跟這份試算表是綁在一起的。提醒把 FOLDER_ID 換成階段一複製的那串，Ctrl+S 存檔。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示範一次：F5 重新整理 → 族語小工具 → 自動填入音檔連結 → 首次要授權（進階 → 允許）→ 再點一次。程式會自動忽略副檔名、空白與括號內容來比對檔名。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單字卡命名 card，聽力測驗命名 quiz，名字要跟程式碼裡呼叫的一致。存取權限務必選所有人，最後那個網址就是給學生的連結。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說明這個腳本幫我們解決了什麼：讀 HTML、用網址參數分層、轉換相對路徑、轉換超連結。省下自己寫 doGet 的功夫。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適合想保持自己專案乾淨的人。建立空白 GAS → 左側「資料庫」→ 貼 ID → 選最新版本 → 貼這三行程式碼 → 存檔。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轉場：接下來是實際部署，六個步驟。請大家跟著做。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首頁一定要叫 index.html，這是最常見的錯誤。範例 zip 解壓縮後有 index.html、img/mona.jpg、test/a1.html、test/a2.html。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示範：部署 → 新增部署 → 齒輪選網頁應用程式 → 填版本說明 → 存取權限選「所有人」。權限沒改成所有人，別人打不開。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這裡最容易讓學員以為自己中毒了。三道關卡照順序講：授予存取權 → Advanced → Go to… → 選帳號 → Continue。安撫他們：警告是因為腳本沒送 Google 審核，不是病毒。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部署完成畫面會給 /exec 網址。請學員複製貼到手機或傳給旁邊的人打開，這是驗收成功的時刻。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第一次打開常常圖片破圖，九成是資料夾權限。示範：對 img 資料夾按右鍵 → 共用 → 知道連結的任何人 → 檢視者。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子資料夾的網頁要靠網址參數開啟。原文寫法是 ?folder=test?file=a1.html，實務上建議用標準的 &amp; 串接第二個參數。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轉場：前面是照著現成腳本做，這一段換成自己指揮 AI。強調一次只丟一個階段，做完驗證再往下 — 一次丟完 AI 會給你一堆跑不動的程式碼。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Vibe Coding 的核心紀律：一次一個階段，每段做完先跑起來再進下一段。完整指令在講義檔「給AI的五段指令.md」，請他們複製貼上，不要重打。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示範現場丟第一段給 AI。重點示範怎麼寫需求：說清楚身分、資料在哪、要幾個檔案、要什麼互動。做出來能翻牌就往下。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第二段是升級，不是重做。提醒學員在同一個對話裡接著問，AI 才有上下文。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這段是全場最有感的地方：幾十個連結變成點一下。命名很雜沒關係，關鍵是把命名的樣子直接寫給 AI 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音檔沒聲音是最常見的求救。這段示範怎麼把「症狀」講給 AI 聽，而不是只說壞掉了。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最後一段讓系統對老師真正有用：誰做了、對幾題、錯哪些字。強調錯題分析欄是下次備課的依據。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分鐘實作。分三個檢核點，做完前兩個就算達標，第三個給進度快的人。走動巡場，重點看兩件事：資料夾位置、存取權限。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收尾巡檢常見狀況。前兩列是課堂上最常出現的。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收束：GAS 的價值在於快，補上 Vibe Coding 從開發到發布的最後一哩路。門檻最低、彈性最高的選擇之一。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給他們回家的路徑。教材來源：STEAM 教育學習網 Vibe Coding 專區。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drive/folders/1tlBxmsOu74q0fJPUuiGq5sW0GzgyGcf5" TargetMode="External"/><Relationship Id="rId2" Type="http://schemas.openxmlformats.org/officeDocument/2006/relationships/hyperlink" Target="https://script.google.com/macros/s/AKfycbxX8Ot9ZUnLZwIYGHlqygd4q3urC_zKFwUHm6mMu7N2WacYrTFdfJ30oQ8vUM3W_DlP/exe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47726"/>
            <a:ext cx="1802124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實戰 / 90 分鐘工作坊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503995"/>
            <a:ext cx="16874440" cy="208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91"/>
              </a:lnSpc>
              <a:buNone/>
            </a:pPr>
            <a:r>
              <a:rPr lang="en-US" sz="7200" b="1" spc="-144" kern="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Google 雲端硬碟 變成你的網頁伺服器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52500" y="5894804"/>
            <a:ext cx="11772900" cy="1181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74"/>
              </a:lnSpc>
              <a:buNone/>
            </a:pPr>
            <a:r>
              <a:rPr lang="en-US" sz="30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Google Apps Script 部署 Vibe Coding 作品，零主機、零環境設定、零費用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137805"/>
            <a:ext cx="2053707" cy="42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E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講師：＿＿＿＿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352868" y="9137805"/>
            <a:ext cx="2347056" cy="42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E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對象：零程式基礎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19916" y="9137805"/>
            <a:ext cx="669577" cy="42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E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3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18102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今天的流程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14293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55388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457358" y="2831485"/>
            <a:ext cx="3443919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認識 GAS 與它的定位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48771" y="2614293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8" name="Text 6"/>
          <p:cNvSpPr/>
          <p:nvPr/>
        </p:nvSpPr>
        <p:spPr>
          <a:xfrm>
            <a:off x="9448771" y="2955388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953629" y="2831485"/>
            <a:ext cx="39186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部署前必知的限制與陷阱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3570544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911639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457358" y="3787736"/>
            <a:ext cx="4274852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建立檔案與編輯器介面導覽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448771" y="3570544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4" name="Text 12"/>
          <p:cNvSpPr/>
          <p:nvPr/>
        </p:nvSpPr>
        <p:spPr>
          <a:xfrm>
            <a:off x="9448771" y="3911639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953629" y="3787736"/>
            <a:ext cx="3562377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兩種取得程式碼的方法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4526795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867890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457358" y="4743987"/>
            <a:ext cx="3562377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實作：部署自己的網頁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448771" y="4526795"/>
            <a:ext cx="788668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771" y="4867890"/>
            <a:ext cx="1361995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53629" y="4743987"/>
            <a:ext cx="320620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疑難排解與延伸應用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課前準備清單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48691"/>
            <a:ext cx="5257747" cy="737630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9262" y="2575453"/>
            <a:ext cx="484464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79262" y="3091148"/>
            <a:ext cx="4844646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 Google 帳號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9262" y="3831417"/>
            <a:ext cx="4536350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學校帳號若被管理員限制外掛，請改用個人 Gmail。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15042" y="2148691"/>
            <a:ext cx="5257747" cy="737630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1804" y="2575453"/>
            <a:ext cx="484464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41804" y="3091148"/>
            <a:ext cx="4844646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桌機版瀏覽器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41804" y="3831417"/>
            <a:ext cx="4536350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最順；手機無法完成部署設定。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77584" y="2148691"/>
            <a:ext cx="5257747" cy="737630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04345" y="2575453"/>
            <a:ext cx="484464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504345" y="3091148"/>
            <a:ext cx="4844646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一份網頁檔案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504345" y="3831417"/>
            <a:ext cx="4536350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自己的 Vibe Coding 作品，或課堂提供的範例 zip。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先對焦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6822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族語老師想用它做什麼？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329100"/>
            <a:ext cx="14668500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這些都是一頁網頁 ＋ 一個網址就能成立的教具。等一下實作時，直接拿你自己的題目做。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3220495"/>
            <a:ext cx="5283157" cy="25950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3033" y="3571028"/>
            <a:ext cx="5040300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族語單字卡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03033" y="4199978"/>
            <a:ext cx="4719554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翻卡練習，附羅馬字拼寫與中文對照。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502337" y="3220495"/>
            <a:ext cx="5283157" cy="25950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2869" y="3571028"/>
            <a:ext cx="5040300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發音練習頁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852869" y="4199978"/>
            <a:ext cx="4719554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放族語發音檔，學生點一下就跟著念。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2052174" y="3220495"/>
            <a:ext cx="5283157" cy="25950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02707" y="3571028"/>
            <a:ext cx="5040300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主題字彙牆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402707" y="4199978"/>
            <a:ext cx="4719554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飲食、親屬、祭儀分類，配圖片與族語詞。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52500" y="6082230"/>
            <a:ext cx="5283157" cy="25950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3033" y="6432763"/>
            <a:ext cx="5040300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線上點名與小考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303033" y="7061713"/>
            <a:ext cx="4719554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 Google 試算表，收回答與出席紀錄。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6502337" y="6082230"/>
            <a:ext cx="5283157" cy="25950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2869" y="6432763"/>
            <a:ext cx="5040300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作業上傳站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852869" y="7061713"/>
            <a:ext cx="4719554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學生上傳朗讀錄音，直接進雲端硬碟。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2052174" y="6082230"/>
            <a:ext cx="5283157" cy="259505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21" name="Text 19"/>
          <p:cNvSpPr/>
          <p:nvPr/>
        </p:nvSpPr>
        <p:spPr>
          <a:xfrm>
            <a:off x="12394963" y="6425019"/>
            <a:ext cx="5057337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族語文化小網站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2394963" y="7053969"/>
            <a:ext cx="4735506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部落故事、歌謠、耆老訪談，一個網址就能分享給家長。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952500" y="9096302"/>
            <a:ext cx="1802124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你最想先做哪一個？寫下來，今天的實作就以它為目標。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34658"/>
            <a:ext cx="9021138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觀念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710434"/>
            <a:ext cx="9021138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認識 Google Apps Script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754167"/>
            <a:ext cx="8447066" cy="159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想像雲端硬碟裡多了一位「小幫手」。你把做好的教材檔案放進資料夾，跟他說一聲，他就會站在門口，把檔案念給每一個來訪的人聽。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650939"/>
            <a:ext cx="8447066" cy="159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這位小幫手就是 Google Apps Script。他本來的工作是幫你整理試算表、代寄信件；但他還有一項少人知道的技能 — </a:t>
            </a:r>
            <a:pPr algn="l" indent="0" marL="0">
              <a:lnSpc>
                <a:spcPct val="139400"/>
              </a:lnSpc>
              <a:buNone/>
            </a:pPr>
            <a:r>
              <a:rPr lang="en-US" sz="255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把資料夾裡的網頁「開門」給外人看</a:t>
            </a:r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6547711"/>
            <a:ext cx="8447066" cy="159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你只要交給他一張門牌（一段很短的程式碼），他就會給你一個網址。沒有主機要租，沒有設定要調，你的資料夾當場變成一個網站。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8444483"/>
            <a:ext cx="8201035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8642727"/>
            <a:ext cx="8447066" cy="8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2"/>
              </a:lnSpc>
              <a:buNone/>
            </a:pPr>
            <a:r>
              <a:rPr lang="en-US" sz="2100" dirty="0">
                <a:solidFill>
                  <a:srgbClr val="8B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術語對照：小幫手＝Apps Script，門牌＝</a:t>
            </a:r>
            <a:pPr algn="l" indent="0" marL="0">
              <a:lnSpc>
                <a:spcPct val="132462"/>
              </a:lnSpc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doGet() </a:t>
            </a:r>
            <a:pPr algn="l" indent="0" marL="0">
              <a:lnSpc>
                <a:spcPct val="132462"/>
              </a:lnSpc>
              <a:buNone/>
            </a:pPr>
            <a:r>
              <a:rPr lang="en-US" sz="2100" dirty="0">
                <a:solidFill>
                  <a:srgbClr val="8B8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函式，開門＝網頁應用程式（Web App）模式。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15462" y="952500"/>
            <a:ext cx="7419869" cy="8572500"/>
          </a:xfrm>
          <a:prstGeom prst="rect">
            <a:avLst/>
          </a:prstGeom>
          <a:solidFill>
            <a:srgbClr val="E7E2D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70656" y="4938674"/>
            <a:ext cx="4309361" cy="600152"/>
          </a:xfrm>
          <a:prstGeom prst="rect">
            <a:avLst/>
          </a:prstGeom>
          <a:solidFill>
            <a:srgbClr val="F4F1EB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68900" y="5060717"/>
            <a:ext cx="4042154" cy="39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截圖：GAS 首頁 / doGet 程式碼</a:t>
            </a:r>
            <a:endParaRPr lang="en-US" sz="1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41" b="41"/>
          <a:stretch/>
        </p:blipFill>
        <p:spPr>
          <a:xfrm>
            <a:off x="9725010" y="2105010"/>
            <a:ext cx="7800892" cy="680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的四種常見用途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48691"/>
            <a:ext cx="8039017" cy="232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438603"/>
            <a:ext cx="8842919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出席與成績統計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3140757"/>
            <a:ext cx="8842919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把點名與小考紀錄整理成每週統計表。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296313" y="2148691"/>
            <a:ext cx="8039139" cy="232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7" name="Text 5"/>
          <p:cNvSpPr/>
          <p:nvPr/>
        </p:nvSpPr>
        <p:spPr>
          <a:xfrm>
            <a:off x="9296313" y="2438603"/>
            <a:ext cx="8843053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家長通知信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296313" y="3140757"/>
            <a:ext cx="8843053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學生繳交作業後，自動寄出個人化的學習回饋信。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989183"/>
            <a:ext cx="8039017" cy="232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6279095"/>
            <a:ext cx="8842919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串接 AI 與線上資源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2500" y="6981249"/>
            <a:ext cx="8842919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請 AI 產生族語例句或翻譯草稿，結果自動寫回試算表教材庫。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96313" y="5989183"/>
            <a:ext cx="8039139" cy="23232"/>
          </a:xfrm>
          <a:prstGeom prst="rect">
            <a:avLst/>
          </a:prstGeom>
          <a:solidFill>
            <a:srgbClr val="116BB5"/>
          </a:solidFill>
          <a:ln/>
        </p:spPr>
      </p:sp>
      <p:sp>
        <p:nvSpPr>
          <p:cNvPr id="13" name="Text 11"/>
          <p:cNvSpPr/>
          <p:nvPr/>
        </p:nvSpPr>
        <p:spPr>
          <a:xfrm>
            <a:off x="9296313" y="6279095"/>
            <a:ext cx="8843053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4E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輕量級網頁應用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96313" y="6981249"/>
            <a:ext cx="8843053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互動儀表板、簽到系統、專案小工具 — 今天的主題。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 GAS 是 Vibe Coding 的拍檔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824778"/>
            <a:ext cx="13620750" cy="539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44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它把「部署」這道技術高牆整片移除，讓創意跟開發速度並駕齊驅。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2783691"/>
            <a:ext cx="5257747" cy="674130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5" name="Text 3"/>
          <p:cNvSpPr/>
          <p:nvPr/>
        </p:nvSpPr>
        <p:spPr>
          <a:xfrm>
            <a:off x="1409632" y="3240823"/>
            <a:ext cx="4777830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09632" y="7379697"/>
            <a:ext cx="4777830" cy="649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零環境設定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09632" y="8181917"/>
            <a:ext cx="4473787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不必安裝 Node.js、Git 或任何開發環境。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15042" y="2783691"/>
            <a:ext cx="5257747" cy="674130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9" name="Text 7"/>
          <p:cNvSpPr/>
          <p:nvPr/>
        </p:nvSpPr>
        <p:spPr>
          <a:xfrm>
            <a:off x="6972174" y="3240823"/>
            <a:ext cx="4777830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72174" y="7379697"/>
            <a:ext cx="4777830" cy="649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自帶資料庫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972174" y="8181917"/>
            <a:ext cx="4473787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連動 Google Sheets，靜態展示立刻升級成動態應用。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584" y="2783691"/>
            <a:ext cx="5257747" cy="674130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3" name="Text 11"/>
          <p:cNvSpPr/>
          <p:nvPr/>
        </p:nvSpPr>
        <p:spPr>
          <a:xfrm>
            <a:off x="12534716" y="3240823"/>
            <a:ext cx="4777830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534716" y="7379697"/>
            <a:ext cx="4777830" cy="649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雲端原生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534716" y="8181917"/>
            <a:ext cx="4473787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寫好的程式碼直接貼上，馬上就能部署。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2962" y="666702"/>
            <a:ext cx="7301907" cy="65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268"/>
              </a:lnSpc>
              <a:buNone/>
            </a:pPr>
            <a:r>
              <a:rPr lang="en-US" sz="42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移除「部署」這道高牆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53" y="2373627"/>
            <a:ext cx="9753445" cy="64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部署前必知的四項限制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657247"/>
            <a:ext cx="16382951" cy="15488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110576"/>
            <a:ext cx="7007361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項目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779960" y="2110576"/>
            <a:ext cx="10511041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說明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3747686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958413"/>
            <a:ext cx="700736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網址很長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779960" y="3004876"/>
            <a:ext cx="10511041" cy="49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固定為 script.google.com/macros/s/… 結尾，無法自訂。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4830380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041107"/>
            <a:ext cx="700736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流量上限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779960" y="4087571"/>
            <a:ext cx="10511041" cy="49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 30–50 人同時存取就可能被拒絕連線，不適合高流量網站。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5913075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123801"/>
            <a:ext cx="700736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執行時間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779960" y="5170265"/>
            <a:ext cx="10511041" cy="495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免費帳號每日有總執行時間額度；單純展示網頁通常綽綽有餘。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7452901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6206496"/>
            <a:ext cx="700736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沙盒限制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779960" y="6252959"/>
            <a:ext cx="9842156" cy="9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網頁在 iframe 沙盒中執行，攝影機、地理定位等高權限 API 可能失效。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228602"/>
            <a:ext cx="8591497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64E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陷阱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866385"/>
            <a:ext cx="8591497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改了程式碼，網頁卻沒更新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4872125"/>
            <a:ext cx="8044765" cy="107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是</a:t>
            </a:r>
            <a:pPr algn="l" indent="0" marL="0">
              <a:lnSpc>
                <a:spcPct val="139400"/>
              </a:lnSpc>
              <a:buNone/>
            </a:pPr>
            <a:r>
              <a:rPr lang="en-US" sz="255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版本制 </a:t>
            </a:r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部署。只修改雲端硬碟裡的檔案，公開網址不會自動更新。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6212909"/>
            <a:ext cx="8044765" cy="107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必須回到 GAS 介面，「管理部署」→ 發布</a:t>
            </a:r>
            <a:pPr algn="l" indent="0" marL="0">
              <a:lnSpc>
                <a:spcPct val="139400"/>
              </a:lnSpc>
              <a:buNone/>
            </a:pPr>
            <a:r>
              <a:rPr lang="en-US" sz="255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新版本 </a:t>
            </a:r>
            <a:pPr algn="l" indent="0" marL="0">
              <a:lnSpc>
                <a:spcPct val="139400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，變更才會生效。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4879" y="3394370"/>
            <a:ext cx="7810573" cy="171103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3526" y="3783017"/>
            <a:ext cx="7736606" cy="409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1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.../exec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13526" y="4288065"/>
            <a:ext cx="773660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正式網址。要發布新版本才會更新，給觀眾用。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4879" y="5372090"/>
            <a:ext cx="7810573" cy="171103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13526" y="5760737"/>
            <a:ext cx="7736606" cy="4098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71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.../dev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913526" y="6265785"/>
            <a:ext cx="773660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測試網址。存檔後重新整理就看到變化，開發時用它。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B64E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陷阱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514054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照片不在同一棟樓裡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72130"/>
            <a:ext cx="7962910" cy="545098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76" y="3137006"/>
            <a:ext cx="7736473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一般網站：都住在同一棟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417376" y="3865296"/>
            <a:ext cx="7244152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網頁裡寫「隔壁抽屜的那張照片」，因為網頁和照片同住一棟樓，照著走就找到了。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17376" y="4960695"/>
            <a:ext cx="7033157" cy="742689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Text 6"/>
          <p:cNvSpPr/>
          <p:nvPr/>
        </p:nvSpPr>
        <p:spPr>
          <a:xfrm>
            <a:off x="1626926" y="5132145"/>
            <a:ext cx="6825052" cy="437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2"/>
              </a:lnSpc>
              <a:buNone/>
            </a:pPr>
            <a:r>
              <a:rPr lang="en-US" sz="2100" dirty="0">
                <a:solidFill>
                  <a:srgbClr val="1A18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src="./img/mona.jpg"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542" y="2672130"/>
            <a:ext cx="7962910" cy="5450981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0" name="Text 8"/>
          <p:cNvSpPr/>
          <p:nvPr/>
        </p:nvSpPr>
        <p:spPr>
          <a:xfrm>
            <a:off x="9829674" y="3129262"/>
            <a:ext cx="7753510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GAS：網頁和照片分居兩地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829674" y="3857552"/>
            <a:ext cx="7260105" cy="1367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網頁被搬到 Google 的大樓展示，照片還留在你的雲端硬碟。照著「隔壁抽屜」去找，那裡空無一物 — 圖片破圖、樣式跑掉。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829674" y="5395927"/>
            <a:ext cx="7048645" cy="742689"/>
          </a:xfrm>
          <a:prstGeom prst="rect">
            <a:avLst/>
          </a:prstGeom>
          <a:solidFill>
            <a:srgbClr val="2A26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9224" y="5567377"/>
            <a:ext cx="6841005" cy="437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462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script.google.com/macros/…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8580244"/>
            <a:ext cx="16874440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今天的範例腳本會當你的跑腿：自動把「隔壁抽屜」改寫成照片真正的門牌號碼。前提是那個資料夾願意讓人進去看（權限），第 24 張會示範怎麼開。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38500"/>
            <a:ext cx="18021246" cy="378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584027"/>
            <a:ext cx="18021246" cy="1001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7"/>
              </a:lnSpc>
              <a:buNone/>
            </a:pPr>
            <a:r>
              <a:rPr lang="en-US" sz="66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建立檔案與介面導覽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5852696"/>
            <a:ext cx="1802124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從雲端硬碟新增一個 GAS 專案，認識編輯器的五個區域。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860787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在雲端硬碟建立 GAS 檔案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7409584" cy="55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40"/>
              </a:lnSpc>
              <a:buNone/>
            </a:pPr>
            <a:r>
              <a:rPr lang="en-US" sz="27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開一個資料夾，例如 Web Test。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2876376"/>
            <a:ext cx="7409584" cy="55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40"/>
              </a:lnSpc>
              <a:buNone/>
            </a:pPr>
            <a:r>
              <a:rPr lang="en-US" sz="27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點「新增」→ 更多 → Apps Script。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657421"/>
            <a:ext cx="7409584" cy="55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40"/>
              </a:lnSpc>
              <a:buNone/>
            </a:pPr>
            <a:r>
              <a:rPr lang="en-US" sz="27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跳出訊息就點「建立程式碼」。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514574"/>
            <a:ext cx="6735985" cy="2304658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9" name="Text 7"/>
          <p:cNvSpPr/>
          <p:nvPr/>
        </p:nvSpPr>
        <p:spPr>
          <a:xfrm>
            <a:off x="1276292" y="4800251"/>
            <a:ext cx="6697241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為什麼要先選資料夾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76292" y="5247462"/>
            <a:ext cx="6271053" cy="1324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小幫手只看得到「自己所在的那個資料夾」。他站哪裡，那裡就是你的網站首頁位置；放錯地方，他就找不到你的網頁。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221846" y="2095331"/>
            <a:ext cx="9113605" cy="7429669"/>
          </a:xfrm>
          <a:prstGeom prst="rect">
            <a:avLst/>
          </a:prstGeom>
          <a:solidFill>
            <a:srgbClr val="E7E2D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0690" y="5510029"/>
            <a:ext cx="3615919" cy="600152"/>
          </a:xfrm>
          <a:prstGeom prst="rect">
            <a:avLst/>
          </a:prstGeom>
          <a:solidFill>
            <a:srgbClr val="F4F1EB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68934" y="5632073"/>
            <a:ext cx="3327908" cy="39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截圖：雲端硬碟「新增」選單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10" r="10" t="0" b="0"/>
          <a:stretch/>
        </p:blipFill>
        <p:spPr>
          <a:xfrm>
            <a:off x="8953403" y="2057337"/>
            <a:ext cx="7515215" cy="77246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編輯器的五個區域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2462"/>
            <a:ext cx="9157286" cy="7452538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584" y="2213546"/>
            <a:ext cx="8875117" cy="42164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66918" y="2173133"/>
            <a:ext cx="495218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195384" y="2072462"/>
            <a:ext cx="6754074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左側圖示列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195384" y="2570976"/>
            <a:ext cx="6324270" cy="70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83"/>
              </a:lnSpc>
              <a:buNone/>
            </a:pPr>
            <a:r>
              <a:rPr lang="en-US" sz="18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只有圖示，滑鼠移過去才顯示名稱。今天只用第二個「編輯器」。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0566918" y="3471688"/>
            <a:ext cx="495218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1195384" y="3371017"/>
            <a:ext cx="6754074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檔案清單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195384" y="3869531"/>
            <a:ext cx="6324270" cy="70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83"/>
              </a:lnSpc>
              <a:buNone/>
            </a:pPr>
            <a:r>
              <a:rPr lang="en-US" sz="18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預設一個「程式碼.gs」。「資料庫」引入他人函式庫，「服務」連動 Drive、Sheets 等 API。</a:t>
            </a:r>
            <a:endParaRPr lang="en-US" sz="1875" dirty="0"/>
          </a:p>
        </p:txBody>
      </p:sp>
      <p:sp>
        <p:nvSpPr>
          <p:cNvPr id="11" name="Text 8"/>
          <p:cNvSpPr/>
          <p:nvPr/>
        </p:nvSpPr>
        <p:spPr>
          <a:xfrm>
            <a:off x="10566918" y="4770244"/>
            <a:ext cx="495218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195384" y="4669573"/>
            <a:ext cx="5762625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頂部標題列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195384" y="5168087"/>
            <a:ext cx="5762625" cy="371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83"/>
              </a:lnSpc>
              <a:buNone/>
            </a:pPr>
            <a:r>
              <a:rPr lang="en-US" sz="18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專案名稱點一下可以改名，旁邊是雲端儲存狀態。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0566918" y="5735449"/>
            <a:ext cx="495218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195384" y="5634778"/>
            <a:ext cx="6754074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工具列與程式碼區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1195384" y="6133292"/>
            <a:ext cx="6324270" cy="70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83"/>
              </a:lnSpc>
              <a:buNone/>
            </a:pPr>
            <a:r>
              <a:rPr lang="en-US" sz="18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儲存、執行、偵錯、執行記錄；下方大片區域就是貼程式碼的地方。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0566918" y="6933334"/>
            <a:ext cx="6768534" cy="11745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8" name="Text 15"/>
          <p:cNvSpPr/>
          <p:nvPr/>
        </p:nvSpPr>
        <p:spPr>
          <a:xfrm>
            <a:off x="10795484" y="7205338"/>
            <a:ext cx="495218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1423950" y="7104668"/>
            <a:ext cx="4714875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右上角「部署」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1423950" y="7603181"/>
            <a:ext cx="4714875" cy="371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83"/>
              </a:lnSpc>
              <a:buNone/>
            </a:pPr>
            <a:r>
              <a:rPr lang="en-US" sz="1875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藍色按鈕，把專案變成網頁的關鍵開關。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「部署」選單裡的三個選項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2462"/>
            <a:ext cx="5283157" cy="232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362374"/>
            <a:ext cx="5811472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新部署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3033553"/>
            <a:ext cx="5811472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發布全新版本，產生正式的 /exec 網址。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502337" y="2072462"/>
            <a:ext cx="5283157" cy="23232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7" name="Text 5"/>
          <p:cNvSpPr/>
          <p:nvPr/>
        </p:nvSpPr>
        <p:spPr>
          <a:xfrm>
            <a:off x="6502337" y="2362374"/>
            <a:ext cx="5811472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管理部署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502337" y="3033553"/>
            <a:ext cx="5441651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編輯舊部署、查看版本紀錄、把現有部署更新到新版本。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052174" y="2072462"/>
            <a:ext cx="5283157" cy="23232"/>
          </a:xfrm>
          <a:prstGeom prst="rect">
            <a:avLst/>
          </a:prstGeom>
          <a:solidFill>
            <a:srgbClr val="116BB5"/>
          </a:solidFill>
          <a:ln/>
        </p:spPr>
      </p:sp>
      <p:sp>
        <p:nvSpPr>
          <p:cNvPr id="10" name="Text 8"/>
          <p:cNvSpPr/>
          <p:nvPr/>
        </p:nvSpPr>
        <p:spPr>
          <a:xfrm>
            <a:off x="12052174" y="2362374"/>
            <a:ext cx="5811472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4E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測試部署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52174" y="3033553"/>
            <a:ext cx="5441651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 /dev 網址，存檔後重整立刻看到變化，開發最好用。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858073"/>
            <a:ext cx="16382951" cy="2666927"/>
          </a:xfrm>
          <a:prstGeom prst="rect">
            <a:avLst/>
          </a:prstGeom>
          <a:solidFill>
            <a:srgbClr val="E7E2D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12114" y="7891400"/>
            <a:ext cx="3863602" cy="600152"/>
          </a:xfrm>
          <a:prstGeom prst="rect">
            <a:avLst/>
          </a:prstGeom>
          <a:solidFill>
            <a:srgbClr val="F4F1EB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0358" y="8013444"/>
            <a:ext cx="3583023" cy="39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截圖：右上角「部署」下拉選單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四種部署型態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824778"/>
            <a:ext cx="18021246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點「新部署」後，左側齒輪圖示可切換型態。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52500" y="2685198"/>
            <a:ext cx="8058135" cy="350024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5" name="Text 3"/>
          <p:cNvSpPr/>
          <p:nvPr/>
        </p:nvSpPr>
        <p:spPr>
          <a:xfrm>
            <a:off x="1371518" y="3104216"/>
            <a:ext cx="7942110" cy="61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網頁應用程式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371518" y="3856343"/>
            <a:ext cx="7436703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發布成具備 URL 的網頁，可設定執行身分與存取權限。今天的主角。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16" y="2685198"/>
            <a:ext cx="8058135" cy="350024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04078" y="3111960"/>
            <a:ext cx="7925073" cy="61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執行檔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704078" y="3864086"/>
            <a:ext cx="7925073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讓外部 App 透過 Google API 執行這個腳本的功能。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6452122"/>
            <a:ext cx="8058135" cy="3072877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9262" y="6878884"/>
            <a:ext cx="7925073" cy="61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外掛程式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379262" y="7631011"/>
            <a:ext cx="7925073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發布成 Sheets、Docs、Gmail 的擴充功能。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77316" y="6452122"/>
            <a:ext cx="8058135" cy="3072877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4078" y="6878884"/>
            <a:ext cx="7925073" cy="618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程式庫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704078" y="7631011"/>
            <a:ext cx="7925073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封裝專案，讓其他 GAS 用 Script ID 引入你的函式。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38500"/>
            <a:ext cx="18021246" cy="378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584027"/>
            <a:ext cx="18021246" cy="1001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7"/>
              </a:lnSpc>
              <a:buNone/>
            </a:pPr>
            <a:r>
              <a:rPr lang="en-US" sz="66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取得程式碼的兩種方法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5852696"/>
            <a:ext cx="1802124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建立範例副本，或連結公開資料庫。選一條做就好。</a:t>
            </a:r>
            <a:endParaRPr lang="en-US" sz="2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37617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A：族語單字卡腳本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57216"/>
            <a:ext cx="8162539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課程提供的腳本：族語詞彙放在 Google 試算表，網頁自動生成單字卡，點卡片看中文與例句，按鈕播放發音。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3230538"/>
            <a:ext cx="8162539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建立試算表，欄位依序為 族語 ｜ 中文 ｜ 例句 ｜ 發音檔連結。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4403861"/>
            <a:ext cx="871727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貼上兩個檔案：「程式碼.gs」與 HTML 檔（命名 card）。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5104805"/>
            <a:ext cx="871727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把試算表 ID 填進程式碼第一行，存檔。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410656" y="2057216"/>
            <a:ext cx="7924795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0" name="Text 8"/>
          <p:cNvSpPr/>
          <p:nvPr/>
        </p:nvSpPr>
        <p:spPr>
          <a:xfrm>
            <a:off x="9791559" y="3682468"/>
            <a:ext cx="7879288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程式碼.gs（節錄）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91559" y="4186789"/>
            <a:ext cx="7377879" cy="320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SHEET_ID = '你的試算表 ID';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doGet() {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page = HtmlService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.createTemplateFromFile('card');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page.words = getWords();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page.evaluate();</a:t>
            </a:r>
            <a:endParaRPr lang="en-US" sz="1950" dirty="0"/>
          </a:p>
          <a:p>
            <a:pPr algn="l" indent="0" marL="0">
              <a:lnSpc>
                <a:spcPct val="138292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559" y="7528283"/>
            <a:ext cx="7879288" cy="40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49"/>
              </a:lnSpc>
              <a:buNone/>
            </a:pPr>
            <a:r>
              <a:rPr lang="en-US" sz="19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完整程式碼在課程檔案：族語單字卡.gs ＋ card.html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從零到上線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6822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五個階段，做出單字卡與聽力測驗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614898"/>
            <a:ext cx="3093689" cy="396161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5039" y="2927437"/>
            <a:ext cx="2715472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階段一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65039" y="3435994"/>
            <a:ext cx="2544811" cy="847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06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準備音檔與雲端硬碟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4274755" y="2614898"/>
            <a:ext cx="3093689" cy="396161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7294" y="2927437"/>
            <a:ext cx="2715472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階段二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87294" y="3435994"/>
            <a:ext cx="2544811" cy="847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06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建立試算表資料庫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597010" y="2614898"/>
            <a:ext cx="3093810" cy="396161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49" y="2927437"/>
            <a:ext cx="2715605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階段三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09549" y="3435994"/>
            <a:ext cx="2544932" cy="847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06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寫入 Apps Script 程式碼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919387" y="2614898"/>
            <a:ext cx="3093689" cy="396161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31926" y="2927437"/>
            <a:ext cx="2715472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階段四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231926" y="3435994"/>
            <a:ext cx="2715472" cy="442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06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一鍵配對音檔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241641" y="2614898"/>
            <a:ext cx="3093810" cy="3961611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7" name="Text 15"/>
          <p:cNvSpPr/>
          <p:nvPr/>
        </p:nvSpPr>
        <p:spPr>
          <a:xfrm>
            <a:off x="14546437" y="2919693"/>
            <a:ext cx="2732642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階段五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546437" y="3428250"/>
            <a:ext cx="2732642" cy="442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906"/>
              </a:lnSpc>
              <a:buNone/>
            </a:pPr>
            <a:r>
              <a:rPr lang="en-US" sz="255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部署前端網頁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52500" y="7033642"/>
            <a:ext cx="1802124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跟著這個順序走，單字、音檔會自動組合成單字卡與聽力測驗網頁。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7919471"/>
            <a:ext cx="8077132" cy="160552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5039" y="8174778"/>
            <a:ext cx="8197259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素材範例</a:t>
            </a:r>
            <a:endParaRPr lang="en-US" sz="1800" dirty="0"/>
          </a:p>
        </p:txBody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1265039" y="8602992"/>
            <a:ext cx="7675615" cy="70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875" u="sng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drive.google.com/drive/folders/1tlBxmsOu74q0fJPUuiGq5sW0GzgyGcf5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58198" y="7919471"/>
            <a:ext cx="8077253" cy="160552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24" name="Text 22"/>
          <p:cNvSpPr/>
          <p:nvPr/>
        </p:nvSpPr>
        <p:spPr>
          <a:xfrm>
            <a:off x="9562994" y="8167034"/>
            <a:ext cx="8214429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完成的樣子</a:t>
            </a:r>
            <a:endParaRPr lang="en-US" sz="1800" dirty="0"/>
          </a:p>
        </p:txBody>
      </p:sp>
      <p:sp>
        <p:nvSpPr>
          <p:cNvPr id="25" name="Text 23">
            <a:hlinkClick r:id="rId2" tooltip=""/>
          </p:cNvPr>
          <p:cNvSpPr/>
          <p:nvPr/>
        </p:nvSpPr>
        <p:spPr>
          <a:xfrm>
            <a:off x="9562994" y="8595247"/>
            <a:ext cx="8214429" cy="371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875" u="sng" dirty="0">
                <a:solidFill>
                  <a:srgbClr val="97C9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script.google.com/macros/s/AKfycbxX8Ot9…/exec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6035077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準備音檔與雲端硬碟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3076144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435820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90656" y="2342893"/>
            <a:ext cx="9738139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建立資料夾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在 Google 雲端硬碟開一個資料夾，名稱隨意。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4064702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424378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90656" y="3331451"/>
            <a:ext cx="8886842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上傳音檔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錄好的 .wav 或 .mp3 全部丟進這個資料夾。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53259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412935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90656" y="4320009"/>
            <a:ext cx="13378778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開放權限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資料夾按右鍵「共用」，一般存取權改為「知道連結的使用者皆可查看」。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6041817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401493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90656" y="5308566"/>
            <a:ext cx="11795573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複製 ID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點進資料夾，複製網址列最後那串英數代碼，這就是資料夾 ID。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52500" y="8562941"/>
            <a:ext cx="16382951" cy="96205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6292" y="8876085"/>
            <a:ext cx="762019" cy="371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別跳過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09674" y="8829622"/>
            <a:ext cx="866150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權限沒開，學生按播放會沒有聲音 — 這是最常見的失敗原因。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5364528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建立試算表資料庫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7845481" cy="509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建立一份新的 Google 試算表。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952500" y="2814424"/>
            <a:ext cx="7346223" cy="98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族語、中文、例句依序貼入 A、B、C 欄；第一列留給標題。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952500" y="4005049"/>
            <a:ext cx="7346223" cy="98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欄「發音檔連結」先維持空白，稍後由程式自動填入。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8618116" y="2095331"/>
            <a:ext cx="8717335" cy="742966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8649" y="2950185"/>
            <a:ext cx="8016270" cy="15488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0" name="Text 8"/>
          <p:cNvSpPr/>
          <p:nvPr/>
        </p:nvSpPr>
        <p:spPr>
          <a:xfrm>
            <a:off x="8968649" y="2445863"/>
            <a:ext cx="197970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族語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20717" y="2445863"/>
            <a:ext cx="1979838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中文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72907" y="2445863"/>
            <a:ext cx="2375805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例句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185066" y="2445863"/>
            <a:ext cx="1979838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發音檔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8649" y="3740789"/>
            <a:ext cx="801627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5" name="Text 13"/>
          <p:cNvSpPr/>
          <p:nvPr/>
        </p:nvSpPr>
        <p:spPr>
          <a:xfrm>
            <a:off x="8968649" y="3175121"/>
            <a:ext cx="1979704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920717" y="317512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父親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872907" y="3175121"/>
            <a:ext cx="2375805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我的父親…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5185066" y="317512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（留空）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8968649" y="4523649"/>
            <a:ext cx="8016270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20" name="Text 18"/>
          <p:cNvSpPr/>
          <p:nvPr/>
        </p:nvSpPr>
        <p:spPr>
          <a:xfrm>
            <a:off x="8968649" y="3957981"/>
            <a:ext cx="1979704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920717" y="395798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母親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872907" y="3957981"/>
            <a:ext cx="2375805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母親在家…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185066" y="395798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（留空）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968649" y="4740841"/>
            <a:ext cx="1979704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tayal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920717" y="474084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872907" y="4740841"/>
            <a:ext cx="2375805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那個人是…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185066" y="4740841"/>
            <a:ext cx="197983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4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（留空）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488511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寫入 Apps Script 程式碼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8162539" cy="98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開啟後端 </a:t>
            </a:r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在試算表點上方選單「擴充功能」→「Apps Script」。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952500" y="3285956"/>
            <a:ext cx="8162539" cy="1452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貼上主程式 </a:t>
            </a:r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清空預設的「程式碼.gs」，貼入完整後端程式碼：網頁入口 doGet、讀取資料，以及自動配對音檔的 autoFillAudioLinks。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952500" y="4948112"/>
            <a:ext cx="8162539" cy="98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3"/>
              </a:lnSpc>
              <a:buNone/>
            </a:pPr>
            <a:r>
              <a:rPr lang="en-US" sz="2475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綁定資料夾 </a:t>
            </a:r>
            <a:pPr algn="l" indent="0" marL="0">
              <a:lnSpc>
                <a:spcPct val="129543"/>
              </a:lnSpc>
              <a:buNone/>
            </a:pPr>
            <a:r>
              <a:rPr lang="en-US" sz="24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把 FOLDER_ID 換成階段一複製的資料夾 ID，Ctrl + S 存檔。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9410656" y="2095331"/>
            <a:ext cx="7924795" cy="742966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9" name="Text 7"/>
          <p:cNvSpPr/>
          <p:nvPr/>
        </p:nvSpPr>
        <p:spPr>
          <a:xfrm>
            <a:off x="9791559" y="4655174"/>
            <a:ext cx="7879288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程式碼.gs 開頭三行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91559" y="5159496"/>
            <a:ext cx="7377879" cy="1300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935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SHEET_ID   = '試算表 ID';</a:t>
            </a:r>
            <a:endParaRPr lang="en-US" sz="1950" dirty="0"/>
          </a:p>
          <a:p>
            <a:pPr algn="l" indent="0" marL="0">
              <a:lnSpc>
                <a:spcPct val="146935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SHEET_NAME = '單字';</a:t>
            </a:r>
            <a:endParaRPr lang="en-US" sz="1950" dirty="0"/>
          </a:p>
          <a:p>
            <a:pPr algn="l" indent="0" marL="0">
              <a:lnSpc>
                <a:spcPct val="146935"/>
              </a:lnSpc>
              <a:buNone/>
            </a:pPr>
            <a:r>
              <a:rPr lang="en-US" sz="19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FOLDER_ID  = '音檔資料夾 ID';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91559" y="6593691"/>
            <a:ext cx="7879288" cy="40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649"/>
              </a:lnSpc>
              <a:buNone/>
            </a:pPr>
            <a:r>
              <a:rPr lang="en-US" sz="19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只有這三行需要改，其餘照貼即可。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4023429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一鍵配對音檔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262" y="2522092"/>
            <a:ext cx="487259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79262" y="3018670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重新整理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79262" y="3708845"/>
            <a:ext cx="4562522" cy="895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回到試算表，按 F5 讓新選單出現。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02337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9099" y="2522092"/>
            <a:ext cx="487259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9099" y="3018670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執行配對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9099" y="3708845"/>
            <a:ext cx="4562522" cy="895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選單最右側「族語小工具」→「⚡ 自動填入音檔連結」。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52174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8936" y="2522092"/>
            <a:ext cx="487259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78936" y="3018670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授權與完成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478936" y="3708845"/>
            <a:ext cx="4562522" cy="895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首次要同意授權（進階 → 允許），再點一次按鈕，連結就填進 D 欄。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" y="9096302"/>
            <a:ext cx="1802124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程式比對檔名時會自動忽略副檔名、空白、底線與括號內容，所以「tama (父親).wav」也配得上。</a:t>
            </a:r>
            <a:endParaRPr lang="en-US" sz="2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4023429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部署前端網頁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3076144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435820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90656" y="2342893"/>
            <a:ext cx="15468288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HTML 檔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Apps Script 左側點「+」新增 HTML 檔，單字卡命名 card，聽力測驗命名 quiz。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4064702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424378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90656" y="3331451"/>
            <a:ext cx="7678975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貼上網頁碼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把對應的前端程式碼貼入並存檔。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53259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412935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790656" y="4320009"/>
            <a:ext cx="15001778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部署上線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右上「部署」→「新增部署」→ 類型選「網頁應用程式」→ 存取權限設為</a:t>
            </a:r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所有人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6041817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401493"/>
            <a:ext cx="609561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90656" y="5308566"/>
            <a:ext cx="11597522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取得網址 </a:t>
            </a:r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彈出的「網頁應用程式網址」就是直接傳給學生的專屬連結。</a:t>
            </a:r>
            <a:endParaRPr lang="en-US" sz="25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8896292" y="6124338"/>
            <a:ext cx="8229590" cy="3133619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2215" r="2215" t="0" b="0"/>
          <a:stretch/>
        </p:blipFill>
        <p:spPr>
          <a:xfrm>
            <a:off x="3952778" y="6152894"/>
            <a:ext cx="4667153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這個範例腳本幫你做了四件事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3129505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451066"/>
            <a:ext cx="64767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866765" y="2358139"/>
            <a:ext cx="6141822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讀取並顯示雲端硬碟裡的 HTML 檔案。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194291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3515853"/>
            <a:ext cx="64767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866765" y="3422926"/>
            <a:ext cx="13795775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用網址參數 folder 與 file 區分不同層的檔案；沒給參數時，自動讀根目錄的 index.html。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5259078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4580639"/>
            <a:ext cx="64767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866765" y="4487712"/>
            <a:ext cx="9618750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自動轉換 CSS、JS、圖片的相對路徑（需開啟資料夾權限）。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6323864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645426"/>
            <a:ext cx="647676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66765" y="5552499"/>
            <a:ext cx="8787417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轉換超連結的相對路徑，跳轉後不再受 GAS 沙盒影響。</a:t>
            </a:r>
            <a:endParaRPr lang="en-US" sz="2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37617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B：連結範例資料庫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57216"/>
            <a:ext cx="871727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在根目錄資料夾建立一個「空白」的 GAS。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2777157"/>
            <a:ext cx="8162539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點左側「資料庫」→ 輸入下方 Script ID → 選擇數字最大的最新版本。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3969476"/>
            <a:ext cx="7924795" cy="1234426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6944" y="4243920"/>
            <a:ext cx="7613651" cy="723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235"/>
              </a:lnSpc>
              <a:buNone/>
            </a:pPr>
            <a:r>
              <a:rPr lang="en-US" sz="1800" dirty="0">
                <a:solidFill>
                  <a:srgbClr val="4A44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1TdYzRWi09C5GN_7Xpja-GTYa_zMBQOpLxYAUFGKG9oM1oFxrIHIWOIsV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451466"/>
            <a:ext cx="871727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用右側程式碼取代編輯區原本的內容，存檔後即可部署。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410656" y="2057216"/>
            <a:ext cx="7924795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11" name="Text 9"/>
          <p:cNvSpPr/>
          <p:nvPr/>
        </p:nvSpPr>
        <p:spPr>
          <a:xfrm>
            <a:off x="9829674" y="2476234"/>
            <a:ext cx="779543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程式碼.gs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29674" y="2999673"/>
            <a:ext cx="7299363" cy="1867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571"/>
              </a:lnSpc>
              <a:buNone/>
            </a:pPr>
            <a:r>
              <a:rPr lang="en-US" sz="22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doGet(e) {</a:t>
            </a:r>
            <a:endParaRPr lang="en-US" sz="2250" dirty="0"/>
          </a:p>
          <a:p>
            <a:pPr algn="l" indent="0" marL="0">
              <a:lnSpc>
                <a:spcPct val="140571"/>
              </a:lnSpc>
              <a:buNone/>
            </a:pPr>
            <a:r>
              <a:rPr lang="en-US" sz="22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GASDatabaseforVibeCodingbyOXXOSTUDIO.render(e);</a:t>
            </a:r>
            <a:endParaRPr lang="en-US" sz="2250" dirty="0"/>
          </a:p>
          <a:p>
            <a:pPr algn="l" indent="0" marL="0">
              <a:lnSpc>
                <a:spcPct val="140571"/>
              </a:lnSpc>
              <a:buNone/>
            </a:pPr>
            <a:r>
              <a:rPr lang="en-US" sz="22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38500"/>
            <a:ext cx="18021246" cy="378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584027"/>
            <a:ext cx="18021246" cy="1001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7"/>
              </a:lnSpc>
              <a:buNone/>
            </a:pPr>
            <a:r>
              <a:rPr lang="en-US" sz="66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正式部署，讓全世界看到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5852696"/>
            <a:ext cx="1802124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整理資料夾 → 新增部署 → 完成授權 → 取得公開網址。</a:t>
            </a:r>
            <a:endParaRPr lang="en-US" sz="2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562913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整理資料夾與 index.html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8978731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Vibe Coding 完成的網頁上傳到</a:t>
            </a:r>
            <a:pPr algn="l" indent="0" marL="0">
              <a:lnSpc>
                <a:spcPct val="135573"/>
              </a:lnSpc>
              <a:buNone/>
            </a:pPr>
            <a:r>
              <a:rPr lang="en-US" sz="240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同一個資料夾 </a:t>
            </a:r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，也就是 GAS 檔案所在的根目錄。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3287650"/>
            <a:ext cx="8978731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首頁檔名</a:t>
            </a:r>
            <a:pPr algn="l" indent="0" marL="0">
              <a:lnSpc>
                <a:spcPct val="135573"/>
              </a:lnSpc>
              <a:buNone/>
            </a:pPr>
            <a:r>
              <a:rPr lang="en-US" sz="240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必須是 index.html </a:t>
            </a:r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，沒有給網址參數時腳本會自動找它。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4479969"/>
            <a:ext cx="8978731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手邊沒有作品的人，用課堂提供的範例檔 vibe-coding-demo.zip，解壓縮後直接上傳。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203075" y="2095331"/>
            <a:ext cx="7132376" cy="7429669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29919" y="2522174"/>
            <a:ext cx="6492660" cy="6614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6"/>
              </a:lnSpc>
              <a:buNone/>
            </a:pPr>
            <a:r>
              <a:rPr lang="en-US" sz="2250" dirty="0">
                <a:solidFill>
                  <a:srgbClr val="3A352E"/>
                </a:solidFill>
                <a:highlight>
                  <a:srgbClr val="FFFD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Test/ ├── GAS 檔案 ├── index.html ├── img/ │ └── mona.jpg └── test/ ├── a1.html └── a2.html</a:t>
            </a:r>
            <a:endParaRPr lang="en-US" sz="2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737617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新增部署：網頁應用程式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78454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 GAS 檔案，右上角「部署」→「新增部署」。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2815271"/>
            <a:ext cx="7346223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齒輪圖示選「網頁應用程式」，輸入第一版部署的名稱。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007591"/>
            <a:ext cx="7132255" cy="1971065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8" name="Text 6"/>
          <p:cNvSpPr/>
          <p:nvPr/>
        </p:nvSpPr>
        <p:spPr>
          <a:xfrm>
            <a:off x="1295289" y="4312386"/>
            <a:ext cx="709134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關鍵設定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289" y="4759596"/>
            <a:ext cx="6640078" cy="9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「誰可以存取」務必改成</a:t>
            </a:r>
            <a:pPr algn="l" indent="0" marL="0">
              <a:lnSpc>
                <a:spcPct val="131200"/>
              </a:lnSpc>
              <a:buNone/>
            </a:pPr>
            <a:r>
              <a:rPr lang="en-US" sz="24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所有人 </a:t>
            </a:r>
            <a:pPr algn="l" indent="0" marL="0">
              <a:lnSpc>
                <a:spcPct val="131200"/>
              </a:lnSpc>
              <a:buNone/>
            </a:pPr>
            <a:r>
              <a:rPr lang="en-US" sz="24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，否則別人打開會是一片空白或錯誤。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618116" y="2095331"/>
            <a:ext cx="8717335" cy="7429669"/>
          </a:xfrm>
          <a:prstGeom prst="rect">
            <a:avLst/>
          </a:prstGeom>
          <a:solidFill>
            <a:srgbClr val="E7E2D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16449" y="5510029"/>
            <a:ext cx="3120551" cy="600152"/>
          </a:xfrm>
          <a:prstGeom prst="rect">
            <a:avLst/>
          </a:prstGeom>
          <a:solidFill>
            <a:srgbClr val="F4F1EB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4692" y="5632073"/>
            <a:ext cx="2817680" cy="39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截圖：新增部署設定視窗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6035077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通過授權的三道關卡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9262" y="2522092"/>
            <a:ext cx="487259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關卡 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79262" y="3049646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授予存取權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79262" y="3739821"/>
            <a:ext cx="4562522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第一次部署會要求授權存取雲端硬碟，點「授予存取權」。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02337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9099" y="2522092"/>
            <a:ext cx="487259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關卡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9099" y="3049646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安全性警告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9099" y="3739821"/>
            <a:ext cx="4562522" cy="1367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腳本未經 Google 驗證，點「Advanced」展開，再點下方「Go to …」。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52174" y="2095331"/>
            <a:ext cx="5283157" cy="6581954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8936" y="2522092"/>
            <a:ext cx="487259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關卡 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78936" y="3049646"/>
            <a:ext cx="4872596" cy="556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選擇帳號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478936" y="3739821"/>
            <a:ext cx="4562522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選自己的 Google 帳號，點 Continue，授權完成。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52500" y="9096302"/>
            <a:ext cx="1802124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這是正常程序：警告只代表這支腳本沒有送審，不代表有問題。</a:t>
            </a:r>
            <a:endParaRPr lang="en-US" sz="2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6035077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取得公開網址並驗收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7409584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部署完成的訊息中會出現網頁的公開連結。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2815271"/>
            <a:ext cx="6938065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點開它，如果看到剛剛上傳的網頁，部署就成功了。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4007591"/>
            <a:ext cx="7409584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把網址傳給旁邊的人，用他們的裝置打開試試看。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1846" y="2095331"/>
            <a:ext cx="9113605" cy="7429669"/>
          </a:xfrm>
          <a:prstGeom prst="rect">
            <a:avLst/>
          </a:prstGeom>
          <a:solidFill>
            <a:srgbClr val="E7E2D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46787" y="5510029"/>
            <a:ext cx="3863602" cy="600152"/>
          </a:xfrm>
          <a:prstGeom prst="rect">
            <a:avLst/>
          </a:prstGeom>
          <a:solidFill>
            <a:srgbClr val="F4F1EB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5031" y="5632073"/>
            <a:ext cx="3583023" cy="39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截圖：部署完成畫面與公開網址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981108" y="963874"/>
            <a:ext cx="8717408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圖片破圖？先檢查資料夾權限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2095331"/>
            <a:ext cx="8162539" cy="9828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範例腳本會自動轉換相對路徑，所以圖片、CSS、JS 都可以放在雲端硬碟裡用相對路徑讀取。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2500" y="3287650"/>
            <a:ext cx="8717275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73"/>
              </a:lnSpc>
              <a:buNone/>
            </a:pPr>
            <a:r>
              <a:rPr lang="en-US" sz="24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但第一次開啟常看不到圖片 — 原因幾乎都是權限。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10656" y="2095331"/>
            <a:ext cx="7924795" cy="7429669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8" name="Text 6"/>
          <p:cNvSpPr/>
          <p:nvPr/>
        </p:nvSpPr>
        <p:spPr>
          <a:xfrm>
            <a:off x="9867788" y="4491100"/>
            <a:ext cx="771158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解法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67788" y="5033536"/>
            <a:ext cx="7220847" cy="1066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40"/>
              </a:lnSpc>
              <a:buNone/>
            </a:pPr>
            <a:r>
              <a:rPr lang="en-US" sz="27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存放圖片、CSS、JS 的資料夾，權限都要設為 </a:t>
            </a:r>
            <a:pPr algn="l" indent="0" marL="0">
              <a:lnSpc>
                <a:spcPct val="132840"/>
              </a:lnSpc>
              <a:buNone/>
            </a:pPr>
            <a:r>
              <a:rPr lang="en-US" sz="27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「所有人都可檢視」</a:t>
            </a:r>
            <a:pPr algn="l" indent="0" marL="0">
              <a:lnSpc>
                <a:spcPct val="132840"/>
              </a:lnSpc>
              <a:buNone/>
            </a:pPr>
            <a:r>
              <a:rPr lang="en-US" sz="27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867788" y="6271714"/>
            <a:ext cx="7220847" cy="895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右鍵 → 共用 → 一般存取權改為「知道連結的任何人」，角色選「檢視者」。</a:t>
            </a:r>
            <a:endParaRPr lang="en-US" sz="2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開啟子資料夾裡的網頁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072462"/>
            <a:ext cx="13735050" cy="1041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44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腳本用兩個網址參數定位檔案：</a:t>
            </a:r>
            <a:pPr algn="l" indent="0" marL="0">
              <a:lnSpc>
                <a:spcPct val="135044"/>
              </a:lnSpc>
              <a:buNone/>
            </a:pPr>
            <a:r>
              <a:rPr lang="en-US" sz="255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</a:t>
            </a:r>
            <a:pPr algn="l" indent="0" marL="0">
              <a:lnSpc>
                <a:spcPct val="135044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（資料夾）與 </a:t>
            </a:r>
            <a:pPr algn="l" indent="0" marL="0">
              <a:lnSpc>
                <a:spcPct val="135044"/>
              </a:lnSpc>
              <a:buNone/>
            </a:pPr>
            <a:r>
              <a:rPr lang="en-US" sz="2550" b="1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</a:t>
            </a:r>
            <a:pPr algn="l" indent="0" marL="0">
              <a:lnSpc>
                <a:spcPct val="135044"/>
              </a:lnSpc>
              <a:buNone/>
            </a:pPr>
            <a:r>
              <a:rPr lang="en-US" sz="25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（網頁名稱）。兩個都不給時，讀根目錄的 index.html。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380818"/>
            <a:ext cx="16382951" cy="1980503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5" name="Text 3"/>
          <p:cNvSpPr/>
          <p:nvPr/>
        </p:nvSpPr>
        <p:spPr>
          <a:xfrm>
            <a:off x="1409632" y="3837951"/>
            <a:ext cx="1701555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要開啟 test 資料夾裡的 a1.html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632" y="4418501"/>
            <a:ext cx="17015556" cy="523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87"/>
              </a:lnSpc>
              <a:buNone/>
            </a:pPr>
            <a:r>
              <a:rPr lang="en-US" sz="2550" dirty="0">
                <a:solidFill>
                  <a:srgbClr val="F4F1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.../exec?folder=test&amp;file=a1.html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5666116"/>
            <a:ext cx="8039017" cy="1716363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3033" y="6016649"/>
            <a:ext cx="8071748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folder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03033" y="6603250"/>
            <a:ext cx="807174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自動讀取根目錄。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296313" y="5666116"/>
            <a:ext cx="8039139" cy="1716363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845" y="6016649"/>
            <a:ext cx="80718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file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46845" y="6603250"/>
            <a:ext cx="8071881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自動讀取該層的 index.html。</a:t>
            </a:r>
            <a:endParaRPr lang="en-US" sz="2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38500"/>
            <a:ext cx="18021246" cy="378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4584027"/>
            <a:ext cx="18021246" cy="1001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57"/>
              </a:lnSpc>
              <a:buNone/>
            </a:pPr>
            <a:r>
              <a:rPr lang="en-US" sz="66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AI 長出自己的系統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52500" y="5852696"/>
            <a:ext cx="1802124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五段指令，從單字卡一路做到聽力測驗與成績追蹤。</a:t>
            </a:r>
            <a:endParaRPr lang="en-US" sz="2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16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一次複製一個區塊丟給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6822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五段指令的順序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081105"/>
            <a:ext cx="16382951" cy="15488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576783"/>
            <a:ext cx="3706123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階段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02606" y="2576783"/>
            <a:ext cx="6738502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做出什麼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09419" y="2576783"/>
            <a:ext cx="6738635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解決什麼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4000694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325159"/>
            <a:ext cx="3706123" cy="456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702606" y="3340647"/>
            <a:ext cx="6738502" cy="4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56"/>
              </a:lnSpc>
              <a:buNone/>
            </a:pPr>
            <a:r>
              <a:rPr lang="en-US" sz="2325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翻牌單字卡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1209419" y="3371622"/>
            <a:ext cx="6738635" cy="43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5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先看到成果，建立信心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4912538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237004"/>
            <a:ext cx="3706123" cy="456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702606" y="4252491"/>
            <a:ext cx="6738502" cy="4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56"/>
              </a:lnSpc>
              <a:buNone/>
            </a:pPr>
            <a:r>
              <a:rPr lang="en-US" sz="2325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四選一聽力測驗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1209419" y="4283467"/>
            <a:ext cx="6738635" cy="43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5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隨機出題、即時回饋、計分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5824383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148848"/>
            <a:ext cx="3706123" cy="456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702606" y="5164336"/>
            <a:ext cx="6738502" cy="4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56"/>
              </a:lnSpc>
              <a:buNone/>
            </a:pPr>
            <a:r>
              <a:rPr lang="en-US" sz="2325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一鍵配對音檔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11209419" y="5195311"/>
            <a:ext cx="6738635" cy="43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5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不用手動貼幾十個連結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952500" y="6736227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060693"/>
            <a:ext cx="3706123" cy="456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4702606" y="6076180"/>
            <a:ext cx="6738502" cy="4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56"/>
              </a:lnSpc>
              <a:buNone/>
            </a:pPr>
            <a:r>
              <a:rPr lang="en-US" sz="2325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音檔改用 Base64 傳送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11209419" y="6107156"/>
            <a:ext cx="6738635" cy="43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5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解決瀏覽器阻擋、沒聲音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952500" y="7648071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972537"/>
            <a:ext cx="3706123" cy="456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702606" y="6988025"/>
            <a:ext cx="6738502" cy="4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56"/>
              </a:lnSpc>
              <a:buNone/>
            </a:pPr>
            <a:r>
              <a:rPr lang="en-US" sz="2325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學生登入與成績紀錄</a:t>
            </a:r>
            <a:endParaRPr lang="en-US" sz="2325" dirty="0"/>
          </a:p>
        </p:txBody>
      </p:sp>
      <p:sp>
        <p:nvSpPr>
          <p:cNvPr id="27" name="Text 25"/>
          <p:cNvSpPr/>
          <p:nvPr/>
        </p:nvSpPr>
        <p:spPr>
          <a:xfrm>
            <a:off x="11209419" y="7019001"/>
            <a:ext cx="6738635" cy="438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15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看得到分數與錯題分析</a:t>
            </a:r>
            <a:endParaRPr lang="en-US" sz="2175" dirty="0"/>
          </a:p>
        </p:txBody>
      </p:sp>
      <p:sp>
        <p:nvSpPr>
          <p:cNvPr id="28" name="Text 26"/>
          <p:cNvSpPr/>
          <p:nvPr/>
        </p:nvSpPr>
        <p:spPr>
          <a:xfrm>
            <a:off x="952500" y="9110701"/>
            <a:ext cx="18021246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完整指令文字在講義檔「給AI的五段指令.md」，複製貼上就好。</a:t>
            </a:r>
            <a:endParaRPr lang="en-US" sz="21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85775"/>
            <a:ext cx="6286500" cy="69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7"/>
              </a:lnSpc>
              <a:buNone/>
            </a:pPr>
            <a:r>
              <a:rPr lang="en-US" sz="45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先做出會翻牌的單字卡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057216"/>
            <a:ext cx="8759201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6" name="Text 4"/>
          <p:cNvSpPr/>
          <p:nvPr/>
        </p:nvSpPr>
        <p:spPr>
          <a:xfrm>
            <a:off x="1333403" y="2438119"/>
            <a:ext cx="879713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給 AI 的指令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403" y="2942441"/>
            <a:ext cx="8237316" cy="210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77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我是一位族語老師，單字清單（族語、中文、例句）整理在 Google 試算表。請寫一段 Google Apps Script：讀取試算表資料；建立前端網頁 card.html，做出有 3D 翻牌動畫的單字卡；正面顯示族語，點擊翻面顯示中文與例句；加上「上一張／下一張」按鈕。請給我完整的 程式碼.gs 與 card.html，並說明如何部署。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8833" y="2057216"/>
            <a:ext cx="78832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這段指令為什麼有效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168833" y="2720046"/>
            <a:ext cx="7381618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說清楚身分與資料在哪 — AI 才知道要用 SpreadsheetApp。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168833" y="3739095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指定檔案名稱與數量 — 拿到的程式碼才貼得進正確位置。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0168833" y="4343845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描述互動而非畫面細節 — 樣式可以之後再調。</a:t>
            </a:r>
            <a:endParaRPr lang="en-US" sz="217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85775"/>
            <a:ext cx="6286500" cy="69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7"/>
              </a:lnSpc>
              <a:buNone/>
            </a:pPr>
            <a:r>
              <a:rPr lang="en-US" sz="45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升級成四選一聽力測驗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057216"/>
            <a:ext cx="8759201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6" name="Text 4"/>
          <p:cNvSpPr/>
          <p:nvPr/>
        </p:nvSpPr>
        <p:spPr>
          <a:xfrm>
            <a:off x="1333403" y="2438119"/>
            <a:ext cx="879713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給 AI 的指令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403" y="2942441"/>
            <a:ext cx="8237316" cy="1691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77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我想把單字卡升級成聽力測驗網頁 quiz.html：題目隨機洗牌；每題播放 D 欄的發音檔；畫面顯示 4 個中文選項（1 個正確、3 個從其他單字隨機抓）；點選後立即回饋（對變綠、錯變紅並顯示正解與族語文字）；具備計分，最後顯示結算畫面與總得分。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8833" y="2057216"/>
            <a:ext cx="78832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168833" y="2720046"/>
            <a:ext cx="7381618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在同一個對話裡接著問，AI 才知道「剛才的單字卡」是什麼。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168833" y="3739095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先假設 D 欄已有連結，把音檔的問題留給下一段處理。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0168833" y="4343845"/>
            <a:ext cx="7381618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回饋方式寫具體（顏色、顯示正解），成品才符合課堂需要。</a:t>
            </a:r>
            <a:endParaRPr lang="en-US" sz="217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85775"/>
            <a:ext cx="6286500" cy="69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7"/>
              </a:lnSpc>
              <a:buNone/>
            </a:pPr>
            <a:r>
              <a:rPr lang="en-US" sz="45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音檔連結一鍵自動配對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057216"/>
            <a:ext cx="8759201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6" name="Text 4"/>
          <p:cNvSpPr/>
          <p:nvPr/>
        </p:nvSpPr>
        <p:spPr>
          <a:xfrm>
            <a:off x="1333403" y="2438119"/>
            <a:ext cx="879713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給 AI 的指令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403" y="2942441"/>
            <a:ext cx="8237316" cy="251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77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錄音檔都在雲端硬碟一個資料夾裡，我不想手動貼連結。命名很雜，例如 01-43_amin.wav、cacay_a_pulu.mp3。請寫一個自訂選單工具：建立「族語小工具 → 自動填入音檔」選單；掃描指定資料夾；自動清洗檔名（去數字編號、底線轉空格、去副檔名）後與 A 欄族語比對；成功的填入 D 欄（轉成 uc?export=download 格式）；結束後告訴我成功幾筆、哪些沒對應到。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8833" y="2057216"/>
            <a:ext cx="78832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168833" y="2720046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把真實檔名貼給 AI 看，它才寫得出對的清洗規則。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168833" y="3324796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要求回報「沒對應到的單字」，才知道哪幾筆要手動補。</a:t>
            </a:r>
            <a:endParaRPr lang="en-US" sz="21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85775"/>
            <a:ext cx="5029253" cy="69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7"/>
              </a:lnSpc>
              <a:buNone/>
            </a:pPr>
            <a:r>
              <a:rPr lang="en-US" sz="45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點了沒聲音怎麼辦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057216"/>
            <a:ext cx="8759201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6" name="Text 4"/>
          <p:cNvSpPr/>
          <p:nvPr/>
        </p:nvSpPr>
        <p:spPr>
          <a:xfrm>
            <a:off x="1333403" y="2438119"/>
            <a:ext cx="879713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給 AI 的指令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403" y="2942441"/>
            <a:ext cx="8237316" cy="210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77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測驗裡雲端硬碟的音檔連結被瀏覽器阻擋，點了沒聲音。請用最穩定的方式解決：後端寫一個函式，接收 Drive 檔案 ID，把檔案轉成 Base64 資料流回傳；前端載入題目時播放按鈕先顯示「音檔準備中…」，透過 google.script.run 拿到資料塞入 audio 標籤後才變成「點此播放發音」；讀過的音檔要快取，切換題目時不用重新讀取。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8833" y="2057216"/>
            <a:ext cx="78832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168833" y="2720046"/>
            <a:ext cx="7381618" cy="866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描述症狀（點了沒聲音）＋ 你想要的解法方向，比只說「壞了」有效十倍。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168833" y="3739095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順手要求「載入中」狀態與快取，體驗才不會卡頓。</a:t>
            </a:r>
            <a:endParaRPr lang="en-US" sz="217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952500"/>
            <a:ext cx="723813" cy="723813"/>
          </a:xfrm>
          <a:prstGeom prst="ellipse">
            <a:avLst/>
          </a:prstGeom>
          <a:solidFill>
            <a:srgbClr val="116B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52500"/>
            <a:ext cx="800013" cy="761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81108" y="985775"/>
            <a:ext cx="5657877" cy="69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7"/>
              </a:lnSpc>
              <a:buNone/>
            </a:pPr>
            <a:r>
              <a:rPr lang="en-US" sz="45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自動記錄成績與錯題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057216"/>
            <a:ext cx="8759201" cy="7467784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6" name="Text 4"/>
          <p:cNvSpPr/>
          <p:nvPr/>
        </p:nvSpPr>
        <p:spPr>
          <a:xfrm>
            <a:off x="1333403" y="2438119"/>
            <a:ext cx="8797134" cy="371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給 AI 的指令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403" y="2942441"/>
            <a:ext cx="8237316" cy="251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77"/>
              </a:lnSpc>
              <a:buNone/>
            </a:pPr>
            <a:r>
              <a:rPr lang="en-US" sz="2100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入學生登入與成績回報：前端新增首頁，學生先輸入姓名並用下拉選單選題數（5、10、20、全部）；結算畫面自動把成績傳回試算表；後端檢查有沒有「成績紀錄」工作表，沒有就自動建立並設定標題底色與粗體；新增一列記錄測驗時間、姓名、得分、總分、答對率；並把答錯的單字（族語與正確中文）寫進最後一欄，方便看錯題分析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8833" y="2057216"/>
            <a:ext cx="7883281" cy="51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老師拿到什麼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168833" y="2720046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一張自動長出來的成績紀錄表，不用另外收單。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168833" y="3324796"/>
            <a:ext cx="7883281" cy="452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500"/>
              </a:lnSpc>
              <a:buNone/>
            </a:pPr>
            <a:r>
              <a:rPr lang="en-US" sz="2175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錯題欄位就是下次備課要加強的字彙清單。</a:t>
            </a:r>
            <a:endParaRPr lang="en-US" sz="21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實作 / 30 分鐘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480053"/>
            <a:ext cx="18021246" cy="826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132"/>
              </a:lnSpc>
              <a:buNone/>
            </a:pPr>
            <a:r>
              <a:rPr lang="en-US" sz="54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動手把自己的網頁部署上線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725854"/>
            <a:ext cx="5257747" cy="23232"/>
          </a:xfrm>
          <a:prstGeom prst="rect">
            <a:avLst/>
          </a:prstGeom>
          <a:solidFill>
            <a:srgbClr val="67AAED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15766"/>
            <a:ext cx="5783521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B2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檢核點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524323"/>
            <a:ext cx="5783521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網址可以打開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4226477"/>
            <a:ext cx="5783521" cy="4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/exec 網址在自己的手機上看得到首頁。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15042" y="2725854"/>
            <a:ext cx="5257747" cy="23232"/>
          </a:xfrm>
          <a:prstGeom prst="rect">
            <a:avLst/>
          </a:prstGeom>
          <a:solidFill>
            <a:srgbClr val="67AAED"/>
          </a:solidFill>
          <a:ln/>
        </p:spPr>
      </p:sp>
      <p:sp>
        <p:nvSpPr>
          <p:cNvPr id="9" name="Text 7"/>
          <p:cNvSpPr/>
          <p:nvPr/>
        </p:nvSpPr>
        <p:spPr>
          <a:xfrm>
            <a:off x="6515042" y="3015766"/>
            <a:ext cx="5783521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B2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檢核點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515042" y="3524323"/>
            <a:ext cx="5783521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圖片顯示正常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15042" y="4226477"/>
            <a:ext cx="5415479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 資料夾權限已開，mona.jpg 正確出現。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584" y="2725854"/>
            <a:ext cx="5257747" cy="23232"/>
          </a:xfrm>
          <a:prstGeom prst="rect">
            <a:avLst/>
          </a:prstGeom>
          <a:solidFill>
            <a:srgbClr val="67AAED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7584" y="3015766"/>
            <a:ext cx="5783521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B2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檢核點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077584" y="3524323"/>
            <a:ext cx="5783521" cy="587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改一行字再上線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077584" y="4226477"/>
            <a:ext cx="5415479" cy="92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179"/>
              </a:lnSpc>
              <a:buNone/>
            </a:pPr>
            <a:r>
              <a:rPr lang="en-US" sz="225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 index.html 標題，發布新版本，確認網頁真的更新。</a:t>
            </a:r>
            <a:endParaRPr lang="en-US" sz="2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常見狀況與處理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619133"/>
            <a:ext cx="16382951" cy="15488"/>
          </a:xfrm>
          <a:prstGeom prst="rect">
            <a:avLst/>
          </a:prstGeom>
          <a:solidFill>
            <a:srgbClr val="17150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2072462"/>
            <a:ext cx="7962873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症狀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648608" y="2072462"/>
            <a:ext cx="9555528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95" kern="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處理方式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" y="3643143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901301"/>
            <a:ext cx="7962873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改了檔案，網頁沒變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48608" y="2947765"/>
            <a:ext cx="955552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到「管理部署」發布新版本；開發階段改用 /dev 測試網址。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659409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917568"/>
            <a:ext cx="7962873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圖片、樣式讀不到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48608" y="3964031"/>
            <a:ext cx="955552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把該資料夾權限改為「知道連結的任何人 / 檢視者」。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5675675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4933834"/>
            <a:ext cx="7962873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別人打開是錯誤頁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48608" y="4980297"/>
            <a:ext cx="955552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部署設定的「誰可以存取」要選「所有人」。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6691942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950100"/>
            <a:ext cx="7962873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出現未驗證警告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48608" y="5996564"/>
            <a:ext cx="955552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正常程序：Advanced → Go to … → 選帳號 → Continue。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7708208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966366"/>
            <a:ext cx="7962873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相機、定位功能失效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48608" y="7012830"/>
            <a:ext cx="9555528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沙盒限制，這類需求請改用其他部署方式。</a:t>
            </a:r>
            <a:endParaRPr lang="en-US" sz="2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7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47726"/>
            <a:ext cx="18021246" cy="39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67A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小結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745145"/>
            <a:ext cx="13735050" cy="16839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03"/>
              </a:lnSpc>
              <a:buNone/>
            </a:pPr>
            <a:r>
              <a:rPr lang="en-US" sz="5400" b="1" dirty="0">
                <a:solidFill>
                  <a:srgbClr val="F4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的魅力在「快」， GAS 補上同樣快的最後一哩路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5733755"/>
            <a:ext cx="13735050" cy="1100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68"/>
              </a:lnSpc>
              <a:buNone/>
            </a:pPr>
            <a:r>
              <a:rPr lang="en-US" sz="2700" dirty="0">
                <a:solidFill>
                  <a:srgbClr val="B9B2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它在流量與網址美觀度上有侷限，但作為從開發到發布的橋樑，是目前門檻最低、彈性最高的工具之一。掌握版本制與路徑權限這兩個關鍵，雲端硬碟就是你的創意孵化器。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9137805"/>
            <a:ext cx="18021246" cy="42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E8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下一步：試著把 Google 試算表接成資料庫，讓網頁從靜態展示變成動態應用。</a:t>
            </a:r>
            <a:endParaRPr lang="en-US" sz="2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246" cy="739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81"/>
              </a:lnSpc>
              <a:buNone/>
            </a:pPr>
            <a:r>
              <a:rPr lang="en-US" sz="48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延伸閱讀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072462"/>
            <a:ext cx="8039017" cy="324784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1147" y="2461109"/>
            <a:ext cx="798789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另一條部署路線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341147" y="3090059"/>
            <a:ext cx="7479575" cy="895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GitHub Pages 部署網頁作品，網址更漂亮、流量更穩。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296313" y="2072462"/>
            <a:ext cx="8039139" cy="3247841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84960" y="2461109"/>
            <a:ext cx="7988029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輕量後端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84960" y="3090059"/>
            <a:ext cx="7988029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Google 試算表當資料庫，做點餐、點名、上傳系統。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625098"/>
            <a:ext cx="8039017" cy="2819265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1147" y="6013745"/>
            <a:ext cx="7987896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圖片與字體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341147" y="6642695"/>
            <a:ext cx="7987896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的圖片處理心法與字體指南。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96313" y="5625098"/>
            <a:ext cx="8039139" cy="2819265"/>
          </a:xfrm>
          <a:prstGeom prst="rect">
            <a:avLst/>
          </a:prstGeom>
          <a:solidFill>
            <a:srgbClr val="FFFDF8"/>
          </a:solidFill>
          <a:ln w="7744">
            <a:solidFill>
              <a:srgbClr val="D8D2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4960" y="6013745"/>
            <a:ext cx="7988029" cy="533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再往前一步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684960" y="6642695"/>
            <a:ext cx="7988029" cy="46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86"/>
              </a:lnSpc>
              <a:buNone/>
            </a:pPr>
            <a:r>
              <a:rPr lang="en-US" sz="225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串接 Firebase、Gemini API，或做一個 LINE Bot。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8863381"/>
            <a:ext cx="16382951" cy="9525"/>
          </a:xfrm>
          <a:prstGeom prst="rect">
            <a:avLst/>
          </a:prstGeom>
          <a:solidFill>
            <a:srgbClr val="D8D2C6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9137805"/>
            <a:ext cx="6743560" cy="42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44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教材來源：STEAM 教育學習網 — Vibe Coding 專區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512194" y="9192012"/>
            <a:ext cx="3105583" cy="363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83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steam.oxxostudio.tw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2026-09-01T08:04:28Z</dcterms:created>
  <dcterms:modified xsi:type="dcterms:W3CDTF">2026-09-01T08:04:28Z</dcterms:modified>
</cp:coreProperties>
</file>