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b7425a191364acc" /><Relationship Type="http://schemas.openxmlformats.org/officeDocument/2006/relationships/extended-properties" Target="/docProps/app.xml" Id="R8c99b7c0d17a4579" /><Relationship Type="http://schemas.openxmlformats.org/officeDocument/2006/relationships/officeDocument" Target="/ppt/presentation.xml" Id="Ree94d8f7d15a475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79c83b8b98f4743"/>
  </p:sldMasterIdLst>
  <p:notesMasterIdLst>
    <p:notesMasterId xmlns:r="http://schemas.openxmlformats.org/officeDocument/2006/relationships" r:id="Re8d115a358094dda"/>
  </p:notesMasterIdLst>
  <p:sldIdLst>
    <p:sldId xmlns:r="http://schemas.openxmlformats.org/officeDocument/2006/relationships" id="256" r:id="R7400a13c609e4ea1"/>
    <p:sldId xmlns:r="http://schemas.openxmlformats.org/officeDocument/2006/relationships" id="257" r:id="Rc2312a039a08408f"/>
    <p:sldId xmlns:r="http://schemas.openxmlformats.org/officeDocument/2006/relationships" id="258" r:id="Ra4da73d5e6bf4da0"/>
    <p:sldId xmlns:r="http://schemas.openxmlformats.org/officeDocument/2006/relationships" id="259" r:id="R00391e85ccc0459c"/>
    <p:sldId xmlns:r="http://schemas.openxmlformats.org/officeDocument/2006/relationships" id="260" r:id="R35bc2a2efcbe4e4a"/>
    <p:sldId xmlns:r="http://schemas.openxmlformats.org/officeDocument/2006/relationships" id="261" r:id="R075cb0f3bf9b44d2"/>
    <p:sldId xmlns:r="http://schemas.openxmlformats.org/officeDocument/2006/relationships" id="262" r:id="Rb5673afa12c748a5"/>
    <p:sldId xmlns:r="http://schemas.openxmlformats.org/officeDocument/2006/relationships" id="263" r:id="R2115c4b2b9274423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2c5b77e97954a10" /><Relationship Type="http://schemas.openxmlformats.org/officeDocument/2006/relationships/slideMaster" Target="/ppt/slideMasters/slideMaster1.xml" Id="R679c83b8b98f4743" /><Relationship Type="http://schemas.openxmlformats.org/officeDocument/2006/relationships/notesMaster" Target="/ppt/notesMasters/notesMaster1.xml" Id="Re8d115a358094dda" /><Relationship Type="http://schemas.openxmlformats.org/officeDocument/2006/relationships/presProps" Target="/ppt/presProps.xml" Id="R3877c8f1f4ed4c02" /><Relationship Type="http://schemas.openxmlformats.org/officeDocument/2006/relationships/tableStyles" Target="/ppt/tableStyles.xml" Id="R295d1b54754648ff" /><Relationship Type="http://schemas.openxmlformats.org/officeDocument/2006/relationships/slide" Target="/ppt/slides/slide1.xml" Id="R7400a13c609e4ea1" /><Relationship Type="http://schemas.openxmlformats.org/officeDocument/2006/relationships/slide" Target="/ppt/slides/slide2.xml" Id="Rc2312a039a08408f" /><Relationship Type="http://schemas.openxmlformats.org/officeDocument/2006/relationships/slide" Target="/ppt/slides/slide3.xml" Id="Ra4da73d5e6bf4da0" /><Relationship Type="http://schemas.openxmlformats.org/officeDocument/2006/relationships/slide" Target="/ppt/slides/slide4.xml" Id="R00391e85ccc0459c" /><Relationship Type="http://schemas.openxmlformats.org/officeDocument/2006/relationships/slide" Target="/ppt/slides/slide5.xml" Id="R35bc2a2efcbe4e4a" /><Relationship Type="http://schemas.openxmlformats.org/officeDocument/2006/relationships/slide" Target="/ppt/slides/slide6.xml" Id="R075cb0f3bf9b44d2" /><Relationship Type="http://schemas.openxmlformats.org/officeDocument/2006/relationships/slide" Target="/ppt/slides/slide7.xml" Id="Rb5673afa12c748a5" /><Relationship Type="http://schemas.openxmlformats.org/officeDocument/2006/relationships/slide" Target="/ppt/slides/slide8.xml" Id="R2115c4b2b927442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164c728678844d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08316fc23b3455b" /><Relationship Type="http://schemas.openxmlformats.org/officeDocument/2006/relationships/notesMaster" Target="/ppt/notesMasters/notesMaster1.xml" Id="R7cd3180eb8ee43d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eabc12ab6b04c3a" /><Relationship Type="http://schemas.openxmlformats.org/officeDocument/2006/relationships/notesMaster" Target="/ppt/notesMasters/notesMaster1.xml" Id="Rf255c12861f7433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bf9bab196904dbf" /><Relationship Type="http://schemas.openxmlformats.org/officeDocument/2006/relationships/notesMaster" Target="/ppt/notesMasters/notesMaster1.xml" Id="R7257b7ea019a4e2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5de5df67db64b47" /><Relationship Type="http://schemas.openxmlformats.org/officeDocument/2006/relationships/notesMaster" Target="/ppt/notesMasters/notesMaster1.xml" Id="Rce43055fded84bc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7d78a8448794c6a" /><Relationship Type="http://schemas.openxmlformats.org/officeDocument/2006/relationships/notesMaster" Target="/ppt/notesMasters/notesMaster1.xml" Id="R6f2d0a768f8b476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86385ead2874610" /><Relationship Type="http://schemas.openxmlformats.org/officeDocument/2006/relationships/notesMaster" Target="/ppt/notesMasters/notesMaster1.xml" Id="R98d1bec33bde442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d71f60f00a84fb8" /><Relationship Type="http://schemas.openxmlformats.org/officeDocument/2006/relationships/notesMaster" Target="/ppt/notesMasters/notesMaster1.xml" Id="R74c33d1fd4424f7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2c7c36cfb444200" /><Relationship Type="http://schemas.openxmlformats.org/officeDocument/2006/relationships/notesMaster" Target="/ppt/notesMasters/notesMaster1.xml" Id="R53305718542d416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開場：說明這堂課的實作成果與使用情境。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使用者提供的 PDF：112年情境族語_01上課用語_33太魯閣語 (1).pdf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講師提示：goal；請以學員自己的真實題目示範，不用虛構成果。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使用者提供的 PDF：112年情境族語_01上課用語_33太魯閣語 (1).pdf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講師提示：key；請以學員自己的真實題目示範，不用虛構成果。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使用者提供的 PDF：112年情境族語_01上課用語_33太魯閣語 (1).pdf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講師提示：flow；請以學員自己的真實題目示範，不用虛構成果。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使用者提供的 PDF：112年情境族語_01上課用語_33太魯閣語 (1).pdf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講師提示：prompt；請以學員自己的真實題目示範，不用虛構成果。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使用者提供的 PDF：112年情境族語_01上課用語_33太魯閣語 (1).pdf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講師提示：practice；請以學員自己的真實題目示範，不用虛構成果。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使用者提供的 PDF：112年情境族語_01上課用語_33太魯閣語 (1).pdf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講師提示：deliver；請以學員自己的真實題目示範，不用虛構成果。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使用者提供的 PDF：112年情境族語_01上課用語_33太魯閣語 (1).pdf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講師提示：close；請以學員自己的真實題目示範，不用虛構成果。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使用者提供的 PDF：112年情境族語_01上課用語_33太魯閣語 (1).pdf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575d90238a14bb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f41480b3da5464c" /><Relationship Type="http://schemas.openxmlformats.org/officeDocument/2006/relationships/slideLayout" Target="/ppt/slideLayouts/slideLayout1.xml" Id="R1a5013706fd0446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a5013706fd0446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1ada98b11042c1" /><Relationship Type="http://schemas.openxmlformats.org/officeDocument/2006/relationships/notesSlide" Target="/ppt/notesSlides/notesSlide1.xml" Id="Ra988dff07c30416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9c07a2ba164d98" /><Relationship Type="http://schemas.openxmlformats.org/officeDocument/2006/relationships/notesSlide" Target="/ppt/notesSlides/notesSlide2.xml" Id="R1b01d4aa6495424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149f2a4ba74f3f" /><Relationship Type="http://schemas.openxmlformats.org/officeDocument/2006/relationships/notesSlide" Target="/ppt/notesSlides/notesSlide3.xml" Id="R32f6f634fbca4ed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815ba69db049df" /><Relationship Type="http://schemas.openxmlformats.org/officeDocument/2006/relationships/notesSlide" Target="/ppt/notesSlides/notesSlide4.xml" Id="R4949a0b38efc448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41e9a77246434d" /><Relationship Type="http://schemas.openxmlformats.org/officeDocument/2006/relationships/notesSlide" Target="/ppt/notesSlides/notesSlide5.xml" Id="Re0668d85331b454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5ee8ed9e09452b" /><Relationship Type="http://schemas.openxmlformats.org/officeDocument/2006/relationships/notesSlide" Target="/ppt/notesSlides/notesSlide6.xml" Id="R552afc7ec53b4e8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93a89ac4c747b5" /><Relationship Type="http://schemas.openxmlformats.org/officeDocument/2006/relationships/notesSlide" Target="/ppt/notesSlides/notesSlide7.xml" Id="Raa1fd1ffab4c446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d095ddaf1b41ec" /><Relationship Type="http://schemas.openxmlformats.org/officeDocument/2006/relationships/notesSlide" Target="/ppt/notesSlides/notesSlide8.xml" Id="Rf78956c8bf9849e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A2BBC6F-3241-4B88-9FEC-645B0A369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0"/>
            <a:ext cx="3905250" cy="6858000"/>
          </a:xfrm>
          <a:prstGeom xmlns:a="http://schemas.openxmlformats.org/drawingml/2006/main" prst="roundRect">
            <a:avLst>
              <a:gd name="adj" fmla="val 1951"/>
            </a:avLst>
          </a:prstGeom>
          <a:solidFill xmlns:a="http://schemas.openxmlformats.org/drawingml/2006/main">
            <a:srgbClr val="147D7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42798D-6784-400A-B951-94E568B6D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47D7E"/>
                </a:solidFill>
              </a:defRPr>
            </a:pPr>
            <a:r>
              <a:rPr sz="1200" b="1">
                <a:solidFill>
                  <a:srgbClr val="147D7E"/>
                </a:solidFill>
              </a:rPr>
              <a:t>第 01 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BCBD997-C46D-4412-93C8-A235EED5F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76375"/>
            <a:ext cx="6953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111827"/>
                </a:solidFill>
              </a:defRPr>
            </a:pPr>
            <a:r>
              <a:rPr sz="3750" b="1">
                <a:solidFill>
                  <a:srgbClr val="111827"/>
                </a:solidFill>
              </a:rPr>
              <a:t>NotebookLM 遊戲化 RPG 簡報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165F1C-126E-45F9-B4E5-EB360B8CF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48000"/>
            <a:ext cx="6572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36273"/>
                </a:solidFill>
              </a:defRPr>
            </a:pPr>
            <a:r>
              <a:rPr sz="1800">
                <a:solidFill>
                  <a:srgbClr val="536273"/>
                </a:solidFill>
              </a:rPr>
              <a:t>把一份教材變成一場可以闖關的學習冒險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DD20B58-DE30-428B-99A5-F5DBDA3E6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1809750"/>
            <a:ext cx="209550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147D7E"/>
          </a:solidFill>
          <a:ln xmlns:a="http://schemas.openxmlformats.org/drawingml/2006/main" w="9525">
            <a:solidFill>
              <a:srgbClr val="147D7E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CD3B888-3C20-42A7-A9E1-935C9060E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381250"/>
            <a:ext cx="15716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4800" b="1">
                <a:solidFill>
                  <a:srgbClr val="FFFFFF"/>
                </a:solidFill>
              </a:defRPr>
            </a:pPr>
            <a:r>
              <a:rPr sz="4800" b="1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37799B-82BB-4892-AC7C-7847AC93A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4333875"/>
            <a:ext cx="2762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今天的作品</a:t>
            </a:r>
          </a:p>
          <a:p xmlns:a="http://schemas.openxmlformats.org/drawingml/2006/main">
            <a:pPr algn="ctr"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NotebookLM 遊戲化 RPG 簡報 v1</a:t>
            </a:r>
          </a:p>
        </p:txBody>
      </p:sp>
    </p:spTree>
    <p:extLst>
      <p:ext uri="{BB962C8B-B14F-4D97-AF65-F5344CB8AC3E}">
        <p14:creationId xmlns:p14="http://schemas.microsoft.com/office/powerpoint/2010/main" val="153963573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3156731-6641-424A-A604-E1DA222F6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47D7E"/>
                </a:solidFill>
              </a:defRPr>
            </a:pPr>
            <a:r>
              <a:rPr sz="975" b="1">
                <a:solidFill>
                  <a:srgbClr val="147D7E"/>
                </a:solidFill>
              </a:rPr>
              <a:t>AI 工具實戰進階班 / 第 01 堂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75B100-3CDD-46D0-8F6E-84DF21AB1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668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11827"/>
                </a:solidFill>
              </a:defRPr>
            </a:pPr>
            <a:r>
              <a:rPr sz="2700" b="1">
                <a:solidFill>
                  <a:srgbClr val="111827"/>
                </a:solidFill>
              </a:rPr>
              <a:t>學習任務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AA7DC4-47FD-4CB7-AE37-41DFE1276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3429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36273"/>
                </a:solidFill>
              </a:defRPr>
            </a:pPr>
            <a:r>
              <a:rPr sz="1050" b="1">
                <a:solidFill>
                  <a:srgbClr val="536273"/>
                </a:solidFill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04C657-A416-43D4-ACC2-E7C7CFC1B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144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938679-5CB5-41DB-AEA3-AAA22C2C7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7620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11827"/>
                </a:solidFill>
              </a:defRPr>
            </a:pPr>
            <a:r>
              <a:rPr sz="2025" b="1">
                <a:solidFill>
                  <a:srgbClr val="111827"/>
                </a:solidFill>
              </a:rPr>
              <a:t>今天結束時，你要能完成：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30C7260-1AB6-49AE-A52E-02537ED9B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81250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11827"/>
                </a:solidFill>
              </a:defRPr>
            </a:pPr>
            <a:r>
              <a:rPr sz="1500">
                <a:solidFill>
                  <a:srgbClr val="111827"/>
                </a:solidFill>
              </a:rPr>
              <a:t>• 理解遊戲化的 5 個核心規則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AE86A9A-E851-4F04-8F25-08D73B0E8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81300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11827"/>
                </a:solidFill>
              </a:defRPr>
            </a:pPr>
            <a:r>
              <a:rPr sz="1500">
                <a:solidFill>
                  <a:srgbClr val="111827"/>
                </a:solidFill>
              </a:rPr>
              <a:t>• 用 NotebookLM 整理教材與來源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DF5DD5D-D462-4660-83BB-CEF3C456C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81350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11827"/>
                </a:solidFill>
              </a:defRPr>
            </a:pPr>
            <a:r>
              <a:rPr sz="1500">
                <a:solidFill>
                  <a:srgbClr val="111827"/>
                </a:solidFill>
              </a:rPr>
              <a:t>• 完成 8–12 張 RPG 簡報初版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B2498E5-044A-47C2-956A-8C5B2AA14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238375"/>
            <a:ext cx="3714750" cy="238125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147D7E">
              <a:alpha val="13333"/>
            </a:srgbClr>
          </a:solidFill>
          <a:ln xmlns:a="http://schemas.openxmlformats.org/drawingml/2006/main" w="9525">
            <a:solidFill>
              <a:srgbClr val="147D7E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6B3D816-9459-4AA7-8F5F-0A76C47AF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619375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47D7E"/>
                </a:solidFill>
              </a:defRPr>
            </a:pPr>
            <a:r>
              <a:rPr sz="1800" b="1">
                <a:solidFill>
                  <a:srgbClr val="147D7E"/>
                </a:solidFill>
              </a:rPr>
              <a:t>完成標準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273E72F-81BB-4C27-A21B-030037754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238500"/>
            <a:ext cx="2857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11827"/>
                </a:solidFill>
              </a:defRPr>
            </a:pPr>
            <a:r>
              <a:rPr sz="1875" b="1">
                <a:solidFill>
                  <a:srgbClr val="111827"/>
                </a:solidFill>
              </a:rPr>
              <a:t>NotebookLM 遊戲化 RPG 簡報 v1</a:t>
            </a:r>
          </a:p>
        </p:txBody>
      </p:sp>
    </p:spTree>
    <p:extLst>
      <p:ext uri="{BB962C8B-B14F-4D97-AF65-F5344CB8AC3E}">
        <p14:creationId xmlns:p14="http://schemas.microsoft.com/office/powerpoint/2010/main" val="115688627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2214335-BE73-46EE-8B73-3CC66AED1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47D7E"/>
                </a:solidFill>
              </a:defRPr>
            </a:pPr>
            <a:r>
              <a:rPr sz="975" b="1">
                <a:solidFill>
                  <a:srgbClr val="147D7E"/>
                </a:solidFill>
              </a:rPr>
              <a:t>AI 工具實戰進階班 / 第 01 堂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CC8B43B-8BFD-4701-88AC-B08602A87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668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11827"/>
                </a:solidFill>
              </a:defRPr>
            </a:pPr>
            <a:r>
              <a:rPr sz="2700" b="1">
                <a:solidFill>
                  <a:srgbClr val="111827"/>
                </a:solidFill>
              </a:rPr>
              <a:t>核心觀念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8719EEC-5EDE-40FC-89A8-AF7FD74ED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3429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36273"/>
                </a:solidFill>
              </a:defRPr>
            </a:pPr>
            <a:r>
              <a:rPr sz="1050" b="1">
                <a:solidFill>
                  <a:srgbClr val="536273"/>
                </a:solidFill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5EBBDD-5E6B-4939-BE81-7CDC7A0D0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144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C1310F5-68DC-4855-85C5-4E94F1CAC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857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11827"/>
                </a:solidFill>
              </a:defRPr>
            </a:pPr>
            <a:r>
              <a:rPr sz="2025" b="1">
                <a:solidFill>
                  <a:srgbClr val="111827"/>
                </a:solidFill>
              </a:rPr>
              <a:t>把這堂課記成三個關鍵決定：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DBD9CA5-C8FB-4155-A9D5-46673AA80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81250"/>
            <a:ext cx="102870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147D7E">
              <a:alpha val="9412"/>
            </a:srgbClr>
          </a:solidFill>
          <a:ln xmlns:a="http://schemas.openxmlformats.org/drawingml/2006/main" w="9525">
            <a:solidFill>
              <a:srgbClr val="147D7E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2E6710-CA6E-4E0F-B6FE-AE4D69BD9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571750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47D7E"/>
                </a:solidFill>
              </a:defRPr>
            </a:pPr>
            <a:r>
              <a:rPr sz="1575" b="1">
                <a:solidFill>
                  <a:srgbClr val="147D7E"/>
                </a:solidFill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B6F0D7-5A40-468D-87B0-34E5B47B8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552700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11827"/>
                </a:solidFill>
              </a:defRPr>
            </a:pPr>
            <a:r>
              <a:rPr sz="1725" b="1">
                <a:solidFill>
                  <a:srgbClr val="111827"/>
                </a:solidFill>
              </a:rPr>
              <a:t>教材先於故事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3546BC5-927F-45E4-8194-BC5A77B95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33750"/>
            <a:ext cx="102870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F3F6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CD38734-70D4-45CD-918D-2785BB073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524250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47D7E"/>
                </a:solidFill>
              </a:defRPr>
            </a:pPr>
            <a:r>
              <a:rPr sz="1575" b="1">
                <a:solidFill>
                  <a:srgbClr val="147D7E"/>
                </a:solidFill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7F53FEF-9CF0-4BA5-A06A-DF06B3F8B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3505200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11827"/>
                </a:solidFill>
              </a:defRPr>
            </a:pPr>
            <a:r>
              <a:rPr sz="1725" b="1">
                <a:solidFill>
                  <a:srgbClr val="111827"/>
                </a:solidFill>
              </a:rPr>
              <a:t>任務必須使用教材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6F6D2F9-8B0D-4AC2-A3CB-01E4C844C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86250"/>
            <a:ext cx="102870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147D7E">
              <a:alpha val="9412"/>
            </a:srgbClr>
          </a:solidFill>
          <a:ln xmlns:a="http://schemas.openxmlformats.org/drawingml/2006/main" w="9525">
            <a:solidFill>
              <a:srgbClr val="147D7E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4A87F86-D7C2-42F4-9809-39977C7C4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476750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47D7E"/>
                </a:solidFill>
              </a:defRPr>
            </a:pPr>
            <a:r>
              <a:rPr sz="1575" b="1">
                <a:solidFill>
                  <a:srgbClr val="147D7E"/>
                </a:solidFill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58079CE-B33F-4988-AFDA-07A72AE2C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457700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11827"/>
                </a:solidFill>
              </a:defRPr>
            </a:pPr>
            <a:r>
              <a:rPr sz="1725" b="1">
                <a:solidFill>
                  <a:srgbClr val="111827"/>
                </a:solidFill>
              </a:rPr>
              <a:t>挑戰、回饋、獎勵與成長</a:t>
            </a:r>
          </a:p>
        </p:txBody>
      </p:sp>
    </p:spTree>
    <p:extLst>
      <p:ext uri="{BB962C8B-B14F-4D97-AF65-F5344CB8AC3E}">
        <p14:creationId xmlns:p14="http://schemas.microsoft.com/office/powerpoint/2010/main" val="157767411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D53EBDD-6951-403D-822E-56FA1FB5D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47D7E"/>
                </a:solidFill>
              </a:defRPr>
            </a:pPr>
            <a:r>
              <a:rPr sz="975" b="1">
                <a:solidFill>
                  <a:srgbClr val="147D7E"/>
                </a:solidFill>
              </a:rPr>
              <a:t>AI 工具實戰進階班 / 第 01 堂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BE2F5AF-3030-418A-9D15-F4BC3E2EB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668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11827"/>
                </a:solidFill>
              </a:defRPr>
            </a:pPr>
            <a:r>
              <a:rPr sz="2700" b="1">
                <a:solidFill>
                  <a:srgbClr val="111827"/>
                </a:solidFill>
              </a:rPr>
              <a:t>操作流程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43EB124-2C9A-4FF4-BD05-7BD850E8B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3429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36273"/>
                </a:solidFill>
              </a:defRPr>
            </a:pPr>
            <a:r>
              <a:rPr sz="1050" b="1">
                <a:solidFill>
                  <a:srgbClr val="536273"/>
                </a:solidFill>
              </a:rPr>
              <a:t>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D3782AC-1211-45BB-BFC6-1130AB823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144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98099F-64CC-47A9-B689-57BFB8CEA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857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11827"/>
                </a:solidFill>
              </a:defRPr>
            </a:pPr>
            <a:r>
              <a:rPr sz="2025" b="1">
                <a:solidFill>
                  <a:srgbClr val="111827"/>
                </a:solidFill>
              </a:rPr>
              <a:t>用這條流程，把想法做成可驗收成果：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339D72C-8A77-4315-92FC-A7BD546A9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0"/>
            <a:ext cx="304800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147D7E">
              <a:alpha val="13333"/>
            </a:srgbClr>
          </a:solidFill>
          <a:ln xmlns:a="http://schemas.openxmlformats.org/drawingml/2006/main" w="9525">
            <a:solidFill>
              <a:srgbClr val="147D7E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EA2D387-64E9-43AC-AEA0-8903D774E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336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47D7E"/>
                </a:solidFill>
              </a:defRPr>
            </a:pPr>
            <a:r>
              <a:rPr sz="1050" b="1">
                <a:solidFill>
                  <a:srgbClr val="147D7E"/>
                </a:solidFill>
              </a:rPr>
              <a:t>STEP 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4095869-6D90-4853-9F9A-3EC42918F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81940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11827"/>
                </a:solidFill>
              </a:defRPr>
            </a:pPr>
            <a:r>
              <a:rPr sz="1575" b="1">
                <a:solidFill>
                  <a:srgbClr val="111827"/>
                </a:solidFill>
              </a:rPr>
              <a:t>上傳教材 PDF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D7FD384-30E3-4897-B08F-060FC2764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2381250"/>
            <a:ext cx="304800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E3A62F">
              <a:alpha val="20000"/>
            </a:srgbClr>
          </a:solidFill>
          <a:ln xmlns:a="http://schemas.openxmlformats.org/drawingml/2006/main" w="9525">
            <a:solidFill>
              <a:srgbClr val="E3A62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D18EF99-F9F9-443F-B227-465DDEAF9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5336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E3A62F"/>
                </a:solidFill>
              </a:defRPr>
            </a:pPr>
            <a:r>
              <a:rPr sz="1050" b="1">
                <a:solidFill>
                  <a:srgbClr val="E3A62F"/>
                </a:solidFill>
              </a:rPr>
              <a:t>STEP 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E355939-B75F-4650-9174-CB1CC07AD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81940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11827"/>
                </a:solidFill>
              </a:defRPr>
            </a:pPr>
            <a:r>
              <a:rPr sz="1575" b="1">
                <a:solidFill>
                  <a:srgbClr val="111827"/>
                </a:solidFill>
              </a:rPr>
              <a:t>請 NotebookLM 整理資料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AE17E99-D31B-41E8-B6D0-0ED4875D9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381250"/>
            <a:ext cx="304800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147D7E">
              <a:alpha val="13333"/>
            </a:srgbClr>
          </a:solidFill>
          <a:ln xmlns:a="http://schemas.openxmlformats.org/drawingml/2006/main" w="9525">
            <a:solidFill>
              <a:srgbClr val="147D7E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BFEC9AB-C91E-4382-92A3-33C75A3CF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5336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47D7E"/>
                </a:solidFill>
              </a:defRPr>
            </a:pPr>
            <a:r>
              <a:rPr sz="1050" b="1">
                <a:solidFill>
                  <a:srgbClr val="147D7E"/>
                </a:solidFill>
              </a:rPr>
              <a:t>STEP 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2EA9E04-77C4-44AC-AB87-5AA412852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81940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11827"/>
                </a:solidFill>
              </a:defRPr>
            </a:pPr>
            <a:r>
              <a:rPr sz="1575" b="1">
                <a:solidFill>
                  <a:srgbClr val="111827"/>
                </a:solidFill>
              </a:rPr>
              <a:t>設計角色與關卡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36D6E26-5F6E-4485-9331-4EFB49650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62375"/>
            <a:ext cx="304800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E3A62F">
              <a:alpha val="20000"/>
            </a:srgbClr>
          </a:solidFill>
          <a:ln xmlns:a="http://schemas.openxmlformats.org/drawingml/2006/main" w="9525">
            <a:solidFill>
              <a:srgbClr val="E3A62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147F345-246A-4A03-B770-57D823CEB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914775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E3A62F"/>
                </a:solidFill>
              </a:defRPr>
            </a:pPr>
            <a:r>
              <a:rPr sz="1050" b="1">
                <a:solidFill>
                  <a:srgbClr val="E3A62F"/>
                </a:solidFill>
              </a:rPr>
              <a:t>STEP 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C6D5C20-BC05-4658-9350-BCD16CD02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00525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11827"/>
                </a:solidFill>
              </a:defRPr>
            </a:pPr>
            <a:r>
              <a:rPr sz="1575" b="1">
                <a:solidFill>
                  <a:srgbClr val="111827"/>
                </a:solidFill>
              </a:rPr>
              <a:t>生成簡報大綱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E710841-B09D-4E60-A833-83E8DC88C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3762375"/>
            <a:ext cx="304800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147D7E">
              <a:alpha val="13333"/>
            </a:srgbClr>
          </a:solidFill>
          <a:ln xmlns:a="http://schemas.openxmlformats.org/drawingml/2006/main" w="9525">
            <a:solidFill>
              <a:srgbClr val="147D7E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1C134DB-D147-44E8-9AEC-FB5C6885D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914775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47D7E"/>
                </a:solidFill>
              </a:defRPr>
            </a:pPr>
            <a:r>
              <a:rPr sz="1050" b="1">
                <a:solidFill>
                  <a:srgbClr val="147D7E"/>
                </a:solidFill>
              </a:rPr>
              <a:t>STEP 5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9F53C2E-7DF4-469E-9A66-C13C4E718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200525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11827"/>
                </a:solidFill>
              </a:defRPr>
            </a:pPr>
            <a:r>
              <a:rPr sz="1575" b="1">
                <a:solidFill>
                  <a:srgbClr val="111827"/>
                </a:solidFill>
              </a:rPr>
              <a:t>人工核對語言內容</a:t>
            </a:r>
          </a:p>
        </p:txBody>
      </p:sp>
    </p:spTree>
    <p:extLst>
      <p:ext uri="{BB962C8B-B14F-4D97-AF65-F5344CB8AC3E}">
        <p14:creationId xmlns:p14="http://schemas.microsoft.com/office/powerpoint/2010/main" val="69960074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E59D5DC-7AF3-48AA-BF6D-165B4C065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47D7E"/>
                </a:solidFill>
              </a:defRPr>
            </a:pPr>
            <a:r>
              <a:rPr sz="975" b="1">
                <a:solidFill>
                  <a:srgbClr val="147D7E"/>
                </a:solidFill>
              </a:rPr>
              <a:t>AI 工具實戰進階班 / 第 01 堂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C85E31D-E4CD-41E1-B005-D07BCCB10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668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11827"/>
                </a:solidFill>
              </a:defRPr>
            </a:pPr>
            <a:r>
              <a:rPr sz="2700" b="1">
                <a:solidFill>
                  <a:srgbClr val="111827"/>
                </a:solidFill>
              </a:rPr>
              <a:t>可直接使用的提示詞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3996969-65EE-48EB-89DA-3F873D8FB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3429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36273"/>
                </a:solidFill>
              </a:defRPr>
            </a:pPr>
            <a:r>
              <a:rPr sz="1050" b="1">
                <a:solidFill>
                  <a:srgbClr val="536273"/>
                </a:solidFill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6500992-027C-4A42-AF2E-155EF21D1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144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B3E10AA-3CB1-48F1-BA0C-0A97F06E6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10953750" cy="3333750"/>
          </a:xfrm>
          <a:prstGeom xmlns:a="http://schemas.openxmlformats.org/drawingml/2006/main" prst="roundRect">
            <a:avLst>
              <a:gd name="adj" fmla="val 2286"/>
            </a:avLst>
          </a:prstGeom>
          <a:solidFill xmlns:a="http://schemas.openxmlformats.org/drawingml/2006/main">
            <a:srgbClr val="101827"/>
          </a:solidFill>
          <a:ln xmlns:a="http://schemas.openxmlformats.org/drawingml/2006/main" w="9525">
            <a:solidFill>
              <a:srgbClr val="10182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25F0749-EB9F-424F-93C9-A24B243DC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95500"/>
            <a:ext cx="10287000" cy="247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FFFFFF"/>
                </a:solidFill>
              </a:defRPr>
            </a:pPr>
            <a:r>
              <a:rPr sz="1725">
                <a:solidFill>
                  <a:srgbClr val="FFFFFF"/>
                </a:solidFill>
              </a:rPr>
              <a:t>請根據我上傳的教材，設計 RPG 世界觀、玩家角色、3 個關卡、挑戰、回饋與獎勵。只能使用來源中確認的語言資料，不可自行猜測。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9CD2F7F-D012-4403-9705-17ED9542D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9750"/>
            <a:ext cx="1047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47D7E"/>
                </a:solidFill>
              </a:defRPr>
            </a:pPr>
            <a:r>
              <a:rPr sz="1500" b="1">
                <a:solidFill>
                  <a:srgbClr val="147D7E"/>
                </a:solidFill>
              </a:rPr>
              <a:t>使用原則：先上傳／準備真實資料，再要求 AI 生成；產出後人工檢查。</a:t>
            </a:r>
          </a:p>
        </p:txBody>
      </p:sp>
    </p:spTree>
    <p:extLst>
      <p:ext uri="{BB962C8B-B14F-4D97-AF65-F5344CB8AC3E}">
        <p14:creationId xmlns:p14="http://schemas.microsoft.com/office/powerpoint/2010/main" val="66823260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B3B5D1A-7C6B-40AC-BEB6-7A803DE8B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47D7E"/>
                </a:solidFill>
              </a:defRPr>
            </a:pPr>
            <a:r>
              <a:rPr sz="975" b="1">
                <a:solidFill>
                  <a:srgbClr val="147D7E"/>
                </a:solidFill>
              </a:rPr>
              <a:t>AI 工具實戰進階班 / 第 01 堂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EBEE89-1E71-4AEC-AFAC-C46AD35C3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668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11827"/>
                </a:solidFill>
              </a:defRPr>
            </a:pPr>
            <a:r>
              <a:rPr sz="2700" b="1">
                <a:solidFill>
                  <a:srgbClr val="111827"/>
                </a:solidFill>
              </a:rPr>
              <a:t>課堂實作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2F443A0-4EB9-4A59-82EC-75083F52D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3429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36273"/>
                </a:solidFill>
              </a:defRPr>
            </a:pPr>
            <a:r>
              <a:rPr sz="1050" b="1">
                <a:solidFill>
                  <a:srgbClr val="536273"/>
                </a:solidFill>
              </a:rPr>
              <a:t>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F712B7-9D8D-4C8F-BDF6-3A9EFB7A0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144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15EC9B6-6D7D-47C2-A97D-490FD0431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952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11827"/>
                </a:solidFill>
              </a:defRPr>
            </a:pPr>
            <a:r>
              <a:rPr sz="2025" b="1">
                <a:solidFill>
                  <a:srgbClr val="111827"/>
                </a:solidFill>
              </a:rPr>
              <a:t>請在課堂完成這個最小可行版本：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B92906-62F2-430F-BB44-A150DDC1A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0"/>
            <a:ext cx="6858000" cy="2476500"/>
          </a:xfrm>
          <a:prstGeom xmlns:a="http://schemas.openxmlformats.org/drawingml/2006/main" prst="roundRect">
            <a:avLst>
              <a:gd name="adj" fmla="val 3077"/>
            </a:avLst>
          </a:prstGeom>
          <a:solidFill xmlns:a="http://schemas.openxmlformats.org/drawingml/2006/main">
            <a:srgbClr val="F3F6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38C065C-5783-442D-8C41-0BF815055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762250"/>
            <a:ext cx="6191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11827"/>
                </a:solidFill>
              </a:defRPr>
            </a:pPr>
            <a:r>
              <a:rPr sz="1875" b="1">
                <a:solidFill>
                  <a:srgbClr val="111827"/>
                </a:solidFill>
              </a:rPr>
              <a:t>以「112年情境族語｜01上課用語｜太魯閣語」為案例，將對話練習、單詞練習與互動測驗轉成 3 個 RPG 關卡。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8B3F81E-B80F-415A-9274-237AD66CB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381250"/>
            <a:ext cx="3143250" cy="2476500"/>
          </a:xfrm>
          <a:prstGeom xmlns:a="http://schemas.openxmlformats.org/drawingml/2006/main" prst="roundRect">
            <a:avLst>
              <a:gd name="adj" fmla="val 3077"/>
            </a:avLst>
          </a:prstGeom>
          <a:solidFill xmlns:a="http://schemas.openxmlformats.org/drawingml/2006/main">
            <a:srgbClr val="147D7E">
              <a:alpha val="13333"/>
            </a:srgbClr>
          </a:solidFill>
          <a:ln xmlns:a="http://schemas.openxmlformats.org/drawingml/2006/main" w="9525">
            <a:solidFill>
              <a:srgbClr val="147D7E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D7E6DAE-35A4-4AE1-8841-C1BEC1C8C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7622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47D7E"/>
                </a:solidFill>
              </a:defRPr>
            </a:pPr>
            <a:r>
              <a:rPr sz="1800" b="1">
                <a:solidFill>
                  <a:srgbClr val="147D7E"/>
                </a:solidFill>
              </a:rPr>
              <a:t>講師檢查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FE68AA8-DE02-42E8-9DB5-F7A8CAD7E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33375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11827"/>
                </a:solidFill>
              </a:defRPr>
            </a:pPr>
            <a:r>
              <a:rPr sz="1500">
                <a:solidFill>
                  <a:srgbClr val="111827"/>
                </a:solidFill>
              </a:rPr>
              <a:t>• 能操作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0816168-26C2-4A35-BBF2-1134B9CD7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73380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11827"/>
                </a:solidFill>
              </a:defRPr>
            </a:pPr>
            <a:r>
              <a:rPr sz="1500">
                <a:solidFill>
                  <a:srgbClr val="111827"/>
                </a:solidFill>
              </a:rPr>
              <a:t>• 有輸入與輸出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6FD1F79-92A2-4186-AB78-425B09F48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13385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11827"/>
                </a:solidFill>
              </a:defRPr>
            </a:pPr>
            <a:r>
              <a:rPr sz="1500">
                <a:solidFill>
                  <a:srgbClr val="111827"/>
                </a:solidFill>
              </a:rPr>
              <a:t>• 能說明限制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36D8152-5794-4431-89BF-D41D238AB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53390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11827"/>
                </a:solidFill>
              </a:defRPr>
            </a:pPr>
            <a:r>
              <a:rPr sz="1500">
                <a:solidFill>
                  <a:srgbClr val="111827"/>
                </a:solidFill>
              </a:rPr>
              <a:t>• 留下版本紀錄</a:t>
            </a:r>
          </a:p>
        </p:txBody>
      </p:sp>
    </p:spTree>
    <p:extLst>
      <p:ext uri="{BB962C8B-B14F-4D97-AF65-F5344CB8AC3E}">
        <p14:creationId xmlns:p14="http://schemas.microsoft.com/office/powerpoint/2010/main" val="119348520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B640E3A-3226-49B6-8570-0074EC557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47D7E"/>
                </a:solidFill>
              </a:defRPr>
            </a:pPr>
            <a:r>
              <a:rPr sz="975" b="1">
                <a:solidFill>
                  <a:srgbClr val="147D7E"/>
                </a:solidFill>
              </a:rPr>
              <a:t>AI 工具實戰進階班 / 第 01 堂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EF4AF07-AA2B-486B-A1E6-7E05507BF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668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11827"/>
                </a:solidFill>
              </a:defRPr>
            </a:pPr>
            <a:r>
              <a:rPr sz="2700" b="1">
                <a:solidFill>
                  <a:srgbClr val="111827"/>
                </a:solidFill>
              </a:rPr>
              <a:t>交付規格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422204-0BA2-49E2-A933-5576CDC27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3429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36273"/>
                </a:solidFill>
              </a:defRPr>
            </a:pPr>
            <a:r>
              <a:rPr sz="1050" b="1">
                <a:solidFill>
                  <a:srgbClr val="536273"/>
                </a:solidFill>
              </a:rPr>
              <a:t>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634AFAE-EDA4-4C20-B82C-774D44E06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144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1F2DB5-A85C-4E2C-B442-87AB32850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47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11827"/>
                </a:solidFill>
              </a:defRPr>
            </a:pPr>
            <a:r>
              <a:rPr sz="2025" b="1">
                <a:solidFill>
                  <a:srgbClr val="111827"/>
                </a:solidFill>
              </a:rPr>
              <a:t>作品包必須讓另一個人接手後也看得懂。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4183798-93C0-4268-A166-FFF5690BF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38125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47D7E"/>
                </a:solidFill>
              </a:defRPr>
            </a:pPr>
            <a:r>
              <a:rPr sz="1650" b="1">
                <a:solidFill>
                  <a:srgbClr val="147D7E"/>
                </a:solidFill>
              </a:rPr>
              <a:t>01｜成果檔案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CE0DDB4-A6AD-4C79-9C04-2900591DB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762250"/>
            <a:ext cx="962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4C536FC-BF16-4A6F-B965-29708B506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981325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02｜提示詞或程式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04F8AFE-8E49-4045-B45F-5AB04DEF4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362325"/>
            <a:ext cx="962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E3E661C-0B18-46EE-B8B0-BB014426E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58140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03｜輸入資料與來源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9069AA9-09C7-4B66-9B79-C26EA98B3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962400"/>
            <a:ext cx="962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B931123-6DB8-4DCB-BE31-F6E238CEF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181475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04｜測試／人工檢查紀錄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AA57010-B883-4930-9047-C6B577C36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562475"/>
            <a:ext cx="962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19667B9-0380-416E-9BB2-521A4838C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78155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05｜操作說明與下一步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A155344-915D-4ABD-9366-F9152969C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162550"/>
            <a:ext cx="962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EE7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25486563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8064A2-4AE4-46F2-BCBA-417D3C87A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47D7E"/>
                </a:solidFill>
              </a:defRPr>
            </a:pPr>
            <a:r>
              <a:rPr sz="975" b="1">
                <a:solidFill>
                  <a:srgbClr val="147D7E"/>
                </a:solidFill>
              </a:rPr>
              <a:t>AI 工具實戰進階班 / 第 01 堂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92C54D-124B-49B2-9407-84D59205E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668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11827"/>
                </a:solidFill>
              </a:defRPr>
            </a:pPr>
            <a:r>
              <a:rPr sz="2700" b="1">
                <a:solidFill>
                  <a:srgbClr val="111827"/>
                </a:solidFill>
              </a:rPr>
              <a:t>課程總結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6E71D6A-C193-4E83-84CC-86D69B179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3429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36273"/>
                </a:solidFill>
              </a:defRPr>
            </a:pPr>
            <a:r>
              <a:rPr sz="1050" b="1">
                <a:solidFill>
                  <a:srgbClr val="536273"/>
                </a:solidFill>
              </a:rPr>
              <a:t>08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1A8BE5-11B2-4E0F-B34F-A5976D512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144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4F64816-2CC3-402A-9ECC-01069F213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9525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111827"/>
                </a:solidFill>
              </a:defRPr>
            </a:pPr>
            <a:r>
              <a:rPr sz="2400" b="1">
                <a:solidFill>
                  <a:srgbClr val="111827"/>
                </a:solidFill>
              </a:rPr>
              <a:t>今天不是把工具玩過一次，而是留下可重複使用的流程。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F5B4A49-20E8-4836-BB65-CC363A4BF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429000"/>
            <a:ext cx="857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147D7E"/>
                </a:solidFill>
              </a:defRPr>
            </a:pPr>
            <a:r>
              <a:rPr sz="1950" b="1">
                <a:solidFill>
                  <a:srgbClr val="147D7E"/>
                </a:solidFill>
              </a:rPr>
              <a:t>下一步：把成果放進你的 AI 備課工具箱。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03C8AC9-A70C-4BC5-9585-A7BF3C0DE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1905000"/>
            <a:ext cx="209550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147D7E"/>
          </a:solidFill>
          <a:ln xmlns:a="http://schemas.openxmlformats.org/drawingml/2006/main" w="9525">
            <a:solidFill>
              <a:srgbClr val="147D7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649F77-6A5A-4A45-801C-B3C92C5AD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619375"/>
            <a:ext cx="1524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300" b="1">
                <a:solidFill>
                  <a:srgbClr val="FFFFFF"/>
                </a:solidFill>
              </a:defRPr>
            </a:pPr>
            <a:r>
              <a:rPr sz="3300" b="1">
                <a:solidFill>
                  <a:srgbClr val="FFFFFF"/>
                </a:solidFill>
              </a:rPr>
              <a:t>GO</a:t>
            </a:r>
          </a:p>
        </p:txBody>
      </p:sp>
    </p:spTree>
    <p:extLst>
      <p:ext uri="{BB962C8B-B14F-4D97-AF65-F5344CB8AC3E}">
        <p14:creationId xmlns:p14="http://schemas.microsoft.com/office/powerpoint/2010/main" val="196107071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2026-08-18T08:12:12.7560000Z</dcterms:created>
  <dcterms:modified xsi:type="dcterms:W3CDTF">2026-08-18T08:12:12.7560000Z</dcterms:modified>
</coreProperties>
</file>