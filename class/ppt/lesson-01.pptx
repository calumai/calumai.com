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171b5adccc84862" /><Relationship Type="http://schemas.openxmlformats.org/officeDocument/2006/relationships/extended-properties" Target="/docProps/app.xml" Id="Ra4de369de2844b46" /><Relationship Type="http://schemas.openxmlformats.org/officeDocument/2006/relationships/officeDocument" Target="/ppt/presentation.xml" Id="R0238fc079a10487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b6982be26f74924"/>
  </p:sldMasterIdLst>
  <p:notesMasterIdLst>
    <p:notesMasterId xmlns:r="http://schemas.openxmlformats.org/officeDocument/2006/relationships" r:id="Rb7843602ad5f48d4"/>
  </p:notesMasterIdLst>
  <p:sldIdLst>
    <p:sldId xmlns:r="http://schemas.openxmlformats.org/officeDocument/2006/relationships" id="256" r:id="R4e1a405bffca407e"/>
    <p:sldId xmlns:r="http://schemas.openxmlformats.org/officeDocument/2006/relationships" id="257" r:id="Rb2b85c59bdc84374"/>
    <p:sldId xmlns:r="http://schemas.openxmlformats.org/officeDocument/2006/relationships" id="258" r:id="R10c9fab4d7c940af"/>
    <p:sldId xmlns:r="http://schemas.openxmlformats.org/officeDocument/2006/relationships" id="259" r:id="Rd30f7db5cb024e3d"/>
    <p:sldId xmlns:r="http://schemas.openxmlformats.org/officeDocument/2006/relationships" id="260" r:id="Rc8ec3b3107b844b8"/>
    <p:sldId xmlns:r="http://schemas.openxmlformats.org/officeDocument/2006/relationships" id="261" r:id="R7ee150dfdf8248ab"/>
    <p:sldId xmlns:r="http://schemas.openxmlformats.org/officeDocument/2006/relationships" id="262" r:id="R768586a20f2c4dd0"/>
    <p:sldId xmlns:r="http://schemas.openxmlformats.org/officeDocument/2006/relationships" id="263" r:id="R6245117a801e41b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cc4c5ad33ca4506" /><Relationship Type="http://schemas.openxmlformats.org/officeDocument/2006/relationships/slideMaster" Target="/ppt/slideMasters/slideMaster1.xml" Id="Rcb6982be26f74924" /><Relationship Type="http://schemas.openxmlformats.org/officeDocument/2006/relationships/notesMaster" Target="/ppt/notesMasters/notesMaster1.xml" Id="Rb7843602ad5f48d4" /><Relationship Type="http://schemas.openxmlformats.org/officeDocument/2006/relationships/presProps" Target="/ppt/presProps.xml" Id="R43e6057f712045fd" /><Relationship Type="http://schemas.openxmlformats.org/officeDocument/2006/relationships/tableStyles" Target="/ppt/tableStyles.xml" Id="R56199bdd7c7842d3" /><Relationship Type="http://schemas.openxmlformats.org/officeDocument/2006/relationships/slide" Target="/ppt/slides/slide1.xml" Id="R4e1a405bffca407e" /><Relationship Type="http://schemas.openxmlformats.org/officeDocument/2006/relationships/slide" Target="/ppt/slides/slide2.xml" Id="Rb2b85c59bdc84374" /><Relationship Type="http://schemas.openxmlformats.org/officeDocument/2006/relationships/slide" Target="/ppt/slides/slide3.xml" Id="R10c9fab4d7c940af" /><Relationship Type="http://schemas.openxmlformats.org/officeDocument/2006/relationships/slide" Target="/ppt/slides/slide4.xml" Id="Rd30f7db5cb024e3d" /><Relationship Type="http://schemas.openxmlformats.org/officeDocument/2006/relationships/slide" Target="/ppt/slides/slide5.xml" Id="Rc8ec3b3107b844b8" /><Relationship Type="http://schemas.openxmlformats.org/officeDocument/2006/relationships/slide" Target="/ppt/slides/slide6.xml" Id="R7ee150dfdf8248ab" /><Relationship Type="http://schemas.openxmlformats.org/officeDocument/2006/relationships/slide" Target="/ppt/slides/slide7.xml" Id="R768586a20f2c4dd0" /><Relationship Type="http://schemas.openxmlformats.org/officeDocument/2006/relationships/slide" Target="/ppt/slides/slide8.xml" Id="R6245117a801e41b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b286cc3863b4f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8c878ce9741415a" /><Relationship Type="http://schemas.openxmlformats.org/officeDocument/2006/relationships/notesMaster" Target="/ppt/notesMasters/notesMaster1.xml" Id="R6fed83d7aac947e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dfc9a8063724770" /><Relationship Type="http://schemas.openxmlformats.org/officeDocument/2006/relationships/notesMaster" Target="/ppt/notesMasters/notesMaster1.xml" Id="Rf3f07d816c5f48f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833340876854cb3" /><Relationship Type="http://schemas.openxmlformats.org/officeDocument/2006/relationships/notesMaster" Target="/ppt/notesMasters/notesMaster1.xml" Id="R3b306ae450a941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8592a09f33a4862" /><Relationship Type="http://schemas.openxmlformats.org/officeDocument/2006/relationships/notesMaster" Target="/ppt/notesMasters/notesMaster1.xml" Id="Rde93d49fbb09409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46a148538c94e10" /><Relationship Type="http://schemas.openxmlformats.org/officeDocument/2006/relationships/notesMaster" Target="/ppt/notesMasters/notesMaster1.xml" Id="R1baa2039aecd4f2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6d640a9d18b4a3c" /><Relationship Type="http://schemas.openxmlformats.org/officeDocument/2006/relationships/notesMaster" Target="/ppt/notesMasters/notesMaster1.xml" Id="R21c0b69d7dca484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4570c226a7d4a0a" /><Relationship Type="http://schemas.openxmlformats.org/officeDocument/2006/relationships/notesMaster" Target="/ppt/notesMasters/notesMaster1.xml" Id="Racf29eb8d80c41d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74027b819e745b3" /><Relationship Type="http://schemas.openxmlformats.org/officeDocument/2006/relationships/notesMaster" Target="/ppt/notesMasters/notesMaster1.xml" Id="Rb78fb2fcab28482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開場：說明這堂課的實作成果與使用情境。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講師提示：goal；請以學員自己的真實題目示範，不用虛構成果。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講師提示：key；請以學員自己的真實題目示範，不用虛構成果。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講師提示：flow；請以學員自己的真實題目示範，不用虛構成果。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講師提示：prompt；請以學員自己的真實題目示範，不用虛構成果。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講師提示：practice；請以學員自己的真實題目示範，不用虛構成果。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講師提示：deliver；請以學員自己的真實題目示範，不用虛構成果。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講師提示：close；請以學員自己的真實題目示範，不用虛構成果。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使用者提供的 PDF：112年情境族語_01上課用語_33太魯閣語 (1).pdf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7c41a19916473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c8cbbf116cb4619" /><Relationship Type="http://schemas.openxmlformats.org/officeDocument/2006/relationships/slideLayout" Target="/ppt/slideLayouts/slideLayout1.xml" Id="Rbfbb072b0fc343d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bb072b0fc343d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49703e2fa4477c" /><Relationship Type="http://schemas.openxmlformats.org/officeDocument/2006/relationships/notesSlide" Target="/ppt/notesSlides/notesSlide1.xml" Id="R0f58d6b27a3f45a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d8c3b368c444ce" /><Relationship Type="http://schemas.openxmlformats.org/officeDocument/2006/relationships/notesSlide" Target="/ppt/notesSlides/notesSlide2.xml" Id="R5aa1c8fdd1b74b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9c5f8acd324954" /><Relationship Type="http://schemas.openxmlformats.org/officeDocument/2006/relationships/notesSlide" Target="/ppt/notesSlides/notesSlide3.xml" Id="Rc89ba99cd7e143e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c5f02f9934c59" /><Relationship Type="http://schemas.openxmlformats.org/officeDocument/2006/relationships/notesSlide" Target="/ppt/notesSlides/notesSlide4.xml" Id="R197cf6cb516845b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a91d27a9a4f94" /><Relationship Type="http://schemas.openxmlformats.org/officeDocument/2006/relationships/notesSlide" Target="/ppt/notesSlides/notesSlide5.xml" Id="R88c681e6add048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099fa958c34a4e" /><Relationship Type="http://schemas.openxmlformats.org/officeDocument/2006/relationships/notesSlide" Target="/ppt/notesSlides/notesSlide6.xml" Id="R9b97818958a349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1ad1a568104429" /><Relationship Type="http://schemas.openxmlformats.org/officeDocument/2006/relationships/notesSlide" Target="/ppt/notesSlides/notesSlide7.xml" Id="Rc96e8946d21448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6ef5f2cf3a469f" /><Relationship Type="http://schemas.openxmlformats.org/officeDocument/2006/relationships/notesSlide" Target="/ppt/notesSlides/notesSlide8.xml" Id="Ra045670221dd469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A2475-E072-4525-8E35-BF3B46A8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0"/>
            <a:ext cx="3905250" cy="685800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F09322-87FB-422C-9B3B-68A2CE68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147D7E"/>
                </a:solidFill>
              </a:defRPr>
            </a:pPr>
            <a:r>
              <a:rPr sz="1200" b="1">
                <a:solidFill>
                  <a:srgbClr val="147D7E"/>
                </a:solidFill>
              </a:rPr>
              <a:t>第 01 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FBF2A3-9517-4284-95F3-4AFF3482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Gemini Notebook 遊戲化 RPG 簡報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B69B6D-4B03-4A84-B9B0-A533396B5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36273"/>
                </a:solidFill>
              </a:defRPr>
            </a:pPr>
            <a:r>
              <a:rPr sz="1800">
                <a:solidFill>
                  <a:srgbClr val="536273"/>
                </a:solidFill>
              </a:rPr>
              <a:t>把一份教材變成一場可以闖關的學習冒險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2D4F4D-976B-4293-BAED-E0199E15F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47D7E"/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0E66D9-E625-4F71-AF88-9B5B2D519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CC7E9D-93D2-4ED5-A9BD-E9612124C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338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今天的作品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Gemini Notebook 遊戲化 RPG 簡報 v1</a:t>
            </a:r>
          </a:p>
        </p:txBody>
      </p:sp>
    </p:spTree>
    <p:extLst>
      <p:ext uri="{BB962C8B-B14F-4D97-AF65-F5344CB8AC3E}">
        <p14:creationId xmlns:p14="http://schemas.microsoft.com/office/powerpoint/2010/main" val="18253087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7D24CC-BD35-4A41-A1DE-A57A8858C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D15696-DB49-4882-944B-4FAA57FA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學習任務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E2413F-7526-4C4C-A96C-DA760DF8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AAE5E7-AC45-4855-8B4C-C4373E452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33DDFA-78D2-46E8-A267-6527733E2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今天結束時，你要能完成：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3A7AA1-DDEC-4260-90DB-5CF7F5E0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理解為什麼要做遊戲教學與它的好處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ACC031-5B45-40B3-B8E6-27954C0BF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比較 RPG、卡牌、密室、經營與偵探等遊戲形式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9F00CE-7744-4F7F-8F3F-16C7BC59B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用 Gemini Notebook 整理教材並完成 8–12 張 RPG 簡報初版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F6D74E-D6ED-43E9-A32A-5A1B90D2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3714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0AA651-F8FE-43C6-A072-C57037DFC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193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E"/>
                </a:solidFill>
              </a:defRPr>
            </a:pPr>
            <a:r>
              <a:rPr sz="1800" b="1">
                <a:solidFill>
                  <a:srgbClr val="147D7E"/>
                </a:solidFill>
              </a:rPr>
              <a:t>完成標準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E95C05-EDD0-491D-B8CB-35495D04B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38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Gemini Notebook 遊戲化 RPG 簡報 v1</a:t>
            </a:r>
          </a:p>
        </p:txBody>
      </p:sp>
    </p:spTree>
    <p:extLst>
      <p:ext uri="{BB962C8B-B14F-4D97-AF65-F5344CB8AC3E}">
        <p14:creationId xmlns:p14="http://schemas.microsoft.com/office/powerpoint/2010/main" val="3120770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C7A3C37-8D67-435B-A2E7-9EB5EEC3C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06916A6-45FA-4B5D-86D6-5AE1309C1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核心觀念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02B8BF-F509-47B0-A8D2-294B289EA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AC2BC6-DCD6-4E96-905C-E5F9A9D1D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E60DF7-C263-41FE-81A0-37C6315FB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把這堂課記成三個關鍵決定：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10AA03B-310F-4EDC-8955-DD852E166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7D7E">
              <a:alpha val="9412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F4E6A8-C799-41D3-B885-4323744F2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C076D7-4650-4E87-BBC5-DF71665B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RPG 是扮演角色，在任務中學習與成長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67B2AD5-1508-4E58-8418-F7ACDBAD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94860A-5639-485C-836C-EF368E4FA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4BB8D-C221-46F1-8C41-B86A1F8A6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RPG 用角色、任務、關卡、回饋串起學習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323D92-9C73-4F9F-B37F-D1437F93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147D7E">
              <a:alpha val="9412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B78B91-D701-4DD5-8F5F-96AD3E8A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CE7D4A-604B-45C5-B55D-FD460DE33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同一教材也能轉成卡牌、密室、經營或偵探遊戲</a:t>
            </a:r>
          </a:p>
        </p:txBody>
      </p:sp>
    </p:spTree>
    <p:extLst>
      <p:ext uri="{BB962C8B-B14F-4D97-AF65-F5344CB8AC3E}">
        <p14:creationId xmlns:p14="http://schemas.microsoft.com/office/powerpoint/2010/main" val="78227958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7CCDEB-7D7B-4164-ABA5-BDE3FD71B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099476-4B16-472F-888B-1B09CF4A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操作流程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5DED50-2643-4F5D-993F-588D5808F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66CB17-C204-453E-9570-F768AE24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A079E-9895-4D33-9603-CFD7BC6CA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用這條流程，把想法做成可驗收成果：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FE51FA-CDA2-47CA-934F-B9344A437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99E964-8904-4443-89AE-86E3DBF27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49FEC8-9F3A-427C-8C33-BE81221A9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上傳教材 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F7EF88-EF1A-4FBC-97EC-C2E3EE5B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8B7032-50E6-49BF-A58E-7BA637EB7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2F9558-6D4F-4F38-9C93-A4114F773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請 Gemini Notebook 整理資料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6B6284-0387-451C-B53B-8A910C4A1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2136F1-CC16-4BEF-B5F1-D6CF384FB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930D2B-88D8-4DA4-BB07-6E0E153CC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設計角色與關卡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E4B0AE5-D1AB-493A-9759-945536DC2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241D08-80EA-41D1-8E9B-94B6635E8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12DF7A-832C-4F78-B6C4-6966FD4F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生成簡報大綱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CFC5226-D261-4B77-92AB-35A28824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DF0252-0D21-4822-BB1B-73B0ADEC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147D7E"/>
                </a:solidFill>
              </a:defRPr>
            </a:pPr>
            <a:r>
              <a:rPr sz="1050" b="1">
                <a:solidFill>
                  <a:srgbClr val="147D7E"/>
                </a:solidFill>
              </a:rPr>
              <a:t>STEP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453BB4D-3BA2-4B5D-88C8-B644CFF0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人工核對語言內容</a:t>
            </a:r>
          </a:p>
        </p:txBody>
      </p:sp>
    </p:spTree>
    <p:extLst>
      <p:ext uri="{BB962C8B-B14F-4D97-AF65-F5344CB8AC3E}">
        <p14:creationId xmlns:p14="http://schemas.microsoft.com/office/powerpoint/2010/main" val="41185773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88E54B7-9A53-46E1-9C1C-5C0E5A741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FB2C9E-0837-4161-A8FD-755E83C2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可直接使用的提示詞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31AF0-2845-4C20-823E-9098DE80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442DF2-A7ED-4D4B-9243-9DDE642E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D52EBE-6BA8-4EF4-9E6D-B9CD16ED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53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10182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836A4B-B376-48F0-ABEF-7BFFF6C0E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FFFFF"/>
                </a:solidFill>
              </a:defRPr>
            </a:pPr>
            <a:r>
              <a:rPr sz="1725">
                <a:solidFill>
                  <a:srgbClr val="FFFFFF"/>
                </a:solidFill>
              </a:rPr>
              <a:t>請根據我上傳的教材，設計 RPG 世界觀、玩家角色、3 個關卡、挑戰、回饋與獎勵。只能使用來源中確認的語言資料，不可自行猜測。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6DACCA-D707-4CEB-949E-C623E2A36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147D7E"/>
                </a:solidFill>
              </a:defRPr>
            </a:pPr>
            <a:r>
              <a:rPr sz="1500" b="1">
                <a:solidFill>
                  <a:srgbClr val="147D7E"/>
                </a:solidFill>
              </a:rPr>
              <a:t>使用原則：先上傳／準備真實資料，再要求 AI 生成；產出後人工檢查。</a:t>
            </a:r>
          </a:p>
        </p:txBody>
      </p:sp>
    </p:spTree>
    <p:extLst>
      <p:ext uri="{BB962C8B-B14F-4D97-AF65-F5344CB8AC3E}">
        <p14:creationId xmlns:p14="http://schemas.microsoft.com/office/powerpoint/2010/main" val="184187538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1FBF76-F8E7-4A44-B2A8-E9439CDA5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28C5D2-61BA-4395-8AB4-F9F2C6DDB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課堂實作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95EA55-B1A1-4282-A20A-301C40E8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493AE6-3FB0-44B7-BC5E-242F68737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F9866F-12A4-44DD-870E-5CFFC9662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請在課堂完成這個最小可行版本：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2FFE78-A05F-4ABB-B7DA-8FC155132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85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AF6B1A-5B67-4975-89CE-5E1048121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以「112年情境族語｜01上課用語｜太魯閣語」為案例，將對話練習、單詞練習與互動測驗轉成 3 個 RPG 關卡。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102A6F-65D6-44B1-A3AE-C19BA200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143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47D7E">
              <a:alpha val="13333"/>
            </a:srgbClr>
          </a:solidFill>
          <a:ln xmlns:a="http://schemas.openxmlformats.org/drawingml/2006/main" w="9525">
            <a:solidFill>
              <a:srgbClr val="147D7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2B313B-5677-473E-A974-F68D004F3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147D7E"/>
                </a:solidFill>
              </a:defRPr>
            </a:pPr>
            <a:r>
              <a:rPr sz="1800" b="1">
                <a:solidFill>
                  <a:srgbClr val="147D7E"/>
                </a:solidFill>
              </a:rPr>
              <a:t>講師檢查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DC37633-B6DF-4B20-9109-099CB1FD1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3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B43855-119E-49AC-8516-545C8B3A7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有輸入與輸出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36CCBA-8E36-4A9A-948D-AB2B9559B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能說明限制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550A52-4DE3-497F-B48B-26D40184B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留下版本紀錄</a:t>
            </a:r>
          </a:p>
        </p:txBody>
      </p:sp>
    </p:spTree>
    <p:extLst>
      <p:ext uri="{BB962C8B-B14F-4D97-AF65-F5344CB8AC3E}">
        <p14:creationId xmlns:p14="http://schemas.microsoft.com/office/powerpoint/2010/main" val="4618032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39AFE7-CF8E-423E-A6D8-7211B0CC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36A23A-9414-489C-8C92-965719B83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交付規格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0C7981-D330-4181-920E-34870D8F9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236F1D-4481-4E53-89B4-C47F72D23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5F489B-68AF-48A8-A936-848A35E99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作品包必須讓另一個人接手後也看得懂。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1C5EFE-90F0-46A7-8C67-ED8570D9B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47D7E"/>
                </a:solidFill>
              </a:defRPr>
            </a:pPr>
            <a:r>
              <a:rPr sz="1650" b="1">
                <a:solidFill>
                  <a:srgbClr val="147D7E"/>
                </a:solidFill>
              </a:rPr>
              <a:t>01｜成果檔案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BD5665-2E1B-43EC-BF80-6BD8A36E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3CFF1D-380C-4EAF-93FF-6862537C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13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02｜提示詞或程式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F6C3CE-067E-476B-8B98-C0ADF7C4D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523F1A2-B2D4-41EF-A8FA-0E8F69F11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03｜輸入資料與來源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41288F-3665-498B-A4DB-AA3D02577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3B9DFE-F674-4242-B177-C739A5F9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814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04｜測試／人工檢查紀錄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2750AB-131A-48D6-ADCE-216ED8C35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624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EACDDE-3434-4D03-B933-3A998E97A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05｜操作說明與下一步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95B2E4-6F9F-43E5-8919-6FA6637C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64809052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71A354-429F-45CB-9DC5-BE98328D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47D7E"/>
                </a:solidFill>
              </a:defRPr>
            </a:pPr>
            <a:r>
              <a:rPr sz="975" b="1">
                <a:solidFill>
                  <a:srgbClr val="147D7E"/>
                </a:solidFill>
              </a:rPr>
              <a:t>AI 工具實戰進階班 / 第 01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008CCE-B68B-4989-997F-98CDAD68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課程總結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EF6C215-7F87-4FD5-BD25-FCF685E82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7371D9-690B-4043-8C16-F9F96AE1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6C79BB-F31A-4495-A9D2-D7596210C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10477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遊戲化簡報的核心，是把教材變成一條學習路徑。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1937C-1CF3-4DFF-9554-DF39C3F52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1937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227B20-C0B5-4F51-888C-7BE7F3710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61937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先定義學習目標，再選遊戲形式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B3DE95-48C8-4CFE-8A34-A48DD90E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19425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9276DC-0F8B-45E7-A0D1-C49AD66E7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2385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E39843-810D-4711-B821-951C7C66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23850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用任務與關卡承載真正的教材內容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8ED50AB-071C-4196-926E-E303009E5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638550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08E668-70F5-4C3C-BC13-592ECF474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57625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4FB93C-3059-4B63-B6EC-30346AFCD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57625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用回饋、重試與成長讓學習看得見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1853CBD-2BF7-42E2-AE17-F9A5083AA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257675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1E0D65-CFDE-4D96-B378-354453A02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04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BFFFD-C02C-41EF-889A-159567D2F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476750"/>
            <a:ext cx="914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最後用簡報說清楚規則、流程與學習證據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9E267A-70EB-46D7-B525-D3950565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76800"/>
            <a:ext cx="9048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28E29-A887-462F-AA13-8EC818655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47D7E"/>
                </a:solidFill>
              </a:defRPr>
            </a:pPr>
            <a:r>
              <a:rPr sz="1575" b="1">
                <a:solidFill>
                  <a:srgbClr val="147D7E"/>
                </a:solidFill>
              </a:rPr>
              <a:t>今天的產出：一份有來源、有規則、能實際進行的遊戲化 RPG 簡報。</a:t>
            </a:r>
          </a:p>
        </p:txBody>
      </p:sp>
    </p:spTree>
    <p:extLst>
      <p:ext uri="{BB962C8B-B14F-4D97-AF65-F5344CB8AC3E}">
        <p14:creationId xmlns:p14="http://schemas.microsoft.com/office/powerpoint/2010/main" val="17419300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2026-08-18T09:01:34.8480000Z</dcterms:created>
  <dcterms:modified xsi:type="dcterms:W3CDTF">2026-08-18T09:01:34.8480000Z</dcterms:modified>
</coreProperties>
</file>