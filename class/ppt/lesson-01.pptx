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7e2a4194964c7d" /><Relationship Type="http://schemas.openxmlformats.org/officeDocument/2006/relationships/extended-properties" Target="/docProps/app.xml" Id="R867672adf1c04186" /><Relationship Type="http://schemas.openxmlformats.org/officeDocument/2006/relationships/officeDocument" Target="/ppt/presentation.xml" Id="Rf2a0800630464b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87d07faa824a56"/>
  </p:sldMasterIdLst>
  <p:notesMasterIdLst>
    <p:notesMasterId xmlns:r="http://schemas.openxmlformats.org/officeDocument/2006/relationships" r:id="R32e7b4428bf3450f"/>
  </p:notesMasterIdLst>
  <p:sldIdLst>
    <p:sldId xmlns:r="http://schemas.openxmlformats.org/officeDocument/2006/relationships" id="256" r:id="R7f0b3441e12b494c"/>
    <p:sldId xmlns:r="http://schemas.openxmlformats.org/officeDocument/2006/relationships" id="257" r:id="R76de3d66abf84075"/>
    <p:sldId xmlns:r="http://schemas.openxmlformats.org/officeDocument/2006/relationships" id="258" r:id="R4b53ffd9bd7e463a"/>
    <p:sldId xmlns:r="http://schemas.openxmlformats.org/officeDocument/2006/relationships" id="259" r:id="Re874ee63b77046ba"/>
    <p:sldId xmlns:r="http://schemas.openxmlformats.org/officeDocument/2006/relationships" id="260" r:id="R0723a7ffb3e74635"/>
    <p:sldId xmlns:r="http://schemas.openxmlformats.org/officeDocument/2006/relationships" id="261" r:id="Reff6ce7dad264eda"/>
    <p:sldId xmlns:r="http://schemas.openxmlformats.org/officeDocument/2006/relationships" id="262" r:id="Rdd0245199c3542ea"/>
    <p:sldId xmlns:r="http://schemas.openxmlformats.org/officeDocument/2006/relationships" id="263" r:id="Rfa913e6173624682"/>
    <p:sldId xmlns:r="http://schemas.openxmlformats.org/officeDocument/2006/relationships" id="264" r:id="R1ad2be930ce8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23444eaae49b2" /><Relationship Type="http://schemas.openxmlformats.org/officeDocument/2006/relationships/slideMaster" Target="/ppt/slideMasters/slideMaster1.xml" Id="R7187d07faa824a56" /><Relationship Type="http://schemas.openxmlformats.org/officeDocument/2006/relationships/notesMaster" Target="/ppt/notesMasters/notesMaster1.xml" Id="R32e7b4428bf3450f" /><Relationship Type="http://schemas.openxmlformats.org/officeDocument/2006/relationships/presProps" Target="/ppt/presProps.xml" Id="R5b3cfbc6dc5e4842" /><Relationship Type="http://schemas.openxmlformats.org/officeDocument/2006/relationships/tableStyles" Target="/ppt/tableStyles.xml" Id="R43fae7beddfb4d54" /><Relationship Type="http://schemas.openxmlformats.org/officeDocument/2006/relationships/slide" Target="/ppt/slides/slide1.xml" Id="R7f0b3441e12b494c" /><Relationship Type="http://schemas.openxmlformats.org/officeDocument/2006/relationships/slide" Target="/ppt/slides/slide2.xml" Id="R76de3d66abf84075" /><Relationship Type="http://schemas.openxmlformats.org/officeDocument/2006/relationships/slide" Target="/ppt/slides/slide3.xml" Id="R4b53ffd9bd7e463a" /><Relationship Type="http://schemas.openxmlformats.org/officeDocument/2006/relationships/slide" Target="/ppt/slides/slide4.xml" Id="Re874ee63b77046ba" /><Relationship Type="http://schemas.openxmlformats.org/officeDocument/2006/relationships/slide" Target="/ppt/slides/slide5.xml" Id="R0723a7ffb3e74635" /><Relationship Type="http://schemas.openxmlformats.org/officeDocument/2006/relationships/slide" Target="/ppt/slides/slide6.xml" Id="Reff6ce7dad264eda" /><Relationship Type="http://schemas.openxmlformats.org/officeDocument/2006/relationships/slide" Target="/ppt/slides/slide7.xml" Id="Rdd0245199c3542ea" /><Relationship Type="http://schemas.openxmlformats.org/officeDocument/2006/relationships/slide" Target="/ppt/slides/slide8.xml" Id="Rfa913e6173624682" /><Relationship Type="http://schemas.openxmlformats.org/officeDocument/2006/relationships/slide" Target="/ppt/slides/slide9.xml" Id="R1ad2be930ce8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699d41a1549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80bb7105f4cf1" /><Relationship Type="http://schemas.openxmlformats.org/officeDocument/2006/relationships/notesMaster" Target="/ppt/notesMasters/notesMaster1.xml" Id="Rb1ef0e941857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2ffa57d1654c1c" /><Relationship Type="http://schemas.openxmlformats.org/officeDocument/2006/relationships/notesMaster" Target="/ppt/notesMasters/notesMaster1.xml" Id="R221a825b096248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1c82e284a4c72" /><Relationship Type="http://schemas.openxmlformats.org/officeDocument/2006/relationships/notesMaster" Target="/ppt/notesMasters/notesMaster1.xml" Id="Rbf29fb552a0f4c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11577121034bdb" /><Relationship Type="http://schemas.openxmlformats.org/officeDocument/2006/relationships/notesMaster" Target="/ppt/notesMasters/notesMaster1.xml" Id="R6b24dbc535e648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cec60230a4983" /><Relationship Type="http://schemas.openxmlformats.org/officeDocument/2006/relationships/notesMaster" Target="/ppt/notesMasters/notesMaster1.xml" Id="Rc7649c16ff9049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d6b99087d14507" /><Relationship Type="http://schemas.openxmlformats.org/officeDocument/2006/relationships/notesMaster" Target="/ppt/notesMasters/notesMaster1.xml" Id="R6d9df7ab324d4a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72d4aca7984daf" /><Relationship Type="http://schemas.openxmlformats.org/officeDocument/2006/relationships/notesMaster" Target="/ppt/notesMasters/notesMaster1.xml" Id="R10dd09adca694a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f5177fc1a04678" /><Relationship Type="http://schemas.openxmlformats.org/officeDocument/2006/relationships/notesMaster" Target="/ppt/notesMasters/notesMaster1.xml" Id="R6c9e63490e2b4d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ff968c3d5446ab" /><Relationship Type="http://schemas.openxmlformats.org/officeDocument/2006/relationships/notesMaster" Target="/ppt/notesMasters/notesMaster1.xml" Id="R74ce81c1392b4a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講師提示：quiz；請以學員自己的真實題目示範，不用虛構成果。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使用者提供的 PDF：112年情境族語_01上課用語_33太魯閣語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bb855035647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871fbb7f3b4d7a" /><Relationship Type="http://schemas.openxmlformats.org/officeDocument/2006/relationships/slideLayout" Target="/ppt/slideLayouts/slideLayout1.xml" Id="R59896153db6143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96153db6143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c98330fbf428e" /><Relationship Type="http://schemas.openxmlformats.org/officeDocument/2006/relationships/notesSlide" Target="/ppt/notesSlides/notesSlide1.xml" Id="Rde79560ac3f2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1eb55f8f34b3f" /><Relationship Type="http://schemas.openxmlformats.org/officeDocument/2006/relationships/notesSlide" Target="/ppt/notesSlides/notesSlide2.xml" Id="R96976bbb847743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a26d31c3444b8" /><Relationship Type="http://schemas.openxmlformats.org/officeDocument/2006/relationships/notesSlide" Target="/ppt/notesSlides/notesSlide3.xml" Id="R440d2b6a43a94a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62e33245e4328" /><Relationship Type="http://schemas.openxmlformats.org/officeDocument/2006/relationships/notesSlide" Target="/ppt/notesSlides/notesSlide4.xml" Id="Raa4db3605d334f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30ebabe6043a9" /><Relationship Type="http://schemas.openxmlformats.org/officeDocument/2006/relationships/notesSlide" Target="/ppt/notesSlides/notesSlide5.xml" Id="R5fb0ab9140fc47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e6e7ea9a84d09" /><Relationship Type="http://schemas.openxmlformats.org/officeDocument/2006/relationships/notesSlide" Target="/ppt/notesSlides/notesSlide6.xml" Id="R189b697e57f94e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57b149c6499a" /><Relationship Type="http://schemas.openxmlformats.org/officeDocument/2006/relationships/notesSlide" Target="/ppt/notesSlides/notesSlide7.xml" Id="Rb9626a92c57e41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c40a57f2041c7" /><Relationship Type="http://schemas.openxmlformats.org/officeDocument/2006/relationships/notesSlide" Target="/ppt/notesSlides/notesSlide8.xml" Id="Rf6dafd65d68c45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53c65f9a14257" /><Relationship Type="http://schemas.openxmlformats.org/officeDocument/2006/relationships/notesSlide" Target="/ppt/notesSlides/notesSlide9.xml" Id="R69d473c9db5c45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786B8-03F1-468B-85E0-99796E75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32482-C60C-4C2B-9F9F-7102BE02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E"/>
                </a:solidFill>
              </a:defRPr>
            </a:pPr>
            <a:r>
              <a:rPr sz="1200" b="1">
                <a:solidFill>
                  <a:srgbClr val="147D7E"/>
                </a:solidFill>
              </a:rPr>
              <a:t>第 01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75F53-9F80-46B9-B918-A2EB55DE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Gemini Notebook 遊戲化 RPG 簡報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F7ADC-A101-426C-9D21-72456C3B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把一份教材變成一場可以闖關的學習冒險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72F92-103B-4BA7-AD50-9D7BD540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D05F9-6317-41A8-9EF0-EB5FF472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37048-5628-4F50-A077-36DE4E65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Gemini Notebook 遊戲化 RPG 簡報 v1</a:t>
            </a:r>
          </a:p>
        </p:txBody>
      </p:sp>
    </p:spTree>
    <p:extLst>
      <p:ext uri="{BB962C8B-B14F-4D97-AF65-F5344CB8AC3E}">
        <p14:creationId xmlns:p14="http://schemas.microsoft.com/office/powerpoint/2010/main" val="1617892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CF38F-10A7-4F04-A9A1-3E422A9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345E2-2AC1-4654-8ACE-BDC3298B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57853-85B7-4BA5-B9DF-CDF233A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0DD67-52D0-4A30-A8BC-6FD96329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513AF-23E2-43A9-A1B5-249B08C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49DE7-CE4F-4BE0-A1D1-F422190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理解為什麼要做遊戲教學與它的好處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4582D-6052-4962-946C-629D449F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比較 RPG、卡牌、密室、經營與偵探等遊戲形式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F893A-16CA-41AA-A239-ABB136AC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 Gemini Notebook 整理教材並完成 8–12 張 RPG 簡報初版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E2215-EF12-4444-9EF4-93473B96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09FB3-11D0-4B1D-BF60-15427A53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E"/>
                </a:solidFill>
              </a:defRPr>
            </a:pPr>
            <a:r>
              <a:rPr sz="1800" b="1">
                <a:solidFill>
                  <a:srgbClr val="147D7E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5B73B-8098-4BB9-B9BD-A9614CF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Gemini Notebook 遊戲化 RPG 簡報 v1</a:t>
            </a:r>
          </a:p>
        </p:txBody>
      </p:sp>
    </p:spTree>
    <p:extLst>
      <p:ext uri="{BB962C8B-B14F-4D97-AF65-F5344CB8AC3E}">
        <p14:creationId xmlns:p14="http://schemas.microsoft.com/office/powerpoint/2010/main" val="1666940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2B09D-95BD-49C8-840A-3FC76DA6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A7393-8E58-45B6-AFEA-05D4B388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互動問答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F4A4E-1463-490F-96F4-61450EFC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D43C9-51C5-4EBC-B4FB-A876E859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59B99-00D5-4CD9-B6A8-99D801FD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不用有遊戲經驗，憑直覺選一個就好！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27289-5100-41C5-B682-D13E45FE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7D7E">
              <a:alpha val="784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F33EC-D54D-4C95-8FEE-DCF41D34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E"/>
                </a:solidFill>
              </a:defRPr>
            </a:pPr>
            <a:r>
              <a:rPr sz="1275" b="1">
                <a:solidFill>
                  <a:srgbClr val="147D7E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CEC2E-1CA8-4CE5-9367-7A64989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145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如果教室出現神秘寶箱，你會先找線索、問 NPC，還是直接試開？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69617-C322-4870-8F44-C154ACDC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17915-F045-4F05-B8F5-988A09E1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E"/>
                </a:solidFill>
              </a:defRPr>
            </a:pPr>
            <a:r>
              <a:rPr sz="1275" b="1">
                <a:solidFill>
                  <a:srgbClr val="147D7E"/>
                </a:solidFill>
              </a:rPr>
              <a:t>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B90DE-8ABD-4ED7-B087-9518E82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哪一種最像你的學習超能力：觀察、記憶、合作、勇敢試錯？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F293D-94B9-4750-A365-50C1C858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7D7E">
              <a:alpha val="784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E529B-77F3-49EE-9877-81BFF37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052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E"/>
                </a:solidFill>
              </a:defRPr>
            </a:pPr>
            <a:r>
              <a:rPr sz="1275" b="1">
                <a:solidFill>
                  <a:srgbClr val="147D7E"/>
                </a:solidFill>
              </a:rPr>
              <a:t>Q3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1E86A-DE4C-4F83-9C20-C06BE630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861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把「遲到進教室」變成遊戲，你覺得玩家第一個任務是什麼？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0F21A-E1A4-45D7-ABCE-9717B4C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C9B49-F5E0-4647-923E-7436029A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910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E"/>
                </a:solidFill>
              </a:defRPr>
            </a:pPr>
            <a:r>
              <a:rPr sz="1275" b="1">
                <a:solidFill>
                  <a:srgbClr val="147D7E"/>
                </a:solidFill>
              </a:rPr>
              <a:t>Q4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83CB0-5D20-4EE3-9B37-11633725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719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你覺得答錯時，哪種回饋最想收到：提示、重試、隊友幫忙？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46C2C-A38C-45BE-B5C2-8371DFF5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7D7E">
              <a:alpha val="784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8E1D0-B966-4A5B-9F3B-D366344B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768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7E"/>
                </a:solidFill>
              </a:defRPr>
            </a:pPr>
            <a:r>
              <a:rPr sz="1275" b="1">
                <a:solidFill>
                  <a:srgbClr val="147D7E"/>
                </a:solidFill>
              </a:rPr>
              <a:t>Q5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D922B-CB96-4ABB-A25E-3DC797B9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5777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如果不用 RPG，同一份教材還能變成哪一種可愛小遊戲？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A9824-585F-4A16-8294-A361D8DF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E"/>
                </a:solidFill>
              </a:defRPr>
            </a:pPr>
            <a:r>
              <a:rPr sz="1350" b="1">
                <a:solidFill>
                  <a:srgbClr val="147D7E"/>
                </a:solidFill>
              </a:rPr>
              <a:t>玩法：舉手、貼便利貼，或和旁邊的人交換答案。沒有標準答案，重點是說出你的理由！</a:t>
            </a:r>
          </a:p>
        </p:txBody>
      </p:sp>
    </p:spTree>
    <p:extLst>
      <p:ext uri="{BB962C8B-B14F-4D97-AF65-F5344CB8AC3E}">
        <p14:creationId xmlns:p14="http://schemas.microsoft.com/office/powerpoint/2010/main" val="1027459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81FD2-6E00-4E7A-BB05-35F70C4A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B568A-DC29-4467-998E-198E8F52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A0F83-6751-4330-8983-9F4FA45C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31995-F99A-4CC3-A717-CFB5E0DB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4BBFE-196C-46F9-A388-1BCED9C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5A491-A2B0-4BDC-9E3D-098BCDB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48B48-8733-43A9-91F3-2146139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E0859-5126-4133-A74E-B4CE1EA8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RPG 是扮演角色，在任務中學習與成長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42AFA-98FA-4920-A538-62AA742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ED681-DD8C-41C9-AEE4-43E76D31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EA81B-82C3-470F-B453-541E434F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RPG 用角色、任務、關卡、回饋串起學習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0C870-75F1-4D54-A271-9F23F7A2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B4D4D-9129-4BC4-8241-9DD68009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8C9B9-0BC4-427D-8040-CD2B42E9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同一教材也能轉成卡牌、密室、經營或偵探遊戲</a:t>
            </a:r>
          </a:p>
        </p:txBody>
      </p:sp>
    </p:spTree>
    <p:extLst>
      <p:ext uri="{BB962C8B-B14F-4D97-AF65-F5344CB8AC3E}">
        <p14:creationId xmlns:p14="http://schemas.microsoft.com/office/powerpoint/2010/main" val="607849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3AFEB-BB3A-4E22-B8FF-992766F4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EB323-E1F9-43F4-85BF-E7476AE6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247B8-B334-4E2A-B069-458F2285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1E520-33D1-4949-8387-BD85C858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752ED-BD0E-4F07-B09B-5A09BDF5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DE126-C830-4959-AB6A-11AC8F91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866E8-5066-48B5-8950-EB6475FE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C705E-FCC1-4211-AFD6-35C7CCB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上傳教材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C1C79-B5B7-46F3-80D4-DF9F7187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52B8D-6266-46F9-90D1-98E1C3E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67CBA-110F-4192-86F9-430F8183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請 Gemini Notebook 整理資料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6DB2A-18B1-4D46-AC7F-EB99A0D2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3F371-70B5-47A0-AD41-700E148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C4DAD-3F77-4C0B-B988-387653E8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設計角色與關卡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9256D-5FA0-459A-A942-DBDEDBD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000AD-D0F6-43A8-BFDB-333B22FD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95300-14E3-470C-8719-39FB0103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生成簡報大綱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0BD77-05E8-4A1C-9BF3-CEEE7C60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A1D79-A524-45B2-994D-FDD12D59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576A7-310F-4777-AB1C-18700ABB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人工核對語言內容</a:t>
            </a:r>
          </a:p>
        </p:txBody>
      </p:sp>
    </p:spTree>
    <p:extLst>
      <p:ext uri="{BB962C8B-B14F-4D97-AF65-F5344CB8AC3E}">
        <p14:creationId xmlns:p14="http://schemas.microsoft.com/office/powerpoint/2010/main" val="422321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26ED3-51AB-4BDB-B84C-29D6F33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BF1DF-1323-4376-8DFD-E3802FF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D5AFE-1676-43DC-BC4E-21AFC8B8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47E7-4EBA-4197-8F8B-416F114A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FA59B-534A-4B1B-B855-FCE1648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D3C00-CB69-4F5F-8216-BEA7676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請根據我上傳的教材，設計 RPG 世界觀、玩家角色、3 個關卡、挑戰、回饋與獎勵。只能使用來源中確認的語言資料，不可自行猜測。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C5E85-2A4D-451D-917B-2C84DC7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E"/>
                </a:solidFill>
              </a:defRPr>
            </a:pPr>
            <a:r>
              <a:rPr sz="1500" b="1">
                <a:solidFill>
                  <a:srgbClr val="147D7E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152096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1E943-1149-47D7-8CCE-48CE35A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473BC-16BF-44E5-ADF3-7634AD10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8276D-8EDE-47EB-97B4-F227B43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ADA40-0961-410E-911B-F092151E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E575B-1465-432B-95A9-A21AA972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7DBC2-DE07-4D80-B11D-0832748C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C9D54-8D54-4F40-99CF-5A3D708F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以「112年情境族語｜01上課用語｜太魯閣語」為案例，將對話練習、單詞練習與互動測驗轉成 3 個 RPG 關卡。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85B21-E23E-404C-8616-983CA23E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28821-5B79-4FBE-8722-F1B2BC4A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E"/>
                </a:solidFill>
              </a:defRPr>
            </a:pPr>
            <a:r>
              <a:rPr sz="1800" b="1">
                <a:solidFill>
                  <a:srgbClr val="147D7E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99D90-73AB-4393-A930-26ABA6C4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C0D98-7A9E-4352-9A41-CDF28DF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984BB-9B37-4B9F-8684-E43A9591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B3789-3062-4832-86BC-D4633A3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720136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FDD0E-2D7C-42DD-B6AD-8A6A439E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CC26F-6074-44DD-BC19-0C32ABD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1BEC9-BC98-4D75-AE82-D24129DE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0F499-B2BA-4BA7-ABA1-91186A6D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0E272-37EE-4112-B88E-D844FD40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BB4E9-79D6-4B72-8307-CB411252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E"/>
                </a:solidFill>
              </a:defRPr>
            </a:pPr>
            <a:r>
              <a:rPr sz="1650" b="1">
                <a:solidFill>
                  <a:srgbClr val="147D7E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7493F-FE2B-4B2C-8124-3B62FBF9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0A71B-60B1-4212-9C27-05671EF3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34033-8267-469B-89F0-D3399DBB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98318-5232-467E-991C-127C4A81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DEFD3-5F6C-4CF3-9EFE-6CA2E32E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996DE-E38C-4C44-B9AD-F87CDC3C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42615-0FDA-476B-8E9C-FE5AD2C2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B981E-B3F0-48C9-BDEC-ECDFA26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334BC-F1EF-449A-9EB2-D2F9F47E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0520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97384-535E-4AAC-AE57-730A99AF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5ECCE-397E-4896-888B-7E12C46D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93896-98AB-444C-B65B-85250AB9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33800-0FE3-4281-8A26-3A3F862D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FBE6D-C302-4CB0-B41B-9BEDA496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遊戲化簡報的核心，是把教材變成一條學習路徑。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54363-4FC4-40D5-97BF-6E268131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39FA6-90FC-4F50-871E-8C94DBF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先定義學習目標，再選遊戲形式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5CEB0-343C-4F8F-8DD3-7C1EF8A2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266DC-EA4D-4BF7-B1B2-75449EDB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B8BAA-9019-4ADD-81B3-74DE412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用任務與關卡承載真正的教材內容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2AC9C-70BB-4F47-A35F-2EB36966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C34DF-73BB-4101-AE9B-EAB65B6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E0B88-E539-4FF3-9329-17ACD5C3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用回饋、重試與成長讓學習看得見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78B87-F344-47D0-82C3-917972D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3DB98-DE1C-48CF-87FE-BE3BE9D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F9562-B190-4D11-829F-98C4818F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最後用簡報說清楚規則、流程與學習證據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B4EEA-15E9-4D14-A247-75CA5104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A3D8C-D1C1-47E7-B7D0-A92C270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今天的產出：一份有來源、有規則、能實際進行的遊戲化 RPG 簡報。</a:t>
            </a:r>
          </a:p>
        </p:txBody>
      </p:sp>
    </p:spTree>
    <p:extLst>
      <p:ext uri="{BB962C8B-B14F-4D97-AF65-F5344CB8AC3E}">
        <p14:creationId xmlns:p14="http://schemas.microsoft.com/office/powerpoint/2010/main" val="573615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2026-08-18T09:15:47.8820000Z</dcterms:created>
  <dcterms:modified xsi:type="dcterms:W3CDTF">2026-08-18T09:15:47.8820000Z</dcterms:modified>
</coreProperties>
</file>