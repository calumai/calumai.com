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75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91" r:id="rId30"/>
    <p:sldId id="392" r:id="rId31"/>
    <p:sldId id="396" r:id="rId32"/>
    <p:sldId id="330" r:id="rId33"/>
    <p:sldId id="397" r:id="rId34"/>
    <p:sldId id="401" r:id="rId35"/>
    <p:sldId id="402" r:id="rId36"/>
    <p:sldId id="400" r:id="rId37"/>
    <p:sldId id="335" r:id="rId38"/>
    <p:sldId id="336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74" r:id="rId47"/>
    <p:sldId id="369" r:id="rId48"/>
    <p:sldId id="370" r:id="rId49"/>
    <p:sldId id="371" r:id="rId50"/>
    <p:sldId id="372" r:id="rId51"/>
    <p:sldId id="383" r:id="rId52"/>
    <p:sldId id="384" r:id="rId53"/>
    <p:sldId id="385" r:id="rId54"/>
    <p:sldId id="386" r:id="rId55"/>
    <p:sldId id="387" r:id="rId56"/>
    <p:sldId id="388" r:id="rId57"/>
    <p:sldId id="389" r:id="rId5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EEF7-0A87-486B-BF13-412844A357A9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1CF6B-B397-4C39-AE52-DC9BDC78C7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39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開場先讓大家放心：今天不是程式設計考試，也不要求大家背語法。這堂課要練習的是，如何把教學想法說清楚，再請 AI 協助做出可以操作的數位教材。</a:t>
            </a:r>
          </a:p>
          <a:p>
            <a:r>
              <a:rPr lang="zh-TW"/>
              <a:t>可以請學員先想一個自己一直想做、但過去覺得技術門檻太高的教材。今天會用 Vibe Coding 的概念，讓這個想法往第一個版本前進。</a:t>
            </a:r>
          </a:p>
          <a:p>
            <a:r>
              <a:rPr lang="zh-TW"/>
              <a:t>轉場：先從最簡單的一句話，理解什麼是 Vibe Coding。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Vibe Coding 可以先理解成：用自然語言告訴 AI 我想做什麼，再一起把它變成程式。重點不是「氛圍」這個翻譯，而是人可以用日常語言描述需求。</a:t>
            </a:r>
          </a:p>
          <a:p>
            <a:r>
              <a:rPr lang="zh-TW"/>
              <a:t>以前人必須先學會程式語言，才能把指令寫給電腦看；現在 AI 可以做中間的翻譯。不過產出的結果仍需要人測試、判斷與修改。</a:t>
            </a:r>
          </a:p>
          <a:p>
            <a:r>
              <a:rPr lang="zh-TW"/>
              <a:t>請大家記住一句話：用說的，把腦袋裡的想法慢慢做成程式。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以前做網站，通常要先遇到 HTML、CSS、JavaScript、資料庫和伺服器等技術名詞。對初學者來說，常常還沒看到成果，就先被工具和語法嚇退。</a:t>
            </a:r>
          </a:p>
          <a:p>
            <a:r>
              <a:rPr lang="zh-TW"/>
              <a:t>現在可以先描述一個具體的族語配對遊戲：誰使用、幾個選項、答對答錯怎麼回饋、是否顯示題數，以及手機能不能操作。AI 可以先做出 prototype，也就是可操作、可測試的第一版。</a:t>
            </a:r>
          </a:p>
          <a:p>
            <a:r>
              <a:rPr lang="zh-TW"/>
              <a:t>強調：不是技術不重要，而是學習順序可以反過來，先有作品再逐步理解。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Vibe Coding 不是完全不用懂程式，而是把「先學很久才做作品」改成「先做、測試、修改，再慢慢理解」。這五個步驟可以反覆循環，不是只走一次。</a:t>
            </a:r>
          </a:p>
          <a:p>
            <a:r>
              <a:rPr lang="zh-TW"/>
              <a:t>這堂課的目標不是培養工程師，而是讓大家能判斷問題屬於畫面、功能還是資料，並且能把問題描述清楚。</a:t>
            </a:r>
          </a:p>
          <a:p>
            <a:r>
              <a:rPr lang="zh-TW"/>
              <a:t>可以問學員：如果按鈕太小、按了沒反應、題目內容錯誤，這三種問題有什麼不同？下一頁會用導演的比喻說明人的角色。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可以把 Vibe Coding 想成拍電影。以前做程式像一個人包辦導演、攝影、燈光與剪接；現在 AI 可以協助大量執行工作，而老師更像導演。</a:t>
            </a:r>
          </a:p>
          <a:p>
            <a:r>
              <a:rPr lang="zh-TW"/>
              <a:t>導演必須能說清楚：希望達到什麼效果、哪裡不好、誰會看不懂、難度是否適合。這些判斷不能交給 AI 自己猜。</a:t>
            </a:r>
          </a:p>
          <a:p>
            <a:r>
              <a:rPr lang="zh-TW"/>
              <a:t>Vibe Coding 這個詞在 2025 年受到廣泛討論，但真正值得學的不是流行名詞，而是「人決定方向與品質，AI 協助實作」的分工方式。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Vibe Coding 變熱門，可以從四個變化理解。第一，能用人話描述需求；第二，很快看見第一版；第三，老師能把時間放回教材與學生；第四，修改和嘗試的成本降低。</a:t>
            </a:r>
          </a:p>
          <a:p>
            <a:r>
              <a:rPr lang="zh-TW"/>
              <a:t>請注意「快」不是等於一次完成，而是能更快進入看見成果、發現問題、再修改的循環。對老師而言，最大的價值是把時間放在活動是否有效、提示是否恰當、難度是否合適。</a:t>
            </a:r>
          </a:p>
          <a:p>
            <a:r>
              <a:rPr lang="zh-TW"/>
              <a:t>轉場：工具很多，但不需要全部一起學，可以分級開始。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工具可以分成三個階段。第一階段先用聊天式 AI 練習需求描述；第二階段開始認識 HTML、CSS、JavaScript 的分工；第三階段才進入能讀取整個專案、修改多個檔案的 Coding Agent。</a:t>
            </a:r>
          </a:p>
          <a:p>
            <a:r>
              <a:rPr lang="zh-TW"/>
              <a:t>不要把工具名稱當成課程重點，因為工具會更新。真正不容易過時的能力是：說清楚需求、看懂基本結構、測試結果，以及管理專案範圍。</a:t>
            </a:r>
          </a:p>
          <a:p>
            <a:r>
              <a:rPr lang="zh-TW"/>
              <a:t>建議學員先選一個目前能取得、操作順手的工具，不需要因為別人使用不同平台而焦慮。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族語教材可以從小而明確的活動開始，例如看圖選詞、聽音找圖、句子排序或情境會話。先完成一個題型，再逐步串成闖關、密室逃脫或 QR Code 教材站。</a:t>
            </a:r>
          </a:p>
          <a:p>
            <a:r>
              <a:rPr lang="zh-TW"/>
              <a:t>設計時不要只想「出二十題」，而要想學生正在完成什麼任務。答錯後的提示、重新嘗試的方式，以及完成任務後的回饋，都會影響學習經驗。</a:t>
            </a:r>
          </a:p>
          <a:p>
            <a:r>
              <a:rPr lang="zh-TW"/>
              <a:t>請學員從畫面上的例子選一種，想想自己哪個單元最適合先做。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Vibe Coding 不一定只做給學生使用的遊戲，也可以先解決老師每天的備課工作。例如圖卡機、抽題、分組、計時器、計分板或教材搜尋，範圍小但很實用。</a:t>
            </a:r>
          </a:p>
          <a:p>
            <a:r>
              <a:rPr lang="zh-TW"/>
              <a:t>再進一步，可以把 Google Sheet 當成題庫，透過 GAS 讓網站讀取與更新資料。這樣老師換題目時，不需要每次重新修改整個網站。</a:t>
            </a:r>
          </a:p>
          <a:p>
            <a:r>
              <a:rPr lang="zh-TW"/>
              <a:t>建議從自己每週都會重複做的工作開始，因為使用頻率高，最容易測試並持續改善。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Vibe Coding 的優點可以整理成四點：速度快、降低進入門檻、適合快速試教材，以及老師能更直接掌握需求。</a:t>
            </a:r>
          </a:p>
          <a:p>
            <a:r>
              <a:rPr lang="zh-TW"/>
              <a:t>這裡的速度指快速得到可以測試的版本，不代表品質可以不用檢查。第一版不好可以刪掉，好用就繼續改善，讓老師更敢嘗試不同活動設計。</a:t>
            </a:r>
          </a:p>
          <a:p>
            <a:r>
              <a:rPr lang="zh-TW"/>
              <a:t>過去常停在「我有想法但不會寫程式」，現在可以改成「我先把想法做成一個能操作的版本」。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這一頁比優點更重要。第一，AI 可能很有自信地寫錯；第二，專案越大越容易失控；第三，不要把學生個資或私人紀錄貼進工具；第四，族語內容必須由教材和老師專業確認。</a:t>
            </a:r>
          </a:p>
          <a:p>
            <a:r>
              <a:rPr lang="zh-TW"/>
              <a:t>每次修改都走 Generate、Test、Fix、Test again。不要因為 AI 說「修好了」就相信，要實際按過每個重要功能。</a:t>
            </a:r>
          </a:p>
          <a:p>
            <a:r>
              <a:rPr lang="zh-TW"/>
              <a:t>特別提醒：程式能運行，不等於教材內容正確；文字很流暢，也不等於符合族語和文化脈絡。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第一章最後請大家記住三句話：Vibe Coding 是用自然語言和 AI 一起做程式；AI 協助實作，人負責方向與判斷；不用先變成工程師，才有資格開始做數位教材。</a:t>
            </a:r>
          </a:p>
          <a:p>
            <a:r>
              <a:rPr lang="zh-TW"/>
              <a:t>老師真正不可取代的是語言知識、教學經驗、對學生的理解，以及文化與教材判斷。AI 補的是把想法轉成數位工具的實作缺口。</a:t>
            </a:r>
          </a:p>
          <a:p>
            <a:r>
              <a:rPr lang="zh-TW"/>
              <a:t>轉場：接下來進入第二章，從「可以開始做」進一步談「開始之前要先想清楚什麼」。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第二章把重點從「AI 能做什麼」移到「人要先想清楚什麼」。Vibe Coding 的關鍵不是自己能不能寫出每一行，而是能不能把需求、流程和畫面說明清楚。</a:t>
            </a:r>
          </a:p>
          <a:p>
            <a:r>
              <a:rPr lang="zh-TW"/>
              <a:t>可以再次使用蓋房子的比喻：老師畫藍圖，AI 協助施工。沒有藍圖時，AI 只能猜；有了藍圖，第一版才容易接近真正需求。</a:t>
            </a:r>
          </a:p>
          <a:p>
            <a:r>
              <a:rPr lang="zh-TW"/>
              <a:t>轉場：先看看需求模糊時，為什麼漂亮的作品也可能不好用。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如果只說「蓋一間漂亮的房子」，我們不知道房間數、使用者、動線和設備。網站也是一樣，只說「做一個族語遊戲」，AI 會自己補上大量細節。</a:t>
            </a:r>
          </a:p>
          <a:p>
            <a:r>
              <a:rPr lang="zh-TW"/>
              <a:t>開始前至少要回答：誰使用、完成什麼任務、有哪些畫面、操作流程、使用裝置，以及最重要的功能。</a:t>
            </a:r>
          </a:p>
          <a:p>
            <a:r>
              <a:rPr lang="zh-TW"/>
              <a:t>強調：第一步不是寫程式，而是先決定用途與動線。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40E1-57BA-732A-C4B8-1DD30C3F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13D6D-8EFF-7CF6-BF14-A4B2F597F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B3E47-C60D-5DA0-F2BF-41F8E07A6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如果只說「蓋一間漂亮的房子」，我們不知道房間數、使用者、動線和設備。網站也是一樣，只說「做一個族語遊戲」，AI 會自己補上大量細節。</a:t>
            </a:r>
          </a:p>
          <a:p>
            <a:r>
              <a:rPr lang="zh-TW"/>
              <a:t>開始前至少要回答：誰使用、完成什麼任務、有哪些畫面、操作流程、使用裝置，以及最重要的功能。</a:t>
            </a:r>
          </a:p>
          <a:p>
            <a:r>
              <a:rPr lang="zh-TW"/>
              <a:t>強調：第一步不是寫程式，而是先決定用途與動線。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2D63-E98A-C3EF-4529-46DD6ACFD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35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初學者最適合從範圍小、結果看得見、自己真的會使用的需求開始，例如待辦清單、計時器、抽籤工具、活動頁或小測驗。</a:t>
            </a:r>
          </a:p>
          <a:p>
            <a:r>
              <a:rPr lang="zh-TW"/>
              <a:t>第一版不需要包辦所有功能，重點是確認方向是否正確。做完之後自己操作，才能發現原本沒想到的需求。</a:t>
            </a:r>
          </a:p>
          <a:p>
            <a:r>
              <a:rPr lang="zh-TW"/>
              <a:t>可以請學員選一項，說出它的使用者和最核心功能。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族語老師可以從單字、句子、會話、闖關、圖卡和課堂工具等方向開始。每一種都先做單一互動，再逐步組成完整任務。</a:t>
            </a:r>
          </a:p>
          <a:p>
            <a:r>
              <a:rPr lang="zh-TW"/>
              <a:t>例如句子排序可以包裝成搬箱子或拼火車，但教學核心仍是讓學生理解語序。視覺主題只是包裝，不要取代學習目標。</a:t>
            </a:r>
          </a:p>
          <a:p>
            <a:r>
              <a:rPr lang="zh-TW"/>
              <a:t>重點是把紙本或簡報教材，轉成學生可以操作、得到回饋的學習經驗。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開始前先回答四件事：內容、功能、資料、使用者。內容是教什麼；功能是學生能做什麼；資料是網站需要哪些素材；使用者決定難度與介面。</a:t>
            </a:r>
          </a:p>
          <a:p>
            <a:r>
              <a:rPr lang="zh-TW"/>
              <a:t>以國小三年級為例，按鈕要大、字要少、流程簡單、一個畫面不要塞太多內容，而且要優先考慮手機觸控。</a:t>
            </a:r>
          </a:p>
          <a:p>
            <a:r>
              <a:rPr lang="zh-TW"/>
              <a:t>這四個答案會成為後面流程圖、畫面草圖和 Prompt 的基礎。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這是一個族語聽力遊戲的最小流程：開始、顯示題目、播放音檔、學生選答案、判斷、下一題、完成結果。</a:t>
            </a:r>
          </a:p>
          <a:p>
            <a:r>
              <a:rPr lang="zh-TW"/>
              <a:t>最重要的是判斷後的分支。答錯要提示還是公布答案？能不能再試？只有老師先決定，AI 才能照正確邏輯實作。</a:t>
            </a:r>
          </a:p>
          <a:p>
            <a:r>
              <a:rPr lang="zh-TW"/>
              <a:t>流程圖不必漂亮，只要能看出開始、操作、判斷、重試與完成，就已經是有效的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新手最常見的錯誤，是一次要求首頁、登入、排行榜、動畫、題庫和後台。功能越多，出錯時越難知道是哪一步造成。</a:t>
            </a:r>
          </a:p>
          <a:p>
            <a:r>
              <a:rPr lang="zh-TW"/>
              <a:t>比較安全的方法是用 V1 到 V7 小步增加：先顯示題目，再加入作答、回饋、下一題、音檔、手機版，最後才美化。</a:t>
            </a:r>
          </a:p>
          <a:p>
            <a:r>
              <a:rPr lang="zh-TW"/>
              <a:t>每完成一個版本就實際測試，並保留上一個可用版本，避免修改失敗後無法退回。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功能順序建議是：先確認能不能用，再看流程是否順、手機是否好操作，最後才做視覺美化。漂亮但不能操作的教材沒有教學價值。</a:t>
            </a:r>
          </a:p>
          <a:p>
            <a:r>
              <a:rPr lang="zh-TW"/>
              <a:t>跟 AI 溝通時不要只說「改漂亮一點」。要說明要改什麼、使用什麼風格，以及哪些功能不能動。</a:t>
            </a:r>
          </a:p>
          <a:p>
            <a:r>
              <a:rPr lang="zh-TW"/>
              <a:t>示範右側範例：保留題庫與答題功能，只改首頁視覺。這種限制可以降低 AI 大幅重寫造成新錯誤的風險。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Debug 也需要清楚溝通。不要只說「壞了」，而要提供四段資訊：預期結果、實際結果、重現步驟和修改限制。</a:t>
            </a:r>
          </a:p>
          <a:p>
            <a:r>
              <a:rPr lang="zh-TW"/>
              <a:t>例如下一題按鈕沒反應，要說明從第一題如何操作到問題發生，並要求只修這個功能，不要動題庫、圖片和計分。</a:t>
            </a:r>
          </a:p>
          <a:p>
            <a:r>
              <a:rPr lang="zh-TW"/>
              <a:t>這種寫法不只適用 AI，也適合和工程師或同事回報問題。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初學者不用立刻會寫全部程式，但要先有一張網站地圖。HTML 負責網頁有什麼，CSS 負責長怎樣，JavaScript 負責會做什麼。</a:t>
            </a:r>
          </a:p>
          <a:p>
            <a:r>
              <a:rPr lang="zh-TW"/>
              <a:t>用三個例子判斷：按鈕不見可能看 HTML；按鈕太小看 CSS；按鈕存在但沒有反應，通常先查 JavaScript。</a:t>
            </a:r>
          </a:p>
          <a:p>
            <a:r>
              <a:rPr lang="zh-TW"/>
              <a:t>知道問題在哪一區，就能更精準地請 AI 檢查，而不是要求它重寫整個網站。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當網站需要讀取題庫、儲存作答或建立後台，就會遇到前端、後端和資料庫。前端是學生看得到的介面；後端負責處理資料；資料庫保存內容與紀錄。</a:t>
            </a:r>
          </a:p>
          <a:p>
            <a:r>
              <a:rPr lang="zh-TW"/>
              <a:t>可以用餐廳比喻：前端像用餐區與菜單，後端像廚房，資料庫像食材與訂單倉庫。</a:t>
            </a:r>
          </a:p>
          <a:p>
            <a:r>
              <a:rPr lang="zh-TW"/>
              <a:t>先記住簡單路徑：學生到前端，前端請後端處理，後端再讀寫資料庫。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這頁提供五級起步路線。第一級是一頁式教材；第二級加入互動；第三級把教材資料和程式分開；第四級串接 Sheet 與 GAS；第五級才是部署上線。</a:t>
            </a:r>
          </a:p>
          <a:p>
            <a:r>
              <a:rPr lang="zh-TW"/>
              <a:t>不必第一天就做到第五級。每一級都應該先穩定、測試，再進入下一級。</a:t>
            </a:r>
          </a:p>
          <a:p>
            <a:r>
              <a:rPr lang="zh-TW"/>
              <a:t>提醒：AI 預覽裡看得到，不代表學生手機看得到。取得網址、部署與實機測試，也是完成作品的一部分。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第三章把前面的規劃概念變成具體方法：先畫流程，再叫 AI 動手。目標是把腦中的想法變成 AI 可以執行、老師可以驗收的藍圖。</a:t>
            </a:r>
          </a:p>
          <a:p>
            <a:r>
              <a:rPr lang="zh-TW"/>
              <a:t>一張紙和一支筆就能開始，不需要先會專業製圖軟體。規劃的目的不是增加工作，而是減少 AI 猜測與反覆重做。</a:t>
            </a:r>
          </a:p>
          <a:p>
            <a:r>
              <a:rPr lang="zh-TW"/>
              <a:t>這一章會依序介紹 User Flow、Wireframe、資料流、結構化 Prompt 與 MVP。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AI 很會執行，但不知道我們真正想要什麼。學生年齡、題數、音檔、答錯處理、計分、裝置和結果頁，只要沒說，AI 就會自己猜。</a:t>
            </a:r>
          </a:p>
          <a:p>
            <a:r>
              <a:rPr lang="zh-TW"/>
              <a:t>規劃有三個效果：減少亂加功能、節省反覆重改、提早發現自己還沒決定的問題。</a:t>
            </a:r>
          </a:p>
          <a:p>
            <a:r>
              <a:rPr lang="zh-TW"/>
              <a:t>例如答錯後要重試、提示、公布答案或扣分？畫出流程時，這些教學決策會自然浮現。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把需求縮成四個問題：誰使用、要完成什麼、學生會做什麼、需要哪些資料。這四項就是最小需求藍圖。</a:t>
            </a:r>
          </a:p>
          <a:p>
            <a:r>
              <a:rPr lang="zh-TW"/>
              <a:t>例子中，使用者是國小三年級初學者，目標是辨認十個家庭單字，動作包含播放、作答與查看結果，資料則包含文字、圖片、音檔和答案。</a:t>
            </a:r>
          </a:p>
          <a:p>
            <a:r>
              <a:rPr lang="zh-TW"/>
              <a:t>請學員用自己的教材主題快速填一次這四格。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這一頁先把幾個常見英文翻成人話。課堂中不用考英文，也不用要求學員背單字，只要知道每個詞解決什麼問題。</a:t>
            </a:r>
          </a:p>
          <a:p>
            <a:r>
              <a:rPr lang="zh-TW"/>
              <a:t>User Flow 是使用者流程，也就是學生一路怎麼操作。Flowchart 是流程圖，就是把步驟和判斷畫出來。Wireframe 是畫面草圖，只安排東西的位置，不處理顏色和美化。</a:t>
            </a:r>
          </a:p>
          <a:p>
            <a:r>
              <a:rPr lang="zh-TW"/>
              <a:t>Mermaid 是一種用文字產生流程圖的格式。老師只要描述流程，再請 AI 轉成 Mermaid 即可，不需要學語法。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使用者流程的英文叫 User Flow，但今天先記中文就好：它就是學生從進入網站到完成任務，中間一步一步怎麼走。</a:t>
            </a:r>
          </a:p>
          <a:p>
            <a:r>
              <a:rPr lang="zh-TW"/>
              <a:t>可以把它想成走關卡。學生先進首頁、按開始、播放聲音、選圖片；答錯回去重試，答對才能進下一題，最後到結果頁。</a:t>
            </a:r>
          </a:p>
          <a:p>
            <a:r>
              <a:rPr lang="zh-TW"/>
              <a:t>檢查時只要問：從哪裡開始、按了什麼、系統怎麼回應、答對答錯各去哪裡，以及什麼時候算完成。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流程圖的英文是 Flowchart，但概念很簡單：把操作步驟和選擇畫成一條路。</a:t>
            </a:r>
          </a:p>
          <a:p>
            <a:r>
              <a:rPr lang="zh-TW"/>
              <a:t>方框代表做一件事；判斷代表要做選擇，例如答對了嗎；箭頭代表下一步去哪裡。初學者先會這三種就夠。</a:t>
            </a:r>
          </a:p>
          <a:p>
            <a:r>
              <a:rPr lang="zh-TW"/>
              <a:t>Mermaid 只是把文字轉成正式流程圖的一種格式。可以直接請 AI 產生，不需要記住任何語法。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幾乎所有互動教材都適合先畫流程。單字、聽力、排序、RPG 和密室逃脫的差別，主要在動作、分支和完成條件。</a:t>
            </a:r>
          </a:p>
          <a:p>
            <a:r>
              <a:rPr lang="zh-TW"/>
              <a:t>流程圖會提早暴露重要問題：答錯怎麼回饋、卡關時怎麼回去、完成哪一步才算過關。</a:t>
            </a:r>
          </a:p>
          <a:p>
            <a:r>
              <a:rPr lang="zh-TW"/>
              <a:t>互動越多、分支越複雜，越值得先畫流程，否則後面修改成本會快速增加。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畫面草圖的英文叫 Wireframe。它不是正式設計稿，而是像搬家前先畫房間配置，只決定東西放在哪裡。</a:t>
            </a:r>
          </a:p>
          <a:p>
            <a:r>
              <a:rPr lang="zh-TW"/>
              <a:t>這時候先安排題數、圖片、播放按鈕、答案和下一題的位置。暫時不用選顏色、字體、陰影、動畫或漂亮圖片。</a:t>
            </a:r>
          </a:p>
          <a:p>
            <a:r>
              <a:rPr lang="zh-TW"/>
              <a:t>老師用紙筆畫幾個方框，拍照給 AI 就可以。重點是讓 AI 看懂畫面配置，不是展現繪畫能力。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這一頁整理三種不同的圖。流程圖處理操作順序，畫面草圖處理畫面位置，資料流處理資料從哪裡來、經過哪裡、最後存去哪裡。</a:t>
            </a:r>
          </a:p>
          <a:p>
            <a:r>
              <a:rPr lang="zh-TW"/>
              <a:t>英文名稱只是和 AI 或工程師溝通時方便使用，不需要背。看到 Flowchart 就想到怎麼走，看到 Wireframe 就想到東西放哪裡。</a:t>
            </a:r>
          </a:p>
          <a:p>
            <a:r>
              <a:rPr lang="zh-TW"/>
              <a:t>資料流範例中，學生操作前端網站，網站請 GAS 後端讀取 Google Sheet，再把作答結果寫回 Sheet。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Prompt 就是給 AI 的指令或需求說明，可以直接叫做提示詞，不必刻意使用英文。</a:t>
            </a:r>
          </a:p>
          <a:p>
            <a:r>
              <a:rPr lang="zh-TW"/>
              <a:t>藍圖完成後，提示詞至少要說明使用者、學習目標、功能、操作流程、畫面草圖和限制。限制可以避免 AI 自動加入登入、排行榜和大量動畫。</a:t>
            </a:r>
          </a:p>
          <a:p>
            <a:r>
              <a:rPr lang="zh-TW"/>
              <a:t>請 AI 先重述理解、列出功能和缺少資訊，雙方確認一致後再產生第一版。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MVP 可以先理解成最小但可以使用的版本。第一版不用漂亮，也不需要包含所有功能，只要能完成最核心的學習流程。</a:t>
            </a:r>
          </a:p>
          <a:p>
            <a:r>
              <a:rPr lang="zh-TW"/>
              <a:t>這個例子從可以出題開始，再加入回答、聲音、提示、手機調整，最後才美化。每一版只增加一個重點。</a:t>
            </a:r>
          </a:p>
          <a:p>
            <a:r>
              <a:rPr lang="zh-TW"/>
              <a:t>這樣發生問題時比較容易找到原因，也可以避免 AI 一次改太多，把原本正常的功能弄壞。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這十二步可以作為以後每個 Vibe Coding 專案的檢查表。前六步是需求與設計，第七步才請 AI 做第一版，之後進入操作、修改、穩定、美化與上線。</a:t>
            </a:r>
          </a:p>
          <a:p>
            <a:r>
              <a:rPr lang="zh-TW"/>
              <a:t>特別強調第九步：一次修改一件事。修改範圍越清楚，越容易知道問題來源，也能退回上一個正常版本。</a:t>
            </a:r>
          </a:p>
          <a:p>
            <a:r>
              <a:rPr lang="zh-TW"/>
              <a:t>可以請學員拍下這頁，之後每做一個教材就照順序勾選。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最後用句子搬運遊戲整合全部概念。左側是 User Flow：播放、拖曳、確認、判斷與回饋；右側是 Wireframe：播放區、詞語箱、貨車排列區和確認按鈕。</a:t>
            </a:r>
          </a:p>
          <a:p>
            <a:r>
              <a:rPr lang="zh-TW"/>
              <a:t>如果還要儲存題目或作答，再補上資料流。接著把這些內容整理成結構化 Prompt，請 AI 先做最小版本。</a:t>
            </a:r>
          </a:p>
          <a:p>
            <a:r>
              <a:rPr lang="zh-TW"/>
              <a:t>結尾再記三件事：Flowchart 管怎麼走，Wireframe 管長怎樣，AI 協助實作但系統與教學判斷仍由老師決定。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第四章開始建立網頁開發的基本地圖。重點不是要求大家背程式語法，而是看得懂 AI 正在修改的是結構、樣式、互動、資源路徑，還是部署設定。</a:t>
            </a:r>
          </a:p>
          <a:p>
            <a:r>
              <a:rPr lang="zh-TW"/>
              <a:t>可以用導演比喻：不必親自操作每一盞燈，但要知道鏡頭、燈光和收音各自負責什麼，才能給團隊清楚指令。</a:t>
            </a:r>
          </a:p>
          <a:p>
            <a:r>
              <a:rPr lang="zh-TW"/>
              <a:t>轉場：先快速瀏覽這一章會建立哪些溝通工具。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這頁是本章地圖。前半段先理解網址、網頁類型與三本柱；中間學 HTML、資源載入、手機版和圖片；後半段處理除錯、部署與分享。</a:t>
            </a:r>
          </a:p>
          <a:p>
            <a:r>
              <a:rPr lang="zh-TW"/>
              <a:t>請學員不用擔心名詞很多，今天的目標是每個名詞都能用一句白話解釋，並知道遇到什麼問題時要想到它。</a:t>
            </a:r>
          </a:p>
          <a:p>
            <a:r>
              <a:rPr lang="zh-TW"/>
              <a:t>轉場：先從最常見的破圖與連結失效開始。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網址像完整門牌，路徑則是從目前檔案走到另一個資源的方法。圖片破圖時，圖片可能還在，只是網頁沿著錯誤路徑去找。</a:t>
            </a:r>
          </a:p>
          <a:p>
            <a:r>
              <a:rPr lang="zh-TW"/>
              <a:t>相對路徑的 ./ 代表目前資料夾，../ 代表上一層。還要注意檔名、副檔名與大小寫是否完全一致。</a:t>
            </a:r>
          </a:p>
          <a:p>
            <a:r>
              <a:rPr lang="zh-TW"/>
              <a:t>示範回報方式：不要說圖片壞了，要說哪一頁、哪張圖、預期位置，以及目前顯示的路徑。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靜態網頁通常把完成的檔案直接交給瀏覽器，所有人看到的內容大致相同。它速度快、成本低，很適合第一個教材原型。</a:t>
            </a:r>
          </a:p>
          <a:p>
            <a:r>
              <a:rPr lang="zh-TW"/>
              <a:t>動態網頁會依帳號、時間或資料產生不同內容，通常需要後端與資料庫。例如登入、作答紀錄和老師後台。</a:t>
            </a:r>
          </a:p>
          <a:p>
            <a:r>
              <a:rPr lang="zh-TW"/>
              <a:t>建議新手先把靜態版的介面與互動做穩定，再逐步加入 Sheet、GAS 或資料庫。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網頁三本柱可以用建築理解：HTML 是結構和房間，CSS 是裝潢與配置，JavaScript 是電力與控制系統。</a:t>
            </a:r>
          </a:p>
          <a:p>
            <a:r>
              <a:rPr lang="zh-TW"/>
              <a:t>除錯時先分類。文字或按鈕根本不存在，先看 HTML；顏色、尺寸或排列不對，先看 CSS；按鈕有出現但沒有反應，先看 JavaScript。</a:t>
            </a:r>
          </a:p>
          <a:p>
            <a:r>
              <a:rPr lang="zh-TW"/>
              <a:t>能先分類問題，就能請 AI 只修改需要的區域，避免整個網站被重寫。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不需要背完所有 HTML 標籤，但至少要看懂 head 和 body 的差異，以及標題、段落、連結、圖片、清單和排版區塊。</a:t>
            </a:r>
          </a:p>
          <a:p>
            <a:r>
              <a:rPr lang="zh-TW"/>
              <a:t>head 裡的內容多半提供瀏覽器、搜尋引擎與外部資源使用；body 才是學生在畫面上看到的內容。</a:t>
            </a:r>
          </a:p>
          <a:p>
            <a:r>
              <a:rPr lang="zh-TW"/>
              <a:t>當 AI 修改錯位置時，可以直接說：只調整 main 裡的題目區，不要修改 nav、footer 或 head 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第一版常把 CSS 和 JavaScript 全部放在單一 HTML 裡，優點是容易複製、預覽與分享。專案變大後，再拆成獨立檔案會更容易維護。</a:t>
            </a:r>
          </a:p>
          <a:p>
            <a:r>
              <a:rPr lang="zh-TW"/>
              <a:t>拆檔後最常遇到的問題就是路徑。style.css 或 script.js 沒有正確載入時，網頁會突然沒有樣式或功能。</a:t>
            </a:r>
          </a:p>
          <a:p>
            <a:r>
              <a:rPr lang="zh-TW"/>
              <a:t>CDN 是從外部服務載入字體或程式庫，方便但依賴網路與第三方網址，正式作品要評估穩定性。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RWD 的概念是讓同一套網站像水一樣適應不同容器。學生用手機時，不應該需要左右捲動或不斷放大縮小。</a:t>
            </a:r>
          </a:p>
          <a:p>
            <a:r>
              <a:rPr lang="zh-TW"/>
              <a:t>Viewport 告訴手機如何顯示網頁寬度；Media Query 則依螢幕大小改變欄數、字體和間距。</a:t>
            </a:r>
          </a:p>
          <a:p>
            <a:r>
              <a:rPr lang="zh-TW"/>
              <a:t>要求 AI 時要具體：手機改成單欄、按鈕加大、圖片不超出畫面、文字不可太小，並請它保留桌機版功能。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圖片格式沒有絕對最好，要依用途選擇。照片常用 JPG 或 WebP；透明圖卡可用 PNG 或 WebP；圖示適合 SVG；簡單動畫才考慮 GIF。</a:t>
            </a:r>
          </a:p>
          <a:p>
            <a:r>
              <a:rPr lang="zh-TW"/>
              <a:t>除了格式，也要注意圖片尺寸和檔案大小。原始照片直接放進教材，可能讓學生手機載入非常慢。</a:t>
            </a:r>
          </a:p>
          <a:p>
            <a:r>
              <a:rPr lang="zh-TW"/>
              <a:t>圖片還要有 alt 替代文字，並確認授權與文化內容正確，不能只因為 AI 找到就直接使用。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除錯不是一直猜，而是先重現問題，再用工具縮小範圍。Elements 看元素和 CSS，Console 看 JavaScript 錯誤，Network 看圖片、音檔或資料有沒有成功載入。</a:t>
            </a:r>
          </a:p>
          <a:p>
            <a:r>
              <a:rPr lang="zh-TW"/>
              <a:t>出現紅色錯誤訊息時，不用害怕。把錯誤文字、操作步驟和發生位置一起交給 AI，請它先解釋原因，再只修指定功能。</a:t>
            </a:r>
          </a:p>
          <a:p>
            <a:r>
              <a:rPr lang="zh-TW"/>
              <a:t>也要提醒 AI 哪些正常功能不能動，避免修好一個問題又破壞其他功能。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部署就是把網頁放到持續運作的伺服器，取得別人可以開啟的網址。AI Canvas 很適合快速預覽，但連結、資源與權限不一定適合正式教學。</a:t>
            </a:r>
          </a:p>
          <a:p>
            <a:r>
              <a:rPr lang="zh-TW" dirty="0"/>
              <a:t>靜態作品可以先選 Vercel、Netlify 或 GitHub Pages；需要讀寫 Google Sheet 時，可以考慮 GAS。更複雜的後端和資料庫，才需要 VPS 或雲端平台。</a:t>
            </a:r>
          </a:p>
          <a:p>
            <a:r>
              <a:rPr lang="zh-TW" dirty="0"/>
              <a:t>部署前要用實際手機測試圖片、音檔、連結與權限，也不要把金鑰或學生個資放在前端程式裡。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這章不是要把老師變成前端工程師，而是建立一套能和 AI 溝通、驗收和除錯的基礎詞彙。</a:t>
            </a:r>
          </a:p>
          <a:p>
            <a:r>
              <a:rPr lang="zh-TW"/>
              <a:t>最後複習：看內容想到 HTML，看外觀想到 CSS，看互動想到 JavaScript；資源不見先查路徑；手機不好用查 RWD；按鈕失效看 Console；作品要分享就需要部署。</a:t>
            </a:r>
          </a:p>
          <a:p>
            <a:r>
              <a:rPr lang="zh-TW"/>
              <a:t>結尾提醒：AI 可以快速施工，但老師仍要決定教學目標、內容正確性、使用者體驗、資料安全與作品是否真的可用。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這一頁要讓學員知道，AI 畫布或預覽區只是暫時的工作空間。真正掌握作品的第一步，是把完整原始碼下載到自己的電腦。</a:t>
            </a:r>
          </a:p>
          <a:p>
            <a:r>
              <a:rPr lang="zh-TW"/>
              <a:t>如果下載的是 ZIP 壓縮檔，一定要先完整解壓縮。不要只把 index.html 單獨拖出來，因為圖片、音檔、CSS 和 JavaScript 可能都在其他資料夾。</a:t>
            </a:r>
          </a:p>
          <a:p>
            <a:r>
              <a:rPr lang="zh-TW"/>
              <a:t>第一次開啟時先不要修改，先雙擊 index.html，確認原本功能正常。接著複製一份資料夾作為備份，例如 project-v1-backup，再開始改。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本機網頁通常不是只有一個檔案，而是一整個資料夾。index.html 是入口，CSS 管外觀，JavaScript 管互動，images 和 audio 放素材。</a:t>
            </a:r>
          </a:p>
          <a:p>
            <a:r>
              <a:rPr lang="zh-TW" dirty="0"/>
              <a:t>初學者最常發生的問題，是只把 HTML 寄給別人，卻忘記附圖片或音檔；或是改了檔名、移動資料夾，卻沒有同步修改程式裡的路徑。</a:t>
            </a:r>
          </a:p>
          <a:p>
            <a:r>
              <a:rPr lang="zh-TW" dirty="0"/>
              <a:t>建議檔名使用英文小寫、數字和連字號，避免空格、括號與特殊符號。每次大修改前複製一份版本，例如 lesson-v1、lesson-v2，出問題時才有地方回復。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這一頁要比較的不是哪個工具最好，而是哪種方式適合現在的階段。AI Canvas 適合快速看效果，但不應該當成唯一保存位置。</a:t>
            </a:r>
          </a:p>
          <a:p>
            <a:r>
              <a:rPr lang="zh-TW" dirty="0"/>
              <a:t>單一 HTML 很適合初學者與簡單教材；當程式變長、圖片和題庫變多時，就應該拆成 HTML、CSS、JavaScript 與資料檔。</a:t>
            </a:r>
          </a:p>
          <a:p>
            <a:r>
              <a:rPr lang="zh-TW" dirty="0"/>
              <a:t>最安全的基本流程是：下載到本機、複製備份、用 VS Code 修改、在瀏覽器測試，確認穩定後才更新線上版本。GitHub 可以之後再學，用來保留更完整的版本紀錄。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修改既有網頁時，最危險的說法是「幫我全部整理一下」或「重寫得更好」。AI 可能改掉檔案結構、變數名稱與原本正常的功能。</a:t>
            </a:r>
          </a:p>
          <a:p>
            <a:r>
              <a:rPr lang="zh-TW"/>
              <a:t>比較好的提示詞要包含六件事：現在的版本、預期結果、實際問題、修改範圍、不能動的部分，以及測試標準。</a:t>
            </a:r>
          </a:p>
          <a:p>
            <a:r>
              <a:rPr lang="zh-TW"/>
              <a:t>可以示範一句：請只修改首頁標題的字體大小與手機版間距，不要改題庫、按鈕事件與計分邏輯。修改前先告訴我會動哪些檔案，完成後列出測試步驟。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遇到問題時，先判斷它屬於內容、外觀、互動、資料、素材、路徑、部署還是安全性。這個分類會直接影響 AI 應該修改哪個檔案。</a:t>
            </a:r>
          </a:p>
          <a:p>
            <a:r>
              <a:rPr lang="zh-TW" dirty="0"/>
              <a:t>例如文字錯誤通常改 HTML 或題庫資料；顏色與手機排版改 CSS；按鈕沒有反應多半檢查 JavaScript；圖片不見先看檔名和路徑，不要一開始就重寫網站。</a:t>
            </a:r>
          </a:p>
          <a:p>
            <a:r>
              <a:rPr lang="zh-TW" dirty="0"/>
              <a:t>特別提醒「本機正常、上線失效」常見原因是檔名大小寫、相對路徑、權限或部署漏檔。把問題分類後，AI 的修改範圍會小很多。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安全修改的核心不是完全不出錯，而是出錯時可以回到上一個正常版本。最簡單的方法就是複製資料夾，不要直接覆蓋唯一的作品。</a:t>
            </a:r>
          </a:p>
          <a:p>
            <a:r>
              <a:rPr lang="zh-TW"/>
              <a:t>每次只處理一個明確問題。修好下一題按鈕後，不只測按鈕，也要重新測出題、計分、音檔和結果頁，這叫回歸測試。</a:t>
            </a:r>
          </a:p>
          <a:p>
            <a:r>
              <a:rPr lang="zh-TW"/>
              <a:t>如果修正失敗，不要一直在同一個錯誤版本上追加 Prompt。先回到備份，再用更小、更明確的修改要求重新嘗試。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/>
              <a:t>這一頁可以直接作為課堂實作清單。學員先把 AI 產生的網頁下載到本機，完整解壓縮並建立備份，再確認 index.html 可以正常開啟。</a:t>
            </a:r>
          </a:p>
          <a:p>
            <a:r>
              <a:rPr lang="zh-TW"/>
              <a:t>第一次修改先從文字開始，再改一項 CSS，例如按鈕顏色或手機間距。最後才修改一個 JavaScript 行為，例如答對後顯示訊息。每一步都要重新整理瀏覽器並測試。</a:t>
            </a:r>
          </a:p>
          <a:p>
            <a:r>
              <a:rPr lang="zh-TW"/>
              <a:t>完成後再重新部署，使用手機開啟線上網址測試。課程成果不只是有一個網址，而是學員手上同時擁有原始碼、備份、修改紀錄和可正常分享的版本。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9443" cy="6857952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23795" y="781045"/>
            <a:ext cx="3809905" cy="22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族語教師數位教材工作坊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23795" y="1314406"/>
            <a:ext cx="6762557" cy="138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1908" y="3000278"/>
            <a:ext cx="6191095" cy="857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38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不會寫程式，也可以開始做自己的數位教材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191271" y="0"/>
            <a:ext cx="4000351" cy="685795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810405" y="1285851"/>
            <a:ext cx="2857429" cy="2190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「用說的，把腦袋裡的想法，慢慢做成程式。」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91420" y="4667153"/>
            <a:ext cx="2476414" cy="47552"/>
          </a:xfrm>
          <a:prstGeom prst="rect">
            <a:avLst/>
          </a:prstGeom>
          <a:solidFill>
            <a:srgbClr val="F0C7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953448" y="4952952"/>
            <a:ext cx="1714384" cy="28556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693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26379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01｜最簡單的理解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38189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Coding，就是先用人話告訴 AI「我想做什麼」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952552"/>
            <a:ext cx="4476590" cy="2524028"/>
          </a:xfrm>
          <a:prstGeom prst="rect">
            <a:avLst/>
          </a:prstGeom>
          <a:solidFill>
            <a:srgbClr val="F2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33238" y="2238230"/>
            <a:ext cx="3905249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33238" y="2586705"/>
            <a:ext cx="3905249" cy="691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人先學程式語言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再寫程式給電腦看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67180" y="2857500"/>
            <a:ext cx="60957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419656" y="1952552"/>
            <a:ext cx="4476590" cy="2524028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705326" y="2238230"/>
            <a:ext cx="3905249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705326" y="2586705"/>
            <a:ext cx="3905249" cy="1037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人先描述需求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把人話翻譯成程式碼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再一起測試與修改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568" y="4952952"/>
            <a:ext cx="10896245" cy="91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今天先記成一句話：「用說的，把你腦袋裡的想法慢慢做成程式。」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7568" y="6459020"/>
            <a:ext cx="266540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理解概念比記住「氛圍開發」這個翻譯更重要。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668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111464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02｜以前與現在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以前先學很多技術；現在可以先做出教材第一版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3333667" cy="3905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333366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CA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242" y="2035315"/>
            <a:ext cx="2800319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以前常見的起點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242" y="2360559"/>
            <a:ext cx="2800319" cy="220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資料庫／API／Server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2249" y="1714427"/>
            <a:ext cx="7181564" cy="3905226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7037" y="1981108"/>
            <a:ext cx="6571989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現在可以先這樣說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7037" y="2306352"/>
            <a:ext cx="6571989" cy="79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幫我做一個給國小學生使用的族語單字配對遊戲。一次出現四個選項；答對顯示「答對了」；答錯可以重新選；顯示目前題數；手機也可以操作。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7037" y="3296603"/>
            <a:ext cx="1523938" cy="10667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09811" y="3439382"/>
            <a:ext cx="1238389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9811" y="3671699"/>
            <a:ext cx="1238389" cy="17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四個選項與題數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14753" y="3296603"/>
            <a:ext cx="1523938" cy="10667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57527" y="3439382"/>
            <a:ext cx="1238389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57527" y="3671699"/>
            <a:ext cx="1238389" cy="17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答對、答錯與重選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62468" y="3296603"/>
            <a:ext cx="1523938" cy="10667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105243" y="3439382"/>
            <a:ext cx="1238389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05243" y="3671699"/>
            <a:ext cx="1238389" cy="17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手機清楚操作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10185" y="3296603"/>
            <a:ext cx="1523938" cy="10667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752959" y="3439382"/>
            <a:ext cx="1238389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52959" y="3671699"/>
            <a:ext cx="1238389" cy="17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看見版本後再修改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7568" y="5905452"/>
            <a:ext cx="423363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差別：不必先學完所有技術，才有資格開始做作品。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12115" y="6493625"/>
            <a:ext cx="2131940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Prototype＝第一個可以操作與測試的版本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829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3809905" cy="22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03｜新的學習順序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不是完全不用懂程式，而是先做、再慢慢理解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809653"/>
            <a:ext cx="1962062" cy="1619202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836757"/>
            <a:ext cx="196206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2054312"/>
            <a:ext cx="1619403" cy="2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1｜有想法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897" y="2311434"/>
            <a:ext cx="1619403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從真實教學需求出發，說明學生與目標。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6304" y="1809653"/>
            <a:ext cx="1962062" cy="1619202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876304" y="1836757"/>
            <a:ext cx="196206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633" y="2054312"/>
            <a:ext cx="1619403" cy="2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2｜做第一版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47633" y="2311434"/>
            <a:ext cx="1619403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先完成可以操作的最小版本。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05040" y="1809653"/>
            <a:ext cx="1962062" cy="1619202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105040" y="1836757"/>
            <a:ext cx="196206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370" y="2054312"/>
            <a:ext cx="1619403" cy="2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3｜實際測試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76370" y="2311434"/>
            <a:ext cx="1619403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自己按、用手機看，找出不符合期待的地方。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33776" y="1809653"/>
            <a:ext cx="1962062" cy="1619202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333776" y="1836757"/>
            <a:ext cx="196206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05106" y="2054312"/>
            <a:ext cx="1619403" cy="2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4｜要求修改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05106" y="2311434"/>
            <a:ext cx="1619403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說清楚哪裡不對，以及希望變成什麼樣子。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62513" y="1809653"/>
            <a:ext cx="1962062" cy="1619202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562513" y="1836757"/>
            <a:ext cx="196206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3842" y="2054312"/>
            <a:ext cx="1619403" cy="2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5｜逐步理解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33842" y="2311434"/>
            <a:ext cx="1619403" cy="38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一邊做，一邊看懂網站的基本結構。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7568" y="4333802"/>
            <a:ext cx="10896245" cy="16192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933238" y="4581365"/>
            <a:ext cx="10324905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這堂課不是要把大家訓練成工程師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238" y="4891121"/>
            <a:ext cx="3190771" cy="2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我應該怎麼跟 AI 說？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90683" y="4891121"/>
            <a:ext cx="3190771" cy="2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問題是在畫面、功能，還是資料？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848128" y="4891121"/>
            <a:ext cx="3190771" cy="2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哪裡壞了，我能不能描述清楚？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7568" y="6438934"/>
            <a:ext cx="6667333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能辨識問題與說明需求，已經是非常有用的數位能力。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371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2165456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04｜為什麼叫 Vibe Coding？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 在 2025 年流行，老師的角色更像導演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857327"/>
            <a:ext cx="4476590" cy="3238403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48725" y="2158492"/>
            <a:ext cx="3874274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把它想成拍電影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8725" y="2483736"/>
            <a:ext cx="3874274" cy="1256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以前：自己當導演、攝影、燈光、剪接、演員。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現在：AI 可以協助大量執行工作。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00516" y="1857327"/>
            <a:ext cx="5943418" cy="323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886187" y="2143004"/>
            <a:ext cx="5372077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老師負責說清楚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886187" y="2491480"/>
            <a:ext cx="2619310" cy="80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我要什麼學習效果？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38833" y="2491480"/>
            <a:ext cx="2619430" cy="80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這個按鈕太小。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86187" y="3434421"/>
            <a:ext cx="2619310" cy="80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這一關對學生太難。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38833" y="3434421"/>
            <a:ext cx="2619430" cy="80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這裡學生會看不懂。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568" y="5524427"/>
            <a:ext cx="10896245" cy="303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重要能力不是只會寫語法，而是把想法、對象與教學判斷講清楚。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7568" y="6478137"/>
            <a:ext cx="2313433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人決定方向與品質；AI 協助實作與修改。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5774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33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05｜為什麼突然這麼熱門？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286671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它突然熱門，因為四個條件同時改變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5352839" cy="2015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5352839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242" y="1997201"/>
            <a:ext cx="4819491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242" y="2218265"/>
            <a:ext cx="4819491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可以用「人話」溝通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42" y="2528021"/>
            <a:ext cx="4819491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直接說「把按鈕改成深綠色、放大一點、手機上容易按」，AI 協助翻譯成程式。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853" y="1714427"/>
            <a:ext cx="5352960" cy="2015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190853" y="1741531"/>
            <a:ext cx="535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7527" y="1997201"/>
            <a:ext cx="4819612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57527" y="2218265"/>
            <a:ext cx="4819612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很快看見第一版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527" y="2528021"/>
            <a:ext cx="4819612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先有東西可以按，再說圖片太小、題目太多、答錯不要公布答案或加入語音。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568" y="3920351"/>
            <a:ext cx="5352839" cy="179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47568" y="3947454"/>
            <a:ext cx="5352839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242" y="4203124"/>
            <a:ext cx="4819491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242" y="4424188"/>
            <a:ext cx="4819491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時間回到教材設計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242" y="4733944"/>
            <a:ext cx="4819491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老師專注學生會不會玩、提示是否有效、不同年級需不需要不同難度。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853" y="3920351"/>
            <a:ext cx="5352960" cy="179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190853" y="3947454"/>
            <a:ext cx="535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7527" y="4203124"/>
            <a:ext cx="4819612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7527" y="4424188"/>
            <a:ext cx="4819612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修改成本變低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57527" y="4733944"/>
            <a:ext cx="4819612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可以要求另一版、重排手機版、加入進度條，或保留功能只修改首頁。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568" y="5953125"/>
            <a:ext cx="2802860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協助實作，老師負責教學判斷。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943890" y="6493625"/>
            <a:ext cx="1600165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看見成果 → 描述問題 → 再修改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200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959010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06｜工具分級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286671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工具不用一次全學；依需求分成三個階段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2857379"/>
            <a:ext cx="3486000" cy="2857500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2888355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124" y="3147896"/>
            <a:ext cx="2990887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5124" y="3326006"/>
            <a:ext cx="2990887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沒有程式背景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5124" y="3635762"/>
            <a:ext cx="2990887" cy="79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Canva AI／Code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5124" y="4427818"/>
            <a:ext cx="2990887" cy="20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練習說清楚對象、題數、互動與手機需求。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011" y="2381129"/>
            <a:ext cx="3486000" cy="3333750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343011" y="2412105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568" y="2671646"/>
            <a:ext cx="2990887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90568" y="2849756"/>
            <a:ext cx="2990887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開始理解程式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0568" y="3159512"/>
            <a:ext cx="2990887" cy="79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Colab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AI Studio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HTML／CSS／JavaScript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0568" y="3951568"/>
            <a:ext cx="2990887" cy="4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是內容、CSS 是外觀、JavaScript 是互動。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38454" y="1904879"/>
            <a:ext cx="3486000" cy="3810000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038454" y="1935855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6010" y="2195396"/>
            <a:ext cx="2990887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86010" y="2373506"/>
            <a:ext cx="2990887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建立完整系統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6010" y="2683262"/>
            <a:ext cx="2990887" cy="79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Copilot／Cursor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Claude／Codex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Coding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86010" y="3475318"/>
            <a:ext cx="2990887" cy="4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可讀專案、規劃、修改多檔案、執行、找錯與測試；不必第一天就學。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7568" y="5953125"/>
            <a:ext cx="3943363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順序：先說清楚 → 再看懂結構 → 最後管理完整專案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58088" y="6512622"/>
            <a:ext cx="228596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工具會更新，選擇適合課程需求的工具即可。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027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111464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07｜學生用教材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286671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族語教材最適合從可立即操作的小活動開始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5190947" cy="4095677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33238" y="1961990"/>
            <a:ext cx="4619606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先做熟悉的單一題型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238" y="2821563"/>
            <a:ext cx="4619606" cy="0"/>
          </a:xfrm>
          <a:prstGeom prst="line">
            <a:avLst/>
          </a:prstGeom>
          <a:solidFill>
            <a:srgbClr val="FFFFFF">
              <a:alpha val="0"/>
            </a:srgbClr>
          </a:solidFill>
          <a:ln w="7744">
            <a:solidFill>
              <a:srgbClr val="3550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3238" y="2271746"/>
            <a:ext cx="4619606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單字學習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3238" y="2519551"/>
            <a:ext cx="4619606" cy="18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看圖選單字、聽音找圖片、族語與中文／圖片配對。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3238" y="3508593"/>
            <a:ext cx="4619606" cy="0"/>
          </a:xfrm>
          <a:prstGeom prst="line">
            <a:avLst/>
          </a:prstGeom>
          <a:solidFill>
            <a:srgbClr val="FFFFFF">
              <a:alpha val="0"/>
            </a:srgbClr>
          </a:solidFill>
          <a:ln w="7744">
            <a:solidFill>
              <a:srgbClr val="3550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3238" y="2958776"/>
            <a:ext cx="4619606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句子排序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33238" y="3206581"/>
            <a:ext cx="4619606" cy="18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把詞語做成箱子，依語序搬上貨車。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3238" y="4195622"/>
            <a:ext cx="4619606" cy="0"/>
          </a:xfrm>
          <a:prstGeom prst="line">
            <a:avLst/>
          </a:prstGeom>
          <a:solidFill>
            <a:srgbClr val="FFFFFF">
              <a:alpha val="0"/>
            </a:srgbClr>
          </a:solidFill>
          <a:ln w="7744">
            <a:solidFill>
              <a:srgbClr val="3550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238" y="3645805"/>
            <a:ext cx="4619606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聽力測驗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3238" y="3893610"/>
            <a:ext cx="4619606" cy="18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第一次答錯給提示，第二次再縮小選項。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3238" y="4882651"/>
            <a:ext cx="4619606" cy="0"/>
          </a:xfrm>
          <a:prstGeom prst="line">
            <a:avLst/>
          </a:prstGeom>
          <a:solidFill>
            <a:srgbClr val="FFFFFF">
              <a:alpha val="0"/>
            </a:srgbClr>
          </a:solidFill>
          <a:ln w="7744">
            <a:solidFill>
              <a:srgbClr val="3550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238" y="4332834"/>
            <a:ext cx="4619606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情境會話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3238" y="4580639"/>
            <a:ext cx="4619606" cy="18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市場、問路、第一次見面等對話任務。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3423" y="1714427"/>
            <a:ext cx="5400511" cy="8762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170526" y="1714427"/>
            <a:ext cx="0" cy="87627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7072" y="1866765"/>
            <a:ext cx="49274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RPG 闖關教材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7072" y="2114569"/>
            <a:ext cx="4927418" cy="17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 → 聽力 → 句子 → 會話 → 真實情境任務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3423" y="2704921"/>
            <a:ext cx="5400511" cy="8762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170526" y="2704921"/>
            <a:ext cx="0" cy="87627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7072" y="2857258"/>
            <a:ext cx="49274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密室逃脫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7072" y="3105063"/>
            <a:ext cx="4927418" cy="17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完成題目取得數字、線索與密碼，適合單元複習。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43423" y="3695415"/>
            <a:ext cx="5400511" cy="8762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6170526" y="3695415"/>
            <a:ext cx="0" cy="87627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7072" y="3847751"/>
            <a:ext cx="49274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 教材站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7072" y="4095556"/>
            <a:ext cx="4927418" cy="17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整合課文、音檔、圖卡、遊戲、練習與影片。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43423" y="4685908"/>
            <a:ext cx="5400511" cy="876271"/>
          </a:xfrm>
          <a:prstGeom prst="rect">
            <a:avLst/>
          </a:prstGeom>
          <a:solidFill>
            <a:srgbClr val="FFF5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170526" y="4685908"/>
            <a:ext cx="0" cy="87627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7072" y="4838245"/>
            <a:ext cx="49274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7072" y="5086050"/>
            <a:ext cx="4927418" cy="17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學生不是做第 1～20 題，而是在完成任務。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7568" y="6459020"/>
            <a:ext cx="3046182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先完成一個小活動，再把多個活動串成完整學習路徑。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9706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41625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08｜老師自己的工具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 也能先解決老師自己的備課問題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3517822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351782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011" y="1978083"/>
            <a:ext cx="3098935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數位圖卡機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7011" y="2249120"/>
            <a:ext cx="3098935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圖片、族語、中文、播放音檔、上一張與下一張；換教材即可重複使用。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6719" y="1714427"/>
            <a:ext cx="3517822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336719" y="1741531"/>
            <a:ext cx="351782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6162" y="1978083"/>
            <a:ext cx="3098935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課堂活動工具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162" y="2249120"/>
            <a:ext cx="3098935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隨機抽題、抽角色、抽任務、分組、計分與全班合作打 Boss。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5870" y="1714427"/>
            <a:ext cx="3517943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025870" y="1741531"/>
            <a:ext cx="351794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5314" y="1978083"/>
            <a:ext cx="3099057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備課工具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5314" y="2249120"/>
            <a:ext cx="3099057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教案產生器、課堂計時器、活動流程與出口檢查。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568" y="3705094"/>
            <a:ext cx="3517822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7568" y="3732198"/>
            <a:ext cx="351782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011" y="3968750"/>
            <a:ext cx="3098935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Sheet 題庫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011" y="4239787"/>
            <a:ext cx="3098935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Sheet 更新題目，透過 GAS 讓網站教材同步更換。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6719" y="3705094"/>
            <a:ext cx="3517822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336719" y="3732198"/>
            <a:ext cx="3517822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6162" y="3968750"/>
            <a:ext cx="3098935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教材資料庫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162" y="4239787"/>
            <a:ext cx="3098935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搜尋數百個單字、句子與教材，例如搜尋「家庭」。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25870" y="3705094"/>
            <a:ext cx="3517943" cy="181933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8025870" y="3732198"/>
            <a:ext cx="351794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5314" y="3968750"/>
            <a:ext cx="3099057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 Mini LMS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35314" y="4239787"/>
            <a:ext cx="3099057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整合課程、課文、音檔、圖卡、遊戲、作業與複習。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7568" y="5810226"/>
            <a:ext cx="108962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進階方向：Google Sheet → GAS → 教材網站 → 學生作答與內容更新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15209" y="6531740"/>
            <a:ext cx="1828846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先做一個自己每天會使用的小工具。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2566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111464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09｜真正的優點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最大價值是更快把教材想法變成可測試版本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62101"/>
            <a:ext cx="7143571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7568" y="1762101"/>
            <a:ext cx="1333370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19057" y="1914438"/>
            <a:ext cx="534352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19057" y="2185474"/>
            <a:ext cx="534352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從有想法快速進入可以操作的 prototype。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7568" y="2695483"/>
            <a:ext cx="7143571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568" y="2695483"/>
            <a:ext cx="1333370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19057" y="2847820"/>
            <a:ext cx="534352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降低門檻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19057" y="3118857"/>
            <a:ext cx="534352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不必先背完 HTML、CSS、JavaScript。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7568" y="3628865"/>
            <a:ext cx="7143571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7568" y="3628865"/>
            <a:ext cx="1333370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19057" y="3781202"/>
            <a:ext cx="534352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快速試教材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19057" y="4052239"/>
            <a:ext cx="534352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把密室逃脫、聽力活動或新題型先做一版。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7568" y="4562247"/>
            <a:ext cx="7143571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7568" y="4562247"/>
            <a:ext cx="1333370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19057" y="4714585"/>
            <a:ext cx="534352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老師掌握需求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19057" y="4985621"/>
            <a:ext cx="534352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自己修改或交給工程師，都更容易溝通。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6048" y="1762101"/>
            <a:ext cx="3447886" cy="385755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381718" y="2047778"/>
            <a:ext cx="2876546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以前常停在這裡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1718" y="2357534"/>
            <a:ext cx="2876546" cy="121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「我有一個很好的教材想法，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可是我不會寫程式。」</a:t>
            </a:r>
            <a:endParaRPr lang="en-US" sz="1450" dirty="0"/>
          </a:p>
          <a:p>
            <a:pPr marL="0" indent="0" algn="l">
              <a:buNone/>
            </a:pP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現在可以先做出第一版。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7568" y="6459020"/>
            <a:ext cx="2919257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不好就刪掉；好用就繼續改。嘗試成本比以前更低。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23145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26379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10｜一定要先知道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風險比優點更需要先知道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5362397" cy="18668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78543" y="1714427"/>
            <a:ext cx="0" cy="1866885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6633" y="1933435"/>
            <a:ext cx="4786217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1｜AI 會有自信地寫錯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6633" y="2227703"/>
            <a:ext cx="4786217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可能說修好了，實際上沒有；也可能修好 A，卻讓其他功能壞掉。每次修改都要重新測試。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294" y="1714427"/>
            <a:ext cx="5362518" cy="18668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212269" y="1714427"/>
            <a:ext cx="0" cy="1866885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0359" y="1933435"/>
            <a:ext cx="4786338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2｜專案越大越容易失控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500359" y="2227703"/>
            <a:ext cx="4786338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從一頁變成登入、後台、資料庫與 API 後，至少要看懂 Frontend、Backend、Database 的地圖。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568" y="3752647"/>
            <a:ext cx="5362397" cy="186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78543" y="3752647"/>
            <a:ext cx="0" cy="1867007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6633" y="3971654"/>
            <a:ext cx="4786217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3｜不要亂丟資料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66633" y="4265922"/>
            <a:ext cx="4786217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不要貼學生姓名、電話、家長資料、個別成績與私人紀錄；測試時使用匿名或假資料。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294" y="3752647"/>
            <a:ext cx="5362518" cy="186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212269" y="3752647"/>
            <a:ext cx="0" cy="1867007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0359" y="3971654"/>
            <a:ext cx="4786338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4｜族語內容不能全信 AI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500359" y="4265922"/>
            <a:ext cx="4786338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可以做互動，但單字、句子、翻譯與文化內容，仍以教材與老師專業確認為準。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7568" y="5857778"/>
            <a:ext cx="10896245" cy="4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安全循環：Generate → Test → Fix → Test again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58088" y="6541177"/>
            <a:ext cx="228596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流暢不等於正確；能運行也不等於適合教學。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66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210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11｜給族語老師的一句話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1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不用先變成工程師，才有資格開始做數位教材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647568" y="2000226"/>
            <a:ext cx="4286143" cy="2857500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29729" y="2282394"/>
            <a:ext cx="3721820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老師真正擁有的能力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9729" y="2607638"/>
            <a:ext cx="3721820" cy="157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語言知識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教學經驗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學生理解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教材內容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課堂判斷與創意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09948" y="2000226"/>
            <a:ext cx="6133864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676623" y="2266906"/>
            <a:ext cx="5600516" cy="6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1｜Vibe Coding，就是用自然語言跟 AI 一起做程式。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76623" y="2952605"/>
            <a:ext cx="5600516" cy="6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2｜AI 負責協助實作，人仍負責方向與判斷。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76623" y="3638303"/>
            <a:ext cx="5600516" cy="6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3｜不必先變成工程師，才可以開始做自己的數位教材。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568" y="5333976"/>
            <a:ext cx="10896245" cy="70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接下來：我們真的來拆一個網站，看看 AI 到底幫我們做了什麼。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568" y="6478137"/>
            <a:ext cx="3074978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補上「怎麼把教材想法做成數位工具」的實作缺口。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5843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514244"/>
            <a:ext cx="3809905" cy="22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第二章｜Vibe Coding 新手入門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7568" y="1095278"/>
            <a:ext cx="6857780" cy="128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先想清楚，</a:t>
            </a:r>
            <a:endParaRPr lang="en-US" sz="3750" dirty="0"/>
          </a:p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再叫 AI 動手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47568" y="2666927"/>
            <a:ext cx="6000527" cy="1095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以前先學語法再做作品；現在可以先想清楚需求、流程與畫面，再請 AI 做出第一個版本。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715033" y="904827"/>
            <a:ext cx="3809905" cy="4571927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282865" y="1587016"/>
            <a:ext cx="2666861" cy="28556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8635324" y="2301391"/>
            <a:ext cx="1952504" cy="2143125"/>
          </a:xfrm>
          <a:prstGeom prst="rect">
            <a:avLst/>
          </a:prstGeom>
          <a:solidFill>
            <a:srgbClr val="FFFFFF">
              <a:alpha val="0"/>
            </a:srgbClr>
          </a:solidFill>
          <a:ln w="23232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349682" y="3492016"/>
            <a:ext cx="523789" cy="952500"/>
          </a:xfrm>
          <a:prstGeom prst="rect">
            <a:avLst/>
          </a:prstGeom>
          <a:solidFill>
            <a:srgbClr val="FFFFFF">
              <a:alpha val="0"/>
            </a:srgbClr>
          </a:solidFill>
          <a:ln w="23232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206758" y="4832679"/>
            <a:ext cx="2857429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你畫藍圖，AI 協助施工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568" y="5095851"/>
            <a:ext cx="6667333" cy="666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最重要的問題不是「我會不會寫這段程式」，而是「我能不能把想法說清楚？」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568" y="6400819"/>
            <a:ext cx="5714857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先規劃，再生成；先驗證，再擴充。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7447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959010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12｜先畫藍圖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是施工團隊；需求不清楚，漂亮的網站也可能不好用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1857327"/>
            <a:ext cx="4000351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888302"/>
            <a:ext cx="4000351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242" y="2185958"/>
            <a:ext cx="3467004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模糊的要求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242" y="2511202"/>
            <a:ext cx="3467004" cy="36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3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「幫我蓋一間漂亮的房子。」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242" y="2873109"/>
            <a:ext cx="3467004" cy="56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房間幾間？誰要住？廁所、廚房與大門在哪？是給老人還是小孩？全部都不知道。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8051" y="1857327"/>
            <a:ext cx="6495883" cy="333375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048051" y="1888302"/>
            <a:ext cx="6495883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2839" y="2185958"/>
            <a:ext cx="588630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先把使用藍圖說清楚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52839" y="2511202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誰會使用？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57881" y="2511202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要完成什麼任務？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52839" y="3244574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需要哪些畫面？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881" y="3244574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操作流程是什麼？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52839" y="3977946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手機還是電腦？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881" y="3977946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哪些功能最重要？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568" y="5619653"/>
            <a:ext cx="10896245" cy="61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網站也是房子：先決定用途與動線，再請 AI 施工。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3747" y="6531740"/>
            <a:ext cx="2400308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第一步不是立刻寫程式，而是先把需求想清楚。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8108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35D45-A874-8846-BDAB-CBF744B7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805131-954B-F151-D33F-0F022C4F72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ABC5C8-B2F3-1081-B03F-1B3FF8C25848}"/>
              </a:ext>
            </a:extLst>
          </p:cNvPr>
          <p:cNvSpPr/>
          <p:nvPr/>
        </p:nvSpPr>
        <p:spPr>
          <a:xfrm>
            <a:off x="647568" y="400021"/>
            <a:ext cx="959010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12｜先畫藍圖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05342D-FE1B-79C0-FF34-CA85FFDFA4D1}"/>
              </a:ext>
            </a:extLst>
          </p:cNvPr>
          <p:cNvSpPr/>
          <p:nvPr/>
        </p:nvSpPr>
        <p:spPr>
          <a:xfrm>
            <a:off x="647568" y="742931"/>
            <a:ext cx="1057246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是施工團隊；需求不清楚，漂亮的網站也可能不好用</a:t>
            </a:r>
            <a:endParaRPr lang="en-US" sz="2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40CCE0-B64A-607E-C86F-1B1F4A9DDD1D}"/>
              </a:ext>
            </a:extLst>
          </p:cNvPr>
          <p:cNvSpPr/>
          <p:nvPr/>
        </p:nvSpPr>
        <p:spPr>
          <a:xfrm>
            <a:off x="647568" y="1857327"/>
            <a:ext cx="4000351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615CF4-EBAF-DA95-48E2-FE0F736BAEC0}"/>
              </a:ext>
            </a:extLst>
          </p:cNvPr>
          <p:cNvSpPr/>
          <p:nvPr/>
        </p:nvSpPr>
        <p:spPr>
          <a:xfrm>
            <a:off x="647568" y="1888302"/>
            <a:ext cx="4000351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4C42C0-1CF5-0814-C496-E526302ABDB6}"/>
              </a:ext>
            </a:extLst>
          </p:cNvPr>
          <p:cNvSpPr/>
          <p:nvPr/>
        </p:nvSpPr>
        <p:spPr>
          <a:xfrm>
            <a:off x="914242" y="2185958"/>
            <a:ext cx="3467004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模糊的要求</a:t>
            </a:r>
            <a:endParaRPr lang="en-US" sz="1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670C3C-9B84-1932-410E-770418D32287}"/>
              </a:ext>
            </a:extLst>
          </p:cNvPr>
          <p:cNvSpPr/>
          <p:nvPr/>
        </p:nvSpPr>
        <p:spPr>
          <a:xfrm>
            <a:off x="914242" y="2511202"/>
            <a:ext cx="3467004" cy="36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3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「幫我蓋一間漂亮的房子。」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054BEF-7A53-5CC3-83B9-9DC9E37B32D3}"/>
              </a:ext>
            </a:extLst>
          </p:cNvPr>
          <p:cNvSpPr/>
          <p:nvPr/>
        </p:nvSpPr>
        <p:spPr>
          <a:xfrm>
            <a:off x="914242" y="2873109"/>
            <a:ext cx="3467004" cy="56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房間幾間？誰要住？廁所、廚房與大門在哪？是給老人還是小孩？全部都不知道。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4EE968F-AF75-3E61-217C-ED30BCAFBB7F}"/>
              </a:ext>
            </a:extLst>
          </p:cNvPr>
          <p:cNvSpPr/>
          <p:nvPr/>
        </p:nvSpPr>
        <p:spPr>
          <a:xfrm>
            <a:off x="5048051" y="1857327"/>
            <a:ext cx="6495883" cy="333375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359625-DF0A-9DC7-AE08-EE984591D106}"/>
              </a:ext>
            </a:extLst>
          </p:cNvPr>
          <p:cNvSpPr/>
          <p:nvPr/>
        </p:nvSpPr>
        <p:spPr>
          <a:xfrm>
            <a:off x="5048051" y="1888302"/>
            <a:ext cx="6495883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34C54F-4BD3-4439-E708-6D6016F16008}"/>
              </a:ext>
            </a:extLst>
          </p:cNvPr>
          <p:cNvSpPr/>
          <p:nvPr/>
        </p:nvSpPr>
        <p:spPr>
          <a:xfrm>
            <a:off x="5352839" y="2185958"/>
            <a:ext cx="588630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先把使用藍圖說清楚</a:t>
            </a:r>
            <a:endParaRPr lang="en-US" sz="1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910CC1-C426-C505-A970-D0DFBB66A8D0}"/>
              </a:ext>
            </a:extLst>
          </p:cNvPr>
          <p:cNvSpPr/>
          <p:nvPr/>
        </p:nvSpPr>
        <p:spPr>
          <a:xfrm>
            <a:off x="5352839" y="2511202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誰會使用？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B7F31F-0057-C873-3C18-0E33CD7F6033}"/>
              </a:ext>
            </a:extLst>
          </p:cNvPr>
          <p:cNvSpPr/>
          <p:nvPr/>
        </p:nvSpPr>
        <p:spPr>
          <a:xfrm>
            <a:off x="8357881" y="2511202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要完成什麼任務？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856646F-6497-EA96-401B-9229A2311349}"/>
              </a:ext>
            </a:extLst>
          </p:cNvPr>
          <p:cNvSpPr/>
          <p:nvPr/>
        </p:nvSpPr>
        <p:spPr>
          <a:xfrm>
            <a:off x="5352839" y="3244574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需要哪些畫面？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FF2C77-E2BD-06F7-4F89-88537373E4EA}"/>
              </a:ext>
            </a:extLst>
          </p:cNvPr>
          <p:cNvSpPr/>
          <p:nvPr/>
        </p:nvSpPr>
        <p:spPr>
          <a:xfrm>
            <a:off x="8357881" y="3244574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操作流程是什麼？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4E336B0-EBC1-908C-BE2B-474EAB92E050}"/>
              </a:ext>
            </a:extLst>
          </p:cNvPr>
          <p:cNvSpPr/>
          <p:nvPr/>
        </p:nvSpPr>
        <p:spPr>
          <a:xfrm>
            <a:off x="5352839" y="3977946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手機還是電腦？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D6627BE-66F1-3AC3-4BFB-F3496900F1A6}"/>
              </a:ext>
            </a:extLst>
          </p:cNvPr>
          <p:cNvSpPr/>
          <p:nvPr/>
        </p:nvSpPr>
        <p:spPr>
          <a:xfrm>
            <a:off x="8357881" y="3977946"/>
            <a:ext cx="288126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哪些功能最重要？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0D6F98B-669F-C299-172B-0C27F7A1A383}"/>
              </a:ext>
            </a:extLst>
          </p:cNvPr>
          <p:cNvSpPr/>
          <p:nvPr/>
        </p:nvSpPr>
        <p:spPr>
          <a:xfrm>
            <a:off x="647568" y="5619653"/>
            <a:ext cx="10896245" cy="61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網站也是房子：先決定用途與動線，再請 AI 施工。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CDDF657-8A20-D80A-1599-39CCEC9B952F}"/>
              </a:ext>
            </a:extLst>
          </p:cNvPr>
          <p:cNvSpPr/>
          <p:nvPr/>
        </p:nvSpPr>
        <p:spPr>
          <a:xfrm>
            <a:off x="9143747" y="6531740"/>
            <a:ext cx="2400308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第一步不是立刻寫程式，而是先把需求想清楚。</a:t>
            </a:r>
            <a:endParaRPr lang="en-US" sz="9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1D091EE-2589-55E8-F516-906189C4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8" y="1219181"/>
            <a:ext cx="11212451" cy="53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25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210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13｜一般人可以做什麼？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286671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一般人可以先從小工具、網站與學習活動開始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62101"/>
            <a:ext cx="3486000" cy="371465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93076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124" y="2071615"/>
            <a:ext cx="299088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自己的小工具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5124" y="2396859"/>
            <a:ext cx="2990887" cy="1799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記帳工具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待辦事項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倒數計時器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行程整理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抽籤與隨機分組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資料整理工具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011" y="1762101"/>
            <a:ext cx="3486000" cy="371465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343011" y="1793076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568" y="2071615"/>
            <a:ext cx="299088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個人或活動網站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0568" y="2396859"/>
            <a:ext cx="2990887" cy="149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活動介紹頁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課程介紹頁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個人作品集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活動報名資訊頁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教材入口網站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38454" y="1762101"/>
            <a:ext cx="3486000" cy="3714653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038454" y="1793076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6010" y="2071615"/>
            <a:ext cx="299088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學習工具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86010" y="2396859"/>
            <a:ext cx="2990887" cy="149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小測驗與單字卡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隨機出題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配對遊戲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進度條與計分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學習地圖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568" y="5810226"/>
            <a:ext cx="10896245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起點：選一個範圍小、結果看得見、自己真的會使用的需求。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568" y="6459020"/>
            <a:ext cx="2284636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第一版的目的不是完美，而是確認方向。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2286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33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14｜族語老師可以做什麼？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族語教材可以從單一互動，逐步組成完整任務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3524113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352411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6569" y="1968645"/>
            <a:ext cx="3086110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單字學習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6569" y="2239682"/>
            <a:ext cx="3086110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圖片、族語音檔、選答案與立即回饋；也可做看圖選詞、聽音選圖與翻牌配對。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3573" y="1714427"/>
            <a:ext cx="3524113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333573" y="1741531"/>
            <a:ext cx="352411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2575" y="1968645"/>
            <a:ext cx="3086110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句子排序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2575" y="2239682"/>
            <a:ext cx="3086110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將句子拆成詞語 A–D，再包裝成搬箱子、拼火車、排隊或修復句子。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9579" y="1714427"/>
            <a:ext cx="3524235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019579" y="1741531"/>
            <a:ext cx="352423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580" y="1968645"/>
            <a:ext cx="3086231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情境會話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8580" y="2239682"/>
            <a:ext cx="3086231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市場採買、問路與自我介紹；學生完成問候、表達與回應。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568" y="3795601"/>
            <a:ext cx="3524113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7568" y="3822705"/>
            <a:ext cx="352411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569" y="4049819"/>
            <a:ext cx="3086110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闖關教材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6569" y="4320855"/>
            <a:ext cx="3086110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 → 聽力 → 句子 → 會話 → 最後完成真實情境任務。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3573" y="3795601"/>
            <a:ext cx="3524113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333573" y="3822705"/>
            <a:ext cx="3524113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2575" y="4049819"/>
            <a:ext cx="3086110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數位圖卡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2575" y="4320855"/>
            <a:ext cx="3086110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圖片、族語、中文、播放聲音、上一張與下一張；替換資料即可重複用。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9579" y="3795601"/>
            <a:ext cx="3524235" cy="1919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8019579" y="3822705"/>
            <a:ext cx="352423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580" y="4049819"/>
            <a:ext cx="3086231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課堂小工具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38580" y="4320855"/>
            <a:ext cx="3086231" cy="42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抽題、分組、計時、計分板、任務進度、QR Code 入口、教材搜尋與備課工具。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7568" y="6459020"/>
            <a:ext cx="2157712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把教材變成學生可以操作的學習經驗。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089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568585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15｜開始前先想四件事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開始前先回答四個問題：內容、功能、資料、使用者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3533672" cy="1953641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74671" y="1714427"/>
            <a:ext cx="0" cy="195364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93" y="1933435"/>
            <a:ext cx="3003228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9893" y="2154499"/>
            <a:ext cx="3003228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9893" y="2464255"/>
            <a:ext cx="3003228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網站要教什麼？例如家庭單元的十個族語單字。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69" y="1714427"/>
            <a:ext cx="3533793" cy="1953641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79672" y="1714427"/>
            <a:ext cx="0" cy="1953641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4894" y="1933435"/>
            <a:ext cx="3003349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4894" y="2154499"/>
            <a:ext cx="3003349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4894" y="2464255"/>
            <a:ext cx="3003349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播放聲音、選答案、下一題與看結果。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568" y="3839403"/>
            <a:ext cx="3533672" cy="1732577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74671" y="3839403"/>
            <a:ext cx="0" cy="1732577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93" y="4058410"/>
            <a:ext cx="3003228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9893" y="4279474"/>
            <a:ext cx="3003228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9893" y="4589230"/>
            <a:ext cx="3003228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族語、中文、圖片、音檔與正確答案。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2569" y="3839403"/>
            <a:ext cx="3533793" cy="1732577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379672" y="3839403"/>
            <a:ext cx="0" cy="1732577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4894" y="4058410"/>
            <a:ext cx="3003349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44894" y="4279474"/>
            <a:ext cx="3003349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44894" y="4589230"/>
            <a:ext cx="3003349" cy="2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年級、語言程度、裝置與使用情境。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10267" y="1714427"/>
            <a:ext cx="3333667" cy="385755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476941" y="1981108"/>
            <a:ext cx="2800319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如果是國小三年級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76941" y="2306352"/>
            <a:ext cx="2800319" cy="1456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按鈕要大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字不要太多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操作不要複雜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畫面不要塞太滿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CE6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優先考慮手機觸控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7568" y="5857778"/>
            <a:ext cx="368140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先知道誰會用，才知道網站應該長什麼樣子。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486648" y="6503063"/>
            <a:ext cx="205740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規劃不必漂亮，一張紙與一支筆就可以。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3965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568585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16｜族語聽力遊戲藍圖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把學習流程畫出來，AI 才知道每一步要發生什麼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2309740"/>
            <a:ext cx="1154055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2336844"/>
            <a:ext cx="115405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0905" y="2535281"/>
            <a:ext cx="887381" cy="230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15842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271327" y="2309740"/>
            <a:ext cx="1153934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271327" y="2336844"/>
            <a:ext cx="1153934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664" y="2535281"/>
            <a:ext cx="887260" cy="46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9480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894965" y="2309740"/>
            <a:ext cx="1154055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894965" y="2336844"/>
            <a:ext cx="115405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8302" y="2535281"/>
            <a:ext cx="887381" cy="46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3239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518723" y="2309740"/>
            <a:ext cx="1153934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518723" y="2336844"/>
            <a:ext cx="1153934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2060" y="2535281"/>
            <a:ext cx="887260" cy="46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選答案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86877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142362" y="2309740"/>
            <a:ext cx="1154055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142362" y="2336844"/>
            <a:ext cx="115405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5698" y="2535281"/>
            <a:ext cx="887381" cy="46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答對？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0636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766120" y="2309740"/>
            <a:ext cx="1153934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8766120" y="2336844"/>
            <a:ext cx="1153934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9458" y="2535281"/>
            <a:ext cx="887260" cy="230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34274" y="2694757"/>
            <a:ext cx="241265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0389758" y="2309740"/>
            <a:ext cx="1154055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0389758" y="2336844"/>
            <a:ext cx="1154055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23096" y="2535281"/>
            <a:ext cx="887381" cy="46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題完成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顯示結果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7568" y="4238576"/>
            <a:ext cx="5048051" cy="1095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不用畫得漂亮；只要能看出開始、操作、判斷、重試與完成即可。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91095" y="3857552"/>
            <a:ext cx="4762381" cy="14763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438652" y="4067001"/>
            <a:ext cx="4267267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答錯時怎麼辦？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438652" y="4345781"/>
            <a:ext cx="4267267" cy="5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 → 顯示提示，再試一次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→ 進入下一題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7568" y="5810226"/>
            <a:ext cx="10896245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清楚流程才能形成可以驗收的需求。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802325" y="6503063"/>
            <a:ext cx="1741730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流程圖也是與 AI 溝通的 Prompt。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54543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568585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17｜不要追求一次做完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不要一次蓋整棟大樓；用版本一步一步增加功能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2952652" cy="3762326"/>
          </a:xfrm>
          <a:prstGeom prst="rect">
            <a:avLst/>
          </a:prstGeom>
          <a:solidFill>
            <a:srgbClr val="FB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5403"/>
            <a:ext cx="2952652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D87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687" y="2014504"/>
            <a:ext cx="2476414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一次要求太多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5687" y="2308772"/>
            <a:ext cx="2476414" cy="121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4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首頁、登入、排行榜、題庫、動畫、音效、三種遊戲、老師後台、學生帳號、自動統計……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B4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很快做出來，也可能很快壞掉。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00351" y="1714427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V1｜先讓題目顯示出來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0351" y="2143004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V2｜加入選答案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0351" y="2571581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V3｜加入答對／答錯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00351" y="3000157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V4｜加入下一題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0351" y="3428734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V5｜加入音檔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00351" y="3857310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V6｜調整手機版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00351" y="4285887"/>
            <a:ext cx="7543582" cy="42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V7｜最後才美化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568" y="5857778"/>
            <a:ext cx="4571934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每次只新增一件事，才容易知道是哪個功能出了問題。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72308" y="6503063"/>
            <a:ext cx="217174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小步驟、立即測試、保留上一個可用版本。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473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210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18｜功能優先，溝通具體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先求能用，再求漂亮；修改時要說清楚哪些能動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1762101"/>
            <a:ext cx="4667037" cy="3428976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33238" y="2019223"/>
            <a:ext cx="4095696" cy="30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建議順序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3238" y="2328979"/>
            <a:ext cx="4095696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1｜功能能不能用？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3238" y="2900454"/>
            <a:ext cx="4095696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2｜流程順不順？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3238" y="3471930"/>
            <a:ext cx="4095696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3｜手機好不好操作？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3238" y="4043406"/>
            <a:ext cx="4095696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4｜最後才做視覺美化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14857" y="1762101"/>
            <a:ext cx="5829077" cy="1000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714857" y="1789204"/>
            <a:ext cx="582907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D87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418" y="2016319"/>
            <a:ext cx="5371956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不太好的說法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943418" y="2295099"/>
            <a:ext cx="5371956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A3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「幫我改漂亮一點。」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714857" y="2933487"/>
            <a:ext cx="5829077" cy="22573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714857" y="2960591"/>
            <a:ext cx="582907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418" y="3187705"/>
            <a:ext cx="5371956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比較好的說法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418" y="3466485"/>
            <a:ext cx="5371956" cy="47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保留目前所有功能。只修改首頁視覺。使用米白底色，標題置中，主按鈕放大。手機畫面不要左右捲動。不要修改題庫與答題功能。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568" y="5667327"/>
            <a:ext cx="10896245" cy="60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說清楚「要改什麼」與「不能改什麼」，能降低 AI 大幅重寫的風險。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86648" y="6531740"/>
            <a:ext cx="205740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動畫與特效不能取代可用的下一題按鈕。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4460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4651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19｜Debug 也需要說清楚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網站壞掉時，用預期、實際、重現、限制四段回報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4428917" cy="819039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74671" y="1714427"/>
            <a:ext cx="0" cy="819039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2220" y="1866765"/>
            <a:ext cx="39938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1｜預期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2220" y="2114569"/>
            <a:ext cx="399381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按「下一題」後，應顯示第二題。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7568" y="2657247"/>
            <a:ext cx="4428917" cy="819039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74671" y="2657247"/>
            <a:ext cx="0" cy="819039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2220" y="2809585"/>
            <a:ext cx="39938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2｜實際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2220" y="3057390"/>
            <a:ext cx="399381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按下去完全沒有反應。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7568" y="3600068"/>
            <a:ext cx="4428917" cy="819039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74671" y="3600068"/>
            <a:ext cx="0" cy="819039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220" y="3752405"/>
            <a:ext cx="39938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3｜重現步驟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2220" y="4000210"/>
            <a:ext cx="399381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第一題 → 選答案 → 按下一題。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7568" y="4542888"/>
            <a:ext cx="4428917" cy="819039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74671" y="4542888"/>
            <a:ext cx="0" cy="819039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220" y="4695225"/>
            <a:ext cx="399381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4｜修改限制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2220" y="4943030"/>
            <a:ext cx="3993818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不要動題庫、圖片與計分功能。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9066" y="1714427"/>
            <a:ext cx="6114868" cy="3810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714736" y="1961990"/>
            <a:ext cx="5543528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可以直接貼給 AI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714736" y="2240771"/>
            <a:ext cx="5543528" cy="14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預期：按下「下一題」後顯示下一題。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實際：按下後畫面沒有反應。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重現：進入第一題 → 選答案 → 按下一題。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請先找出問題原因，只修這個功能。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不要重寫整個網站，也不要修改其他已正常的功能。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568" y="5905452"/>
            <a:ext cx="386544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不要只說「壞了」；要說明結果與期待的差異。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86637" y="6512622"/>
            <a:ext cx="2457418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 → 第一版 → 測試 → 問題 → 修改 → 再測試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08626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33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20｜網站最重要的三個東西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懂一點網站地圖，就能判斷問題大概在哪一區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1762101"/>
            <a:ext cx="3486000" cy="31908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96948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9695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242" y="2098477"/>
            <a:ext cx="2952652" cy="39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914242" y="2493416"/>
            <a:ext cx="2952652" cy="25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網頁有什麼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242" y="2749206"/>
            <a:ext cx="2952652" cy="5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標題、文字、圖片、按鈕與題目等內容結構。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011" y="1762101"/>
            <a:ext cx="3486000" cy="31908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43011" y="1796948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9695">
            <a:solidFill>
              <a:srgbClr val="F0C7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9685" y="2098477"/>
            <a:ext cx="2952652" cy="39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4609685" y="2493416"/>
            <a:ext cx="2952652" cy="25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網頁長怎樣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09685" y="2749206"/>
            <a:ext cx="2952652" cy="5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顏色、大小、位置、間距與手機版排列。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38454" y="1762101"/>
            <a:ext cx="3486000" cy="31908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038454" y="1796948"/>
            <a:ext cx="34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69695">
            <a:solidFill>
              <a:srgbClr val="2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5128" y="2098477"/>
            <a:ext cx="2952652" cy="39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8305128" y="2493416"/>
            <a:ext cx="2952652" cy="25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網頁會做什麼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5128" y="2749206"/>
            <a:ext cx="2952652" cy="5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點擊、切題、計分、播放音檔與判斷答案。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7568" y="5286302"/>
            <a:ext cx="10896245" cy="781045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76128" y="5438640"/>
            <a:ext cx="3238322" cy="47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按鈕不見了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先看 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1124" y="5438640"/>
            <a:ext cx="3238322" cy="47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按鈕太小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先看 CSS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6120" y="5438640"/>
            <a:ext cx="3238322" cy="476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按鈕存在但沒反應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先看 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308" y="6531740"/>
            <a:ext cx="217174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不用會全部寫，但要知道每一區負責什麼。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3033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210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21｜前端、後端與資料庫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需要儲存與讀取資料時，就會遇到前端、後端與資料庫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2428802"/>
            <a:ext cx="1238146" cy="1238177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095157" y="2846610"/>
            <a:ext cx="304909" cy="40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09509" y="2190677"/>
            <a:ext cx="2381190" cy="1714427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609509" y="2221653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7628" y="2490753"/>
            <a:ext cx="1904952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847628" y="2815998"/>
            <a:ext cx="1904952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學生看得到的題目、圖片、按鈕與遊戲畫面。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0143" y="2846610"/>
            <a:ext cx="304909" cy="40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714494" y="2190677"/>
            <a:ext cx="2381190" cy="1714427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714494" y="2221653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2613" y="2490753"/>
            <a:ext cx="1904952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52613" y="2815998"/>
            <a:ext cx="1904952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讀資料、存資料、計算與整理等處理。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05128" y="2846610"/>
            <a:ext cx="304909" cy="40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819480" y="2190677"/>
            <a:ext cx="2381190" cy="1714427"/>
          </a:xfrm>
          <a:prstGeom prst="rect">
            <a:avLst/>
          </a:prstGeom>
          <a:solidFill>
            <a:srgbClr val="F2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819480" y="2221653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7599" y="2490753"/>
            <a:ext cx="1904952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57599" y="2815998"/>
            <a:ext cx="1904952" cy="44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保存題目、答案、教材與作答紀錄。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568" y="4571927"/>
            <a:ext cx="10896245" cy="1190625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14242" y="4800494"/>
            <a:ext cx="10362898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什麼時候需要？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4242" y="5079274"/>
            <a:ext cx="10362898" cy="247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讀取題庫、儲存資料、記錄作答、建立老師後台或登入系統時。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568" y="6459020"/>
            <a:ext cx="2348038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簡單記法：學生 → 前端 → 後端 → 資料庫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1667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33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22｜族語老師的五級起步法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477238" cy="57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從一頁教材走到 Web App，分五級逐步增加難度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47568" y="3333750"/>
            <a:ext cx="2057286" cy="22859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3360854"/>
            <a:ext cx="2057286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15" y="3578409"/>
            <a:ext cx="1676392" cy="189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015" y="3767651"/>
            <a:ext cx="167639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一頁式教材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015" y="4015455"/>
            <a:ext cx="1676392" cy="37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課文、圖片、音檔與簡單按鈕。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57186" y="3000278"/>
            <a:ext cx="2057286" cy="26193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857186" y="3027382"/>
            <a:ext cx="2057286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7633" y="3244937"/>
            <a:ext cx="1676392" cy="189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47633" y="3434179"/>
            <a:ext cx="167639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互動式教材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47633" y="3681984"/>
            <a:ext cx="1676392" cy="37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選擇題、播放、配對、排序與計分。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66805" y="2666927"/>
            <a:ext cx="2057286" cy="29527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066805" y="2694031"/>
            <a:ext cx="2057286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252" y="2911586"/>
            <a:ext cx="1676392" cy="189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252" y="3100828"/>
            <a:ext cx="167639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教材資料分開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252" y="3348633"/>
            <a:ext cx="1676392" cy="37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網站結構重複用，只替換教材資料。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76425" y="2285903"/>
            <a:ext cx="2057286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276425" y="2313007"/>
            <a:ext cx="2057286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6871" y="2530562"/>
            <a:ext cx="1676392" cy="189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66871" y="2719804"/>
            <a:ext cx="167639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Sheet＋GAS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66871" y="2967609"/>
            <a:ext cx="1676392" cy="37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改題目，網站讀取資料，也可寫回作答。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86043" y="1905000"/>
            <a:ext cx="2057286" cy="37146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9486043" y="1932104"/>
            <a:ext cx="2057286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76490" y="2149659"/>
            <a:ext cx="1676392" cy="189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76490" y="2338901"/>
            <a:ext cx="167639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公開上線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76490" y="2586705"/>
            <a:ext cx="1676392" cy="37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下載、測試、部署、取得網址，讓學生手機使用。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7568" y="5905452"/>
            <a:ext cx="482759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裡看得到，不代表學生看得到；部署也是作品的一部分。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871629" y="6512622"/>
            <a:ext cx="2672426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App＝能與資料交換、可持續更新的網路應用。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43256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514244"/>
            <a:ext cx="2452457" cy="1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第三章｜Vibe Coding 重要準備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7568" y="1142952"/>
            <a:ext cx="6857780" cy="1238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先畫流程，</a:t>
            </a:r>
            <a:endParaRPr lang="en-US" sz="3450" dirty="0"/>
          </a:p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再叫 AI 動手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47568" y="2714601"/>
            <a:ext cx="6191095" cy="1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從「我有一個想法」，走到「AI 真的做得出來」：先把需求、步驟與畫面變成看得見的藍圖。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62711" y="876271"/>
            <a:ext cx="3428890" cy="4333802"/>
          </a:xfrm>
          <a:prstGeom prst="rect">
            <a:avLst/>
          </a:prstGeom>
          <a:solidFill>
            <a:srgbClr val="132B49"/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21121" y="1463235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597359" y="2082384"/>
            <a:ext cx="266795" cy="35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21121" y="2606186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597359" y="3225335"/>
            <a:ext cx="266795" cy="35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21121" y="3749259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435319" y="4661224"/>
            <a:ext cx="2514528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一張紙、一支筆就可以開始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568" y="5219632"/>
            <a:ext cx="7238795" cy="666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規劃的目的不是增加工作，而是少讓 AI 猜、少走回頭路。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568" y="6440023"/>
            <a:ext cx="1583588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先畫清楚，再交給 AI 執行。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995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625695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23｜為什麼更需要先規劃？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規劃讓 AI 少猜，也讓老師提早發現未決定的地方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4476590" cy="333375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33238" y="2000105"/>
            <a:ext cx="3905249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一句「做族語遊戲」還不夠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3238" y="2325349"/>
            <a:ext cx="3905249" cy="1104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不知道學生年齡、題數、音檔、答錯處理、計分方式、使用裝置與結果頁。</a:t>
            </a:r>
            <a:endParaRPr lang="en-US" sz="1450" dirty="0"/>
          </a:p>
          <a:p>
            <a:pPr marL="0" indent="0" algn="l">
              <a:buNone/>
            </a:pP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沒有說清楚的地方，AI 就會自己補答案。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29066" y="1714427"/>
            <a:ext cx="6114868" cy="10191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460041" y="1714427"/>
            <a:ext cx="0" cy="101917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0459" y="1885761"/>
            <a:ext cx="563403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減少亂補功能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00459" y="2156798"/>
            <a:ext cx="5634032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避免自動加入登入、排行榜、商城、角色系統或大量動畫。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29066" y="2866938"/>
            <a:ext cx="6114868" cy="10191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460041" y="2866938"/>
            <a:ext cx="0" cy="101917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0459" y="3038272"/>
            <a:ext cx="563403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節省反覆重改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00459" y="3309308"/>
            <a:ext cx="5634032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先確認核心流程，降低「改了 A，卻弄壞 B、C」的機率。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29066" y="4019448"/>
            <a:ext cx="6114868" cy="10191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460041" y="4019448"/>
            <a:ext cx="0" cy="1019170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0459" y="4190782"/>
            <a:ext cx="5634032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發現自己的問號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00459" y="4461819"/>
            <a:ext cx="5634032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答錯後要重試、提示、公布答案或扣分？流程會逼我們做決定。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568" y="5429202"/>
            <a:ext cx="10896245" cy="61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先確定：誰使用、要完成什麼、會做哪些動作、需要哪些資料。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9321" y="6531740"/>
            <a:ext cx="1654734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規劃的第一個目的：少讓 AI 猜。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80413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35902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24｜開始前的四個問題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開始前回答四個問題，需求就會從模糊變得可執行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5362397" cy="189072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536239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28" y="2016198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7595" y="2035315"/>
            <a:ext cx="409569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誰要用？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47595" y="2360559"/>
            <a:ext cx="40956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國小三年級族語初學者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影響字體、按鈕、文字量、難度與操作。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294" y="1714427"/>
            <a:ext cx="5362518" cy="189072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181294" y="1741531"/>
            <a:ext cx="5362518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855" y="2016198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81322" y="2035315"/>
            <a:ext cx="409581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要完成什麼？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81322" y="2360559"/>
            <a:ext cx="409581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辨認 10 個家庭單字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聚焦一個核心學習目標。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568" y="3776483"/>
            <a:ext cx="5362397" cy="165259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47568" y="3803587"/>
            <a:ext cx="536239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128" y="4078254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7595" y="4097371"/>
            <a:ext cx="409569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學生會做什麼？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47595" y="4422615"/>
            <a:ext cx="4095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播放聲音、選答案、重新作答、下一題、查看結果。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294" y="3776483"/>
            <a:ext cx="5362518" cy="165259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181294" y="3803587"/>
            <a:ext cx="5362518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855" y="4078254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81322" y="4097371"/>
            <a:ext cx="409581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需要什麼資料？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81322" y="4422615"/>
            <a:ext cx="40958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族語、中文、圖片、音檔與正確答案。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568" y="5762552"/>
            <a:ext cx="3529074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四個答案，就是交給 AI 的最小需求藍圖。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91020" y="6531740"/>
            <a:ext cx="1453034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 × 目標 × 動作 × 資料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464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35902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工具詞彙｜先翻成人話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先記中文意思，再看英文名稱，就不會被專有名詞嚇到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7568" y="1714427"/>
            <a:ext cx="5362397" cy="189072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41531"/>
            <a:ext cx="536239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28" y="2016198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7595" y="2035315"/>
            <a:ext cx="409569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使用者流程（User Flow）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47595" y="2360559"/>
            <a:ext cx="40956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像走關卡：學生從開始到完成，一步一步怎麼操作。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294" y="1714427"/>
            <a:ext cx="5362518" cy="189072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181294" y="1741531"/>
            <a:ext cx="5362518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855" y="2016198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81322" y="2035315"/>
            <a:ext cx="409581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流程圖（Flowchart）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81322" y="2360559"/>
            <a:ext cx="409581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把步驟、選擇與下一步，用方框和箭頭畫出來。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7568" y="3776483"/>
            <a:ext cx="5362397" cy="165259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47568" y="3803587"/>
            <a:ext cx="5362397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128" y="4078254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7595" y="4097371"/>
            <a:ext cx="409569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畫面草圖（Wireframe）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47595" y="4422615"/>
            <a:ext cx="4095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先畫標題、圖片和按鈕放哪裡，暫時不管漂不漂亮。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294" y="3776483"/>
            <a:ext cx="5362518" cy="165259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181294" y="3803587"/>
            <a:ext cx="5362518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855" y="4078254"/>
            <a:ext cx="514231" cy="51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81322" y="4097371"/>
            <a:ext cx="4095817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Mermaid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81322" y="4422615"/>
            <a:ext cx="40958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一種用文字產生流程圖的格式；可以請 AI 寫，不用背語法。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568" y="5762552"/>
            <a:ext cx="3529074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先說中文：怎麼走、怎麼畫、畫面怎麼排。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91020" y="6531740"/>
            <a:ext cx="1453034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英文名稱只是方便和 AI 溝通。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80114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587097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25｜第一張圖：使用者流程（User Flow）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使用者流程，就是學生從開始到完成，一步一步怎麼操作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762101"/>
            <a:ext cx="1107713" cy="5523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785332"/>
            <a:ext cx="1107713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0504" y="1898829"/>
            <a:ext cx="21258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D39B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158317" y="1762101"/>
            <a:ext cx="1107592" cy="5523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158317" y="1785332"/>
            <a:ext cx="1107592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1133" y="1898829"/>
            <a:ext cx="21258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D39B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668945" y="1762101"/>
            <a:ext cx="1107592" cy="5523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668945" y="1785332"/>
            <a:ext cx="1107592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1761" y="1898829"/>
            <a:ext cx="21258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D39B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79574" y="1762101"/>
            <a:ext cx="1107592" cy="5523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179574" y="1785332"/>
            <a:ext cx="1107592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389" y="1898829"/>
            <a:ext cx="21258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D39B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690202" y="1762101"/>
            <a:ext cx="1196161" cy="552358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123833" y="2638251"/>
            <a:ext cx="2523965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150936" y="2638251"/>
            <a:ext cx="0" cy="95250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486" y="2790588"/>
            <a:ext cx="2088865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368486" y="3022905"/>
            <a:ext cx="2088865" cy="41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顯示提示，不公布答案，再試一次。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38245" y="2638251"/>
            <a:ext cx="2523965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865348" y="2638251"/>
            <a:ext cx="0" cy="95250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2898" y="2790588"/>
            <a:ext cx="2088865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82898" y="3022905"/>
            <a:ext cx="2088865" cy="41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下一題 → 完成 10 題 → 顯示結果。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626" y="1762101"/>
            <a:ext cx="2857429" cy="3810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953301" y="2028781"/>
            <a:ext cx="2324081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把操作當成走關卡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953301" y="2323050"/>
            <a:ext cx="2324081" cy="128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學生從哪裡開始？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按了什麼？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畫面怎麼回應？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答對和答錯去哪裡？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什麼時候算完成？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07113" y="6531740"/>
            <a:ext cx="1436942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Flow（使用者流程）＝從開始到完成怎麼走。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5334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35902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26｜把操作步驟畫成流程圖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流程圖就是把「先做什麼、遇到選擇怎麼辦、下一步去哪裡」畫出來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3809905" cy="9525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18897" y="1886003"/>
            <a:ext cx="1000027" cy="514244"/>
          </a:xfrm>
          <a:prstGeom prst="rect">
            <a:avLst/>
          </a:prstGeom>
          <a:solidFill>
            <a:srgbClr val="FFFFFF"/>
          </a:solidFill>
          <a:ln w="23232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028368" y="1910808"/>
            <a:ext cx="1313769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方框＝做一件事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28368" y="2181844"/>
            <a:ext cx="1313769" cy="1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例如播放聲音、顯示題目。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7568" y="2790709"/>
            <a:ext cx="3809905" cy="9525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18897" y="3009837"/>
            <a:ext cx="1000027" cy="514244"/>
          </a:xfrm>
          <a:prstGeom prst="rect">
            <a:avLst/>
          </a:prstGeom>
          <a:solidFill>
            <a:srgbClr val="10243E"/>
          </a:solidFill>
          <a:ln w="23232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028368" y="3034642"/>
            <a:ext cx="1459689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判斷＝遇到選擇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28368" y="3305678"/>
            <a:ext cx="1459689" cy="1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例如答對了嗎？全部完成了嗎？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568" y="3914543"/>
            <a:ext cx="3809905" cy="9525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028368" y="4158476"/>
            <a:ext cx="1021807" cy="27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箭頭＝下一步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28368" y="4429512"/>
            <a:ext cx="1021807" cy="1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告訴我們接下來要去哪裡。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57604" y="1666875"/>
            <a:ext cx="6686329" cy="3428976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162392" y="1933556"/>
            <a:ext cx="6076754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新手提示詞：先整理，不要急著寫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162392" y="2227824"/>
            <a:ext cx="607675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「我要做一個 10 題族語聽力遊戲，答錯給提示、答對才能下一題。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請先不要寫程式。請幫我：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檢查有沒有漏掉步驟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整理成文字流程圖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找出還需要我決定的地方」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568" y="5476875"/>
            <a:ext cx="10896245" cy="52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如果想要正式圖表，可請 AI：『把剛才的文字流程轉成 Mermaid 流程圖。』Mermaid 只是文字畫流程圖的格式，不用背語法。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72450" y="6531740"/>
            <a:ext cx="1371604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先確認流程，再產生程式。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56671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625695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27｜哪些教材適合畫流程？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幾乎所有互動教材，都能先畫成一條可檢查的路徑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5362397" cy="18668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78543" y="1666875"/>
            <a:ext cx="0" cy="1866885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8078" y="1876323"/>
            <a:ext cx="4843327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單字與聽力遊戲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38078" y="2170592"/>
            <a:ext cx="4843327" cy="2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圖片／音檔 → 選答案 → 正確或提示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294" y="1666875"/>
            <a:ext cx="5362518" cy="18668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212269" y="1666875"/>
            <a:ext cx="0" cy="1866885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1805" y="1876323"/>
            <a:ext cx="4843448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句子排序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471805" y="2170592"/>
            <a:ext cx="4843448" cy="2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散亂詞語 → 排序 → 檢查 → 正確／提示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568" y="3705094"/>
            <a:ext cx="5362397" cy="186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78543" y="3705094"/>
            <a:ext cx="0" cy="1867007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F0C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078" y="3914543"/>
            <a:ext cx="4843327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RPG 闖關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38078" y="4208811"/>
            <a:ext cx="4843327" cy="2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任務入口 → 第一關 → 第二關 → Boss → 完成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1294" y="3705094"/>
            <a:ext cx="5362518" cy="186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212269" y="3705094"/>
            <a:ext cx="0" cy="1867007"/>
          </a:xfrm>
          <a:prstGeom prst="line">
            <a:avLst/>
          </a:prstGeom>
          <a:solidFill>
            <a:srgbClr val="FFFFFF">
              <a:alpha val="0"/>
            </a:srgbClr>
          </a:solidFill>
          <a:ln w="61951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1805" y="3914543"/>
            <a:ext cx="4843448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密室逃脫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471805" y="4208811"/>
            <a:ext cx="4843448" cy="2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取得線索 → 解題 → 判斷 → 密碼／再找線索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568" y="5905452"/>
            <a:ext cx="423363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流程圖會先暴露：哪裡需要回饋、分支與完成條件。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058110" y="6531740"/>
            <a:ext cx="1485945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互動越多，越值得先畫流程。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39908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6398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28｜第二張圖：畫面草圖（Wireframe）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畫面草圖就是先畫東西放哪裡，不需要先做得漂亮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4857604" cy="4095677"/>
          </a:xfrm>
          <a:prstGeom prst="rect">
            <a:avLst/>
          </a:prstGeom>
          <a:solidFill>
            <a:srgbClr val="F7F9FC"/>
          </a:solidFill>
          <a:ln w="23232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1246" y="1880558"/>
            <a:ext cx="4430248" cy="22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題／10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19178" y="2280458"/>
            <a:ext cx="1714384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981058" y="2908924"/>
            <a:ext cx="2190623" cy="952500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8CA0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1357" y="4032758"/>
            <a:ext cx="1857280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123861" y="4032758"/>
            <a:ext cx="1857401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171357" y="4566120"/>
            <a:ext cx="1857280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23861" y="4566120"/>
            <a:ext cx="1857401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314401" y="5156592"/>
            <a:ext cx="1523938" cy="400021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000527" y="1666875"/>
            <a:ext cx="5543407" cy="972828"/>
          </a:xfrm>
          <a:prstGeom prst="rect">
            <a:avLst/>
          </a:prstGeom>
          <a:solidFill>
            <a:srgbClr val="E8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29088" y="1857327"/>
            <a:ext cx="508628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現在先決定位置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29088" y="2182571"/>
            <a:ext cx="5086286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標題、圖片、播放按鈕、答案與進度放在哪裡；手機怎麼排列。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00527" y="2639703"/>
            <a:ext cx="5543407" cy="972828"/>
          </a:xfrm>
          <a:prstGeom prst="rect">
            <a:avLst/>
          </a:prstGeom>
          <a:solidFill>
            <a:srgbClr val="F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229088" y="2830154"/>
            <a:ext cx="508628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現在不用美化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29088" y="3155398"/>
            <a:ext cx="5086286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先不管漂亮圖片、顏色、字體、陰影、動畫與特殊效果。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00527" y="3612530"/>
            <a:ext cx="5543407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可以直接用紙筆畫方框，拍照交給 AI，通常比長篇描述位置更清楚。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80800" y="6531740"/>
            <a:ext cx="1363256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Wireframe（畫面草圖）＝先畫位置，不畫細節。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31330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2025827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29｜三種藍圖，各自解決一個問題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流程圖管怎麼走，畫面草圖管長怎樣；資料流管資料去哪裡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5343401" cy="17144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3979"/>
            <a:ext cx="5343401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242" y="1949648"/>
            <a:ext cx="4810053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流程圖（Flowchart）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242" y="2274892"/>
            <a:ext cx="4810053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把操作步驟、選擇、重試與完成條件畫出來。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00412" y="1666875"/>
            <a:ext cx="5343401" cy="17144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200412" y="1693979"/>
            <a:ext cx="5343401" cy="0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7086" y="1949648"/>
            <a:ext cx="4810053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畫面草圖（Wireframe）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67086" y="2274892"/>
            <a:ext cx="4810053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把標題、圖片、按鈕與資訊的位置畫出來。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7568" y="3714653"/>
            <a:ext cx="10896245" cy="195255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14242" y="3981334"/>
            <a:ext cx="10362898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需要讀取或儲存資料時，再把資料從哪裡來、經過哪裡、最後去哪裡畫出來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514500" y="4275602"/>
            <a:ext cx="1809608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638278" y="4647188"/>
            <a:ext cx="15620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前端網站（Frontend）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14555" y="4472830"/>
            <a:ext cx="260382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3965384" y="4275602"/>
            <a:ext cx="1809608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089162" y="4647188"/>
            <a:ext cx="15620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GAS／後端（Backend）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65438" y="4472830"/>
            <a:ext cx="260382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50" dirty="0"/>
          </a:p>
        </p:txBody>
      </p:sp>
      <p:sp>
        <p:nvSpPr>
          <p:cNvPr id="21" name="Shape 19"/>
          <p:cNvSpPr/>
          <p:nvPr/>
        </p:nvSpPr>
        <p:spPr>
          <a:xfrm>
            <a:off x="6416268" y="4275602"/>
            <a:ext cx="1809608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40046" y="4647188"/>
            <a:ext cx="15620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Sheet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6322" y="4472830"/>
            <a:ext cx="260382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50" dirty="0"/>
          </a:p>
        </p:txBody>
      </p:sp>
      <p:sp>
        <p:nvSpPr>
          <p:cNvPr id="24" name="Shape 22"/>
          <p:cNvSpPr/>
          <p:nvPr/>
        </p:nvSpPr>
        <p:spPr>
          <a:xfrm>
            <a:off x="8867152" y="4275602"/>
            <a:ext cx="1809608" cy="7429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990930" y="4647188"/>
            <a:ext cx="15620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寫回 Sheet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568" y="5953125"/>
            <a:ext cx="2914659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流程圖＋畫面草圖＋資料流＝完整藍圖。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58088" y="6531740"/>
            <a:ext cx="228596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先用中文理解功能，英文只用來和 AI 溝通。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03658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30｜藍圖完成後的開工提示詞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做好藍圖後，用有條理的提示詞限定功能、流程與邊界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族語聽力網頁應用｜需求摘要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使用者：國小三年級族語初學者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學習目標：辨認 10 個家庭單字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功能：播放音檔、三張圖片、答錯提示、答對進下一題、顯示題數與結果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流程：開始 → 播放 → 選圖片 → 判斷 → 提示／下一題 → 完成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畫面：依照提供的畫面草圖製作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限制：第一版只做基本功能；不要加入登入、排行榜、動畫或其他未要求功能。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請先：1. 重述理解　2. 列出功能　3. 指出缺少資訊　4. 確認後再做第一版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限定使用者與目標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知道對象與成功標準。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提供流程與畫面草圖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 AI 猜測操作和位置。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明確列出限制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 AI 哪些功能現在不要做。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要求先重述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產生程式前先對齊理解。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好的提示詞（Prompt）不是更長，而是結構更清楚。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98391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299854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31｜第一版先求能用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第一版的任務，是證明核心流程能跑，不是一次完成所有功能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4000351" cy="3714653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242" y="1933556"/>
            <a:ext cx="3467004" cy="34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MVP＝最小但可以使用的版本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14242" y="2282031"/>
            <a:ext cx="3467004" cy="53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先做最核心的功能，確認真的能操作；其他功能之後再一個一個加入。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242" y="2815392"/>
            <a:ext cx="3467004" cy="60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先跑通：出題 → 回答 → 判斷 → 下一題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52828" y="2762274"/>
            <a:ext cx="1000027" cy="9048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952828" y="2785506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6165" y="2942078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6165" y="3158907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可以出題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48078" y="2571823"/>
            <a:ext cx="1000027" cy="10952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048078" y="2595054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416" y="2751626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416" y="2968456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加入回答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43330" y="2381250"/>
            <a:ext cx="1000027" cy="12858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143330" y="2404482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6666" y="2561054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76666" y="2777883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加入聲音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38580" y="2190798"/>
            <a:ext cx="1000027" cy="14763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238580" y="2214030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1917" y="2370602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71917" y="2587431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加入提示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33831" y="2000226"/>
            <a:ext cx="1000027" cy="1666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9333831" y="2023457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7168" y="2180030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67168" y="2396859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手機調整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429082" y="1809774"/>
            <a:ext cx="1000027" cy="18573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0429082" y="1833006"/>
            <a:ext cx="1000027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62419" y="1989578"/>
            <a:ext cx="733353" cy="21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62419" y="2206407"/>
            <a:ext cx="733353" cy="18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最後美化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52828" y="4000451"/>
            <a:ext cx="6591106" cy="1381077"/>
          </a:xfrm>
          <a:prstGeom prst="rect">
            <a:avLst/>
          </a:prstGeom>
          <a:solidFill>
            <a:srgbClr val="F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190947" y="4209900"/>
            <a:ext cx="6114868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新手常見錯誤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90947" y="4457705"/>
            <a:ext cx="6114868" cy="45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功能一次放太多；還不能用就先美化；讓 AI 決定全部；壞掉就整個重寫；沒有測試就繼續加功能。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7568" y="5810226"/>
            <a:ext cx="4417665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接受第一版很普通：它的任務只是證明核心流程能跑。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943890" y="6531740"/>
            <a:ext cx="1600165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先能用，再穩定，最後才漂亮。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94350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32｜最安全的 Vibe Coding 流程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最安全的流程，是每一階段只回答一個問題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想解決什麼問題？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誰要使用？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列出核心功能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 User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 Wireframe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整理資料需求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做第一版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自己實際操作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一次修改一件事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核心功能穩定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再調整視覺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測試並上線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每次只改一件事，才知道問題從哪裡來，也知道可以退回哪個版本。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 → 設計 → 生成 → 測試 → 修改 → 上線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31026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5903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33｜綜合案例：句子搬運遊戲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句子搬運遊戲先畫清楚，AI 才能做出正確的互動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5619512" cy="3524201"/>
          </a:xfrm>
          <a:prstGeom prst="rect">
            <a:avLst/>
          </a:prstGeom>
          <a:solidFill>
            <a:srgbClr val="132B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95124" y="1914438"/>
            <a:ext cx="512439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Flow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95124" y="2193218"/>
            <a:ext cx="5124399" cy="205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播放句子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顯示散亂單詞箱子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學生拖曳並按確認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順序正確？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 → 提示並繼續調整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→ 箱子上車 → 選中文翻譯 → 下一題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7018" y="1666875"/>
            <a:ext cx="4667037" cy="352420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082953" y="1872814"/>
            <a:ext cx="4255168" cy="40002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505590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381839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9258088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134337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082953" y="3278817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2953" y="3914543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6179" y="4158597"/>
            <a:ext cx="1428714" cy="400021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7568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第一：Flowchart 處理「怎麼走」。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36719" y="5524427"/>
            <a:ext cx="3517943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第二：Wireframe 處理「長怎樣」。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25991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第三：AI 協助實作，系統仍由老師決定。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65752" y="6550736"/>
            <a:ext cx="2978303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 真正的開始：先拿出一張紙，把想法畫清楚。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28981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514244"/>
            <a:ext cx="2452457" cy="1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第四章｜Vibe Coding 網頁必備知識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7568" y="1142952"/>
            <a:ext cx="6857780" cy="1238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看懂網頁，</a:t>
            </a:r>
            <a:endParaRPr lang="en-US" sz="3450" dirty="0"/>
          </a:p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才知道怎麼指揮 AI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47568" y="2714601"/>
            <a:ext cx="6191095" cy="1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不必精通每一行程式，但要能分辨結構、樣式、互動、路徑與部署，才能下更精準的指令。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62711" y="876271"/>
            <a:ext cx="3428890" cy="4333802"/>
          </a:xfrm>
          <a:prstGeom prst="rect">
            <a:avLst/>
          </a:prstGeom>
          <a:solidFill>
            <a:srgbClr val="132B49"/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21121" y="1463235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597359" y="2082384"/>
            <a:ext cx="266795" cy="35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21121" y="2606186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597359" y="3225335"/>
            <a:ext cx="266795" cy="356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21121" y="3749259"/>
            <a:ext cx="1142923" cy="552358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435319" y="4661224"/>
            <a:ext cx="2514528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568" y="5219632"/>
            <a:ext cx="7238795" cy="666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網頁基礎是開發者的「溝通工具箱」：能說清楚，也能在出錯時知道該看哪裡。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568" y="6440023"/>
            <a:ext cx="1583588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資料整理：STEAM 教育學習網／OXXO.STUDIO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09354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34｜本章快速導覽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十個網頁觀念，讓 Vibe Coding 從盲目嘗試變成可判斷的開發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網址與路徑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靜態與動態網頁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HTML、CSS、JavaScript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基本架構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 與 JS 載入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響應式設計 RWD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網頁圖片格式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觀察與除錯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開發環境與部署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 的限制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從錯誤描述問題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正式分享與維護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學習順序：先看得懂網頁，再學會請 AI 修改，最後把作品部署給學生使用。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 → 樣式 → 互動 → 除錯 → 上線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46224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35｜認識網址與路徑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圖片破圖或連結失效，常常不是程式壞掉，而是路徑指錯地方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網址與路徑｜溝通範例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 URL：像房子的完整門牌，通常以 https:// 開頭。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絕對路徑：完整寫出資源網址，位置明確，但網址更換時每一處都要修改。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相對路徑：./ 代表目前資料夾，../ 代表上一層；也是新手最常出錯的地方。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看到圖片破圖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先檢查 img 的 src 路徑與檔名。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點連結到錯誤頁面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先檢查 a 標籤的 href 是否正確。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大小寫也會影響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image.jpg 和 Image.jpg 可能不同。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AI 的說法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保留功能，只檢查圖片與連結路徑。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路徑問題＝資源存在，但網頁找不到它。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64691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5903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36｜靜態網頁 vs 動態網頁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新手先從靜態網頁開始；需要帳號、資料與後台時，才進入動態網頁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5619512" cy="3524201"/>
          </a:xfrm>
          <a:prstGeom prst="rect">
            <a:avLst/>
          </a:prstGeom>
          <a:solidFill>
            <a:srgbClr val="132B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95124" y="1914438"/>
            <a:ext cx="512439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靜態網頁 Static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95124" y="2193218"/>
            <a:ext cx="5124399" cy="205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內容固定，主要由 HTML、CSS、JavaScript 組成。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速度快、成本低、安全性較高。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適合教材入口、活動頁與簡單互動作品。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7018" y="1666875"/>
            <a:ext cx="4667037" cy="352420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082953" y="1872814"/>
            <a:ext cx="4255168" cy="40002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505590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381839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9258088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134337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082953" y="3278817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2953" y="3914543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6179" y="4158597"/>
            <a:ext cx="1428714" cy="400021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7568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動態網頁：內容依使用者、時間或資料改變。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36719" y="5524427"/>
            <a:ext cx="3517943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需要後端與資料庫：登入、作答紀錄、老師後台。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25991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新手建議：先做靜態原型，再逐步串接資料。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65752" y="6550736"/>
            <a:ext cx="2978303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先問：所有人看到的內容是否相同？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77309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759032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37｜認識網頁三本柱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管內容、CSS 管外觀、JavaScript 管互動，三者合作才是完整網頁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5619512" cy="3524201"/>
          </a:xfrm>
          <a:prstGeom prst="rect">
            <a:avLst/>
          </a:prstGeom>
          <a:solidFill>
            <a:srgbClr val="132B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95124" y="1914438"/>
            <a:ext cx="5124399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0C7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三本柱的分工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95124" y="2193218"/>
            <a:ext cx="5124399" cy="205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HTML｜網頁有什麼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標題、段落、圖片、按鈕與表格。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CSS｜網頁長怎樣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顏色、字體、尺寸、間距與手機排版。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JavaScript｜網頁會做什麼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點擊、換題、計分、播放與資料處理。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7018" y="1666875"/>
            <a:ext cx="4667037" cy="352420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3B587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082953" y="1872814"/>
            <a:ext cx="4255168" cy="400021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505590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381839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9258088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134337" y="2501401"/>
            <a:ext cx="781026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F0C7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082953" y="3278817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2953" y="3914543"/>
            <a:ext cx="4255168" cy="0"/>
          </a:xfrm>
          <a:prstGeom prst="line">
            <a:avLst/>
          </a:prstGeom>
          <a:solidFill>
            <a:srgbClr val="FFFFFF">
              <a:alpha val="0"/>
            </a:srgbClr>
          </a:solidFill>
          <a:ln w="30976">
            <a:solidFill>
              <a:srgbClr val="8CA0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6179" y="4158597"/>
            <a:ext cx="1428714" cy="400021"/>
          </a:xfrm>
          <a:prstGeom prst="rect">
            <a:avLst/>
          </a:prstGeom>
          <a:solidFill>
            <a:srgbClr val="2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7568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HTML：像建築的樑柱與房間。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36719" y="5524427"/>
            <a:ext cx="3517943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CSS：像裝潢、配色與家具配置。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25991" y="5524427"/>
            <a:ext cx="3517822" cy="38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JavaScript：像電力與控制系統。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65752" y="6550736"/>
            <a:ext cx="2978303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A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除錯第一步：先分類內容、外觀或互動。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27176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38｜HTML 基本架構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看懂常用標籤，就能指出 AI 應該修改哪一個網頁區塊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HTML｜常用標籤速查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&lt;head&gt; 網頁設定、標題與外部資源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&lt;body&gt; 使用者看得到的內容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&lt;h1&gt;～&lt;h6&gt; 標題　&lt;p&gt; 段落　&lt;a&gt; 連結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&lt;img&gt; 圖片　&lt;ul&gt;&lt;li&gt; 清單　&lt;table&gt; 表格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&lt;div&gt; 排版　&lt;span&gt; 行內文字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&lt;nav&gt; 導覽　&lt;main&gt; 主內容　&lt;footer&gt; 頁尾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確認元素是否存在於 body。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圖片不顯示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img 的 src 與 alt。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連結不能用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a 的 href。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結構混亂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使用語意標籤整理。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不用背全部標籤；先知道區塊負責什麼。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19030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39｜CSS 與 JavaScript 怎麼套用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內嵌適合快速原型，外部檔案適合長期維護，CDN 適合載入共用資源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三種載入方式｜選擇原則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內嵌 Internal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 寫在 &lt;style&gt;，JS 寫在 &lt;script&gt;；適合第一版。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External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&lt;link&gt; 與 &lt;script src&gt; 連接獨立檔案；容易維護。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從外部資源庫載入字體或框架；方便但依賴網路。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快速原型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先產生單一 HTML，方便測試。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 HTML、CSS、JS 三個檔案。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外部資源失效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CDN 網址、網路與版本。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修改限制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只調整載入方式，不改功能。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檔案拆分後，路徑管理更重要。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99056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639851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40｜認識響應式設計 RWD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同一套網頁要能適應桌機、平板與手機，而不是讓學生一直放大縮小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4857604" cy="4095677"/>
          </a:xfrm>
          <a:prstGeom prst="rect">
            <a:avLst/>
          </a:prstGeom>
          <a:solidFill>
            <a:srgbClr val="F7F9FC"/>
          </a:solidFill>
          <a:ln w="23232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1246" y="1880558"/>
            <a:ext cx="4430248" cy="22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手機版畫面檢查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19178" y="2280458"/>
            <a:ext cx="1714384" cy="457132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24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981058" y="2908924"/>
            <a:ext cx="2190623" cy="952500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8CA0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1357" y="4032758"/>
            <a:ext cx="1857280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123861" y="4032758"/>
            <a:ext cx="1857401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171357" y="4566120"/>
            <a:ext cx="1857280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23861" y="4566120"/>
            <a:ext cx="1857401" cy="438135"/>
          </a:xfrm>
          <a:prstGeom prst="rect">
            <a:avLst/>
          </a:prstGeom>
          <a:solidFill>
            <a:srgbClr val="FFFFFF">
              <a:alpha val="0"/>
            </a:srgbClr>
          </a:solidFill>
          <a:ln w="15488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314401" y="5156592"/>
            <a:ext cx="1523938" cy="400021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000527" y="1666875"/>
            <a:ext cx="5543407" cy="972828"/>
          </a:xfrm>
          <a:prstGeom prst="rect">
            <a:avLst/>
          </a:prstGeom>
          <a:solidFill>
            <a:srgbClr val="E8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29088" y="1857327"/>
            <a:ext cx="508628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RWD 的兩個基本工具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29088" y="2182571"/>
            <a:ext cx="5086286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Viewport：讓手機用正確寬度顯示網頁。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00527" y="2639703"/>
            <a:ext cx="5543407" cy="972828"/>
          </a:xfrm>
          <a:prstGeom prst="rect">
            <a:avLst/>
          </a:prstGeom>
          <a:solidFill>
            <a:srgbClr val="F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229088" y="2830154"/>
            <a:ext cx="5086286" cy="32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Media Query：依螢幕寬度切換版面。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29088" y="3155398"/>
            <a:ext cx="5086286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例如：雙欄改單欄、調整間距或放大按鈕。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00527" y="3612530"/>
            <a:ext cx="5543407" cy="26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AI 的要求：手機不要左右捲動；按鈕容易觸控；雙欄改單欄；圖片不可超出畫面。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80800" y="6531740"/>
            <a:ext cx="1363256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RWD＝同一份內容，依螢幕自動重新排列。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4935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41｜常見網頁圖片格式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選對格式可以兼顧畫質、透明背景與載入速度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照片；相容性高，不支援透明。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體積較小，可支援透明。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透明圖卡；畫質好但檔案較大。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簡單動畫；色彩能力有限。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向量圖示；放大不模糊。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多個小圖合成一張，減少請求。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JPG 或 WebP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透明圖卡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PNG 或 WebP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簡單動畫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GIF 或影片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檔案大小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過大會拖慢手機載入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替代文字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 alt，提升可及性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還要看畫質、透明需求、檔案大小與授權。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圖片影響內容、效能與可及性。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2103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42｜網頁觀察與除錯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看原始碼理解檔案內容；用開發者工具看網頁目前真正呈現的狀態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除錯｜先重現，再觀察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檢視原始碼：確認 HTML。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Elements：檢查元素與 CSS。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Console：查看 JavaScript 錯誤。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Network：檢查圖片、音檔與 API 是否載入。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 AI：預期、實際、步驟、錯誤與限制。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畫面不對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Elements 檢查元素與 CSS。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按鈕沒反應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 Console 的 JavaScript 錯誤。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圖片或資料沒出現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 Network 是否 404。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不要只說壞了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複製錯誤訊息，先解釋再修正。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除錯不是猜答案，而是縮小問題範圍。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64054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43｜網頁上線與部署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裡能預覽只是原型；部署後取得穩定網址，學生才真的能使用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Vercel／Netlify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新手首選；同步 GitHub 或拖曳資料夾。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適合靜態網站；免費且穩定。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Apps Script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適合串接 Google Sheet 的 Web App。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虛擬主機／VPS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適合資料庫或自訂後端。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雲端平台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AWS、GCP 強大但設定複雜。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自己架伺服器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控制權高，但要處理維護與資安。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分享快，但連結可能不永久。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正式部署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網址穩定，可持續更新。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部署前測試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手機、音檔、圖片與權限。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部署後維護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保留原始碼、版本與素材。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公開資料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不要公開個資、金鑰與密碼。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選擇原則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依類型、資料與維護能力決定。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靜態教材先免費託管；需要 Sheet 再考慮 GAS。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 ≠ 上線；上線仍需維護。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30986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44｜網頁基礎是 AI 開發的導航儀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會判斷結構、路徑、互動、錯誤與部署，才能真正掌握作品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看懂結構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HTML：內容與元素在哪裡。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描述外觀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CSS：顏色、尺寸、排列與 RWD。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追蹤互動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JavaScript：按鈕、換題與計分。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管理資源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網址、路徑、圖片與外部檔案。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觀察錯誤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Elements、Console、Network。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選擇網頁類型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先靜態原型，再加入後端。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選擇圖片格式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兼顧畫質、大小與授權。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手機優先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RWD 確保學生能操作。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部署分享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取得穩定網址。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持續維護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保留程式碼、素材與版本。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保護資料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個資與金鑰不可公開。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精準溝通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說清楚預期、實際與限制。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Coding 不是背完語法，而是看懂地圖、說清楚問題、驗證 AI 成果。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人負責方向與判斷；AI 協助實作。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5177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45｜把網頁存回自己的電腦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裡的預覽不是永久檔案；下載原始碼，才真正擁有作品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本機保存｜最基本的五個步驟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請 AI 提供完整原始碼或下載專案。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建立專用資料夾，不要只存網頁捷徑。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確認首頁檔名是 index.html。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保留圖片、音檔、CSS、JS 的相對位置。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複製一份備份，再開始修改。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下載內容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單檔可能是 index.html；專案通常是 ZIP。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完整解壓縮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不要直接在壓縮檔裡編輯。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開啟測試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雙擊 index.html，用瀏覽器查看。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保留資料夾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圖片、音檔與程式不要隨意分開。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先下載、再備份、最後才修改。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25824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46｜看懂本機專案資料夾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看懂資料夾，就能避免最常見的圖片、音檔與程式失聯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網站首頁；通常從這個檔案開啟。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顏色、字體、尺寸與版面。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按鈕、換題、計分與互動。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images／audio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圖片與音檔素材資料夾。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題庫、單字或設定資料。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記錄開啟方式與修改說明。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保留修改前可正常運作的版本。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相對路徑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 images/photo.jpg。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檔名規則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英文小寫、避免空格與特殊符號。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不要只搬單檔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移動素材後，路徑也要更新。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測試入口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先從 index.html 檢查整體。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版本命名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project-v1、v2、v3，保留修改紀錄。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資料夾結構不只是整理方式，也決定程式能不能找到資源。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路徑正確，圖片與音檔才會出現。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690434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47｜修改方式的優缺點比較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越方便的修改方式，不一定越適合長期保存與維護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優點：最快預覽，適合討論。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Canvas 限制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連結、檔案與版本控制較弱。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優點：容易攜帶、開啟與交作業。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單檔限制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程式變長後不容易閱讀。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多檔案專案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優點：結構清楚、方便維護。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多檔限制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路徑與檔案位置容易出錯。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Code 本機修改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可搜尋、取代、比較與整理檔案。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本機限制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需要習慣編輯器與資料夾。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有版本紀錄，可以回復舊版本。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限制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初學者要理解 commit 與 push。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直接改線上版本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緊急修正很快，但會立刻影響使用者。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建議做法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本機備份修改；測試穩定後再重新部署。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新手建議：本機資料夾＋VS Code＋版本備份，是最安全的起點。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方便、可控與可維護要取得平衡。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3102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48｜如何請 AI 修改既有網頁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先限制修改範圍，不要讓 AI 為了一個小問題重寫整個網站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 Prompt｜六個必要資訊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說明目前版本與相關檔案。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描述原本功能與預期結果。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指定只修改哪個區域或功能。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列出不能改動的內容與功能。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說明完成後的測試方式。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請 AI 先解釋原因與修改檔案。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改文字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指出原句、新句與出現位置。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改畫面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說明尺寸、排列、顏色與手機規則。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改功能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提供操作步驟與預期反應。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修錯誤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附上錯誤訊息與重現步驟。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小改一件事，測試一次，再做下一件。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577257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49｜先判斷要改哪一層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問題分類正確，AI 才不會修改錯檔案或破壞正常功能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HTML｜內容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文字、標題、按鈕與元素。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CSS｜外觀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顏色、尺寸、排列與 RWD。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JavaScript｜互動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點擊、換題、計分與判斷。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資料檔｜教材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題庫、單字、答案與設定。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素材檔｜圖片音檔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檔名、格式、大小與授權。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路徑問題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圖片不見、音檔失效或 404。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狀態問題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題數、分數或按鈕狀態錯亂。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儲存問題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重新整理後資料消失。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API／Sheet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資料讀取、寫入或權限失敗。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部署問題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本機正常，上線後卻失效。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手機問題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版面超出、字太小或難觸控。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安全問題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金鑰、個資或權限被公開。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先說問題在哪一層，再要求 AI 只修改相關檔案。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分類問題，比直接說壞了更有效。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575373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876639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50｜安全修改與回復流程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90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修改前留退路、修改後做回歸測試，才不會讓專案越修越亂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7568" y="1695402"/>
            <a:ext cx="7143571" cy="4333802"/>
          </a:xfrm>
          <a:prstGeom prst="rect">
            <a:avLst/>
          </a:prstGeom>
          <a:solidFill>
            <a:srgbClr val="1024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71351" y="1885882"/>
            <a:ext cx="6496004" cy="2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FE0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安全修改｜備份 → 小改 → 測試 → 紀錄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351" y="2164663"/>
            <a:ext cx="6496004" cy="1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複製一份可正常使用的版本。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寫下這次只要解決的一個問題。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請 AI 說明準備修改哪些檔案。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套用修改後立刻測試該功能。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再測一次原本正常的關鍵功能。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成功就建立新版本；失敗就回復備份。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00956" y="1695402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428059" y="1619202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5609" y="1781098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建立版本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45609" y="202890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正常版、v2 修改版，不覆蓋原檔。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00956" y="2533708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428059" y="2533708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5609" y="2695604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只改一件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5609" y="2943409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一次處理一個問題，較容易找原因。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00956" y="3448215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428059" y="3448215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F0C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5609" y="3610110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回歸測試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45609" y="3857915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確認修正沒有破壞其他功能。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00956" y="4362721"/>
            <a:ext cx="3143099" cy="7811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428059" y="4362721"/>
            <a:ext cx="0" cy="781166"/>
          </a:xfrm>
          <a:prstGeom prst="line">
            <a:avLst/>
          </a:prstGeom>
          <a:solidFill>
            <a:srgbClr val="FFFFFF">
              <a:alpha val="0"/>
            </a:srgbClr>
          </a:solidFill>
          <a:ln w="54207">
            <a:solidFill>
              <a:srgbClr val="2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5609" y="4524617"/>
            <a:ext cx="270799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壞掉就回復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45609" y="4772422"/>
            <a:ext cx="2707999" cy="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67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不要在錯誤版本上繼續堆修改。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71098" y="6531740"/>
            <a:ext cx="21729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可回復的修改，才是安全的修改。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99453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7568" y="400021"/>
            <a:ext cx="1951173" cy="17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51｜實作：下載、修改、測試、再上線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7568" y="742931"/>
            <a:ext cx="1057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完成一次完整循環，才算真正掌握自己的 Vibe Coding 網頁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4756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756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897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下載專案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8897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HTML、CSS、JS 與所有素材。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4933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04933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6263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完整解壓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6263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保留原本資料夾結構。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2298" y="1666875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62298" y="1690107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3628" y="1884672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建立備份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3628" y="2121708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複製為 project-v1-backup。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9663" y="1666875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919663" y="1690107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0993" y="1884672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開啟首頁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90993" y="2121708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雙擊 index.html 確認可用。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56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756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897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測試功能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897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按鈕、音檔、圖片與換題。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04933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04933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6263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用編輯器開啟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76263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建議使用 VS Code。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2298" y="2981281"/>
            <a:ext cx="2624028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62298" y="3004513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3628" y="3199079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修改文字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3628" y="3436115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先完成最安全的小修改。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9663" y="2981281"/>
            <a:ext cx="2624149" cy="118106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8919663" y="3004513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0993" y="3199079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修改樣式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0993" y="3436115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調整一項 CSS 並測手機版。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56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4756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897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 修改功能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897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一次只改一個 JavaScript 行為。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04933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3404933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76263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⑩ 完整回歸測試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76263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重新測所有核心流程。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2298" y="4295688"/>
            <a:ext cx="2624028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162298" y="4318920"/>
            <a:ext cx="2624028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2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3628" y="4513485"/>
            <a:ext cx="2281369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⑪ 更新線上版本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3628" y="4750521"/>
            <a:ext cx="2281369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確認部署檔案完整。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919663" y="4295688"/>
            <a:ext cx="2624149" cy="118118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919663" y="4318920"/>
            <a:ext cx="2624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6463">
            <a:solidFill>
              <a:srgbClr val="F0C7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0993" y="4513485"/>
            <a:ext cx="2281490" cy="17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A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⑫ 保留新版本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0993" y="4750521"/>
            <a:ext cx="2281490" cy="21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記錄修改內容與測試結果。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7568" y="5905452"/>
            <a:ext cx="552211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4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最後成果：本機有原始碼、備份、可修改版本，以及可分享的穩定網址。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15198" y="6531740"/>
            <a:ext cx="2228857" cy="15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91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下載不是結束，而是開始掌握作品。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3458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7" row="6">
    <wetp:webextensionref xmlns:r="http://schemas.openxmlformats.org/officeDocument/2006/relationships" r:id="rId1"/>
  </wetp:taskpane>
  <wetp:taskpane dockstate="right" visibility="0" width="350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7DCEAC5-52F9-4C5E-9EF4-D03AC690A132}">
  <we:reference id="wa200005107" version="1.1.0.0" store="en-US" storeType="OMEX"/>
  <we:alternateReferences>
    <we:reference id="WA200005107" version="1.1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4AE1B2D-DA70-4527-B40C-2C712CA673F2}">
  <we:reference id="wa200010215" version="2.0.0.0" store="zh-TW" storeType="OMEX"/>
  <we:alternateReferences>
    <we:reference id="WA200010215" version="2.0.0.0" store="" storeType="OMEX"/>
  </we:alternateReferences>
  <we:properties>
    <we:property name="bps.codex_control.document_id" value="&quot;d7d540df-9d1d-4784-b7ca-b33e7bb0577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9523</Words>
  <Application>Microsoft Office PowerPoint</Application>
  <PresentationFormat>寬螢幕</PresentationFormat>
  <Paragraphs>1233</Paragraphs>
  <Slides>57</Slides>
  <Notes>57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</vt:vector>
  </HeadingPairs>
  <TitlesOfParts>
    <vt:vector size="62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潔 林</dc:creator>
  <cp:lastModifiedBy>潔 林</cp:lastModifiedBy>
  <cp:revision>1</cp:revision>
  <dcterms:created xsi:type="dcterms:W3CDTF">2026-08-25T07:01:07Z</dcterms:created>
  <dcterms:modified xsi:type="dcterms:W3CDTF">2026-08-25T09:43:35Z</dcterms:modified>
</cp:coreProperties>
</file>