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370fda0081451c" /><Relationship Type="http://schemas.openxmlformats.org/officeDocument/2006/relationships/extended-properties" Target="/docProps/app.xml" Id="R71bdfd81ed474d52" /><Relationship Type="http://schemas.openxmlformats.org/officeDocument/2006/relationships/officeDocument" Target="/ppt/presentation.xml" Id="R1c9fdd65e62e48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d70aee16f2422d"/>
  </p:sldMasterIdLst>
  <p:notesMasterIdLst>
    <p:notesMasterId xmlns:r="http://schemas.openxmlformats.org/officeDocument/2006/relationships" r:id="R2ded2afc19164d7d"/>
  </p:notesMasterIdLst>
  <p:sldIdLst>
    <p:sldId xmlns:r="http://schemas.openxmlformats.org/officeDocument/2006/relationships" id="256" r:id="Rafc06022e0a844cd"/>
    <p:sldId xmlns:r="http://schemas.openxmlformats.org/officeDocument/2006/relationships" id="257" r:id="Re99b490dda144787"/>
    <p:sldId xmlns:r="http://schemas.openxmlformats.org/officeDocument/2006/relationships" id="258" r:id="Rbe34fdc2be124eae"/>
    <p:sldId xmlns:r="http://schemas.openxmlformats.org/officeDocument/2006/relationships" id="259" r:id="R257bacc29c6c485c"/>
    <p:sldId xmlns:r="http://schemas.openxmlformats.org/officeDocument/2006/relationships" id="260" r:id="Rbecfa0fecc6f4504"/>
    <p:sldId xmlns:r="http://schemas.openxmlformats.org/officeDocument/2006/relationships" id="261" r:id="Rf7dff67c40c64fce"/>
    <p:sldId xmlns:r="http://schemas.openxmlformats.org/officeDocument/2006/relationships" id="262" r:id="R55af0fc05b9a4dd0"/>
    <p:sldId xmlns:r="http://schemas.openxmlformats.org/officeDocument/2006/relationships" id="263" r:id="R811c2b26e1eb463b"/>
    <p:sldId xmlns:r="http://schemas.openxmlformats.org/officeDocument/2006/relationships" id="264" r:id="R94376d9832974a30"/>
    <p:sldId xmlns:r="http://schemas.openxmlformats.org/officeDocument/2006/relationships" id="265" r:id="R905704f458874ee0"/>
    <p:sldId xmlns:r="http://schemas.openxmlformats.org/officeDocument/2006/relationships" id="266" r:id="Racb53dd4d3804a30"/>
    <p:sldId xmlns:r="http://schemas.openxmlformats.org/officeDocument/2006/relationships" id="267" r:id="Re1e5741012114007"/>
    <p:sldId xmlns:r="http://schemas.openxmlformats.org/officeDocument/2006/relationships" id="268" r:id="R29d0e9cc58d443ec"/>
    <p:sldId xmlns:r="http://schemas.openxmlformats.org/officeDocument/2006/relationships" id="269" r:id="Raa0f76f6a7a34571"/>
    <p:sldId xmlns:r="http://schemas.openxmlformats.org/officeDocument/2006/relationships" id="270" r:id="Ra2229793f4c04618"/>
    <p:sldId xmlns:r="http://schemas.openxmlformats.org/officeDocument/2006/relationships" id="271" r:id="Rda72e5c193cd40af"/>
    <p:sldId xmlns:r="http://schemas.openxmlformats.org/officeDocument/2006/relationships" id="272" r:id="R2223bd2bcbaa4192"/>
    <p:sldId xmlns:r="http://schemas.openxmlformats.org/officeDocument/2006/relationships" id="273" r:id="Rff4d5884dde144cb"/>
    <p:sldId xmlns:r="http://schemas.openxmlformats.org/officeDocument/2006/relationships" id="274" r:id="Raa2142bbb8114fed"/>
    <p:sldId xmlns:r="http://schemas.openxmlformats.org/officeDocument/2006/relationships" id="275" r:id="R02d71ee480fe4c3c"/>
    <p:sldId xmlns:r="http://schemas.openxmlformats.org/officeDocument/2006/relationships" id="276" r:id="R3e0b3502d2fe40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5e4919833942da" /><Relationship Type="http://schemas.openxmlformats.org/officeDocument/2006/relationships/slideMaster" Target="/ppt/slideMasters/slideMaster1.xml" Id="Ra7d70aee16f2422d" /><Relationship Type="http://schemas.openxmlformats.org/officeDocument/2006/relationships/notesMaster" Target="/ppt/notesMasters/notesMaster1.xml" Id="R2ded2afc19164d7d" /><Relationship Type="http://schemas.openxmlformats.org/officeDocument/2006/relationships/presProps" Target="/ppt/presProps.xml" Id="R53a2d48cc65f42e6" /><Relationship Type="http://schemas.openxmlformats.org/officeDocument/2006/relationships/tableStyles" Target="/ppt/tableStyles.xml" Id="R921f5b88bb144ad9" /><Relationship Type="http://schemas.openxmlformats.org/officeDocument/2006/relationships/slide" Target="/ppt/slides/slide1.xml" Id="Rafc06022e0a844cd" /><Relationship Type="http://schemas.openxmlformats.org/officeDocument/2006/relationships/slide" Target="/ppt/slides/slide2.xml" Id="Re99b490dda144787" /><Relationship Type="http://schemas.openxmlformats.org/officeDocument/2006/relationships/slide" Target="/ppt/slides/slide3.xml" Id="Rbe34fdc2be124eae" /><Relationship Type="http://schemas.openxmlformats.org/officeDocument/2006/relationships/slide" Target="/ppt/slides/slide4.xml" Id="R257bacc29c6c485c" /><Relationship Type="http://schemas.openxmlformats.org/officeDocument/2006/relationships/slide" Target="/ppt/slides/slide5.xml" Id="Rbecfa0fecc6f4504" /><Relationship Type="http://schemas.openxmlformats.org/officeDocument/2006/relationships/slide" Target="/ppt/slides/slide6.xml" Id="Rf7dff67c40c64fce" /><Relationship Type="http://schemas.openxmlformats.org/officeDocument/2006/relationships/slide" Target="/ppt/slides/slide7.xml" Id="R55af0fc05b9a4dd0" /><Relationship Type="http://schemas.openxmlformats.org/officeDocument/2006/relationships/slide" Target="/ppt/slides/slide8.xml" Id="R811c2b26e1eb463b" /><Relationship Type="http://schemas.openxmlformats.org/officeDocument/2006/relationships/slide" Target="/ppt/slides/slide9.xml" Id="R94376d9832974a30" /><Relationship Type="http://schemas.openxmlformats.org/officeDocument/2006/relationships/slide" Target="/ppt/slides/slide10.xml" Id="R905704f458874ee0" /><Relationship Type="http://schemas.openxmlformats.org/officeDocument/2006/relationships/slide" Target="/ppt/slides/slide11.xml" Id="Racb53dd4d3804a30" /><Relationship Type="http://schemas.openxmlformats.org/officeDocument/2006/relationships/slide" Target="/ppt/slides/slide12.xml" Id="Re1e5741012114007" /><Relationship Type="http://schemas.openxmlformats.org/officeDocument/2006/relationships/slide" Target="/ppt/slides/slide13.xml" Id="R29d0e9cc58d443ec" /><Relationship Type="http://schemas.openxmlformats.org/officeDocument/2006/relationships/slide" Target="/ppt/slides/slide14.xml" Id="Raa0f76f6a7a34571" /><Relationship Type="http://schemas.openxmlformats.org/officeDocument/2006/relationships/slide" Target="/ppt/slides/slide15.xml" Id="Ra2229793f4c04618" /><Relationship Type="http://schemas.openxmlformats.org/officeDocument/2006/relationships/slide" Target="/ppt/slides/slide16.xml" Id="Rda72e5c193cd40af" /><Relationship Type="http://schemas.openxmlformats.org/officeDocument/2006/relationships/slide" Target="/ppt/slides/slide17.xml" Id="R2223bd2bcbaa4192" /><Relationship Type="http://schemas.openxmlformats.org/officeDocument/2006/relationships/slide" Target="/ppt/slides/slide18.xml" Id="Rff4d5884dde144cb" /><Relationship Type="http://schemas.openxmlformats.org/officeDocument/2006/relationships/slide" Target="/ppt/slides/slide19.xml" Id="Raa2142bbb8114fed" /><Relationship Type="http://schemas.openxmlformats.org/officeDocument/2006/relationships/slide" Target="/ppt/slides/slide20.xml" Id="R02d71ee480fe4c3c" /><Relationship Type="http://schemas.openxmlformats.org/officeDocument/2006/relationships/slide" Target="/ppt/slides/slide21.xml" Id="R3e0b3502d2fe40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866815e63d4d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b454cbd739497f" /><Relationship Type="http://schemas.openxmlformats.org/officeDocument/2006/relationships/notesMaster" Target="/ppt/notesMasters/notesMaster1.xml" Id="Rd2ef4731607540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18430b71b4404d" /><Relationship Type="http://schemas.openxmlformats.org/officeDocument/2006/relationships/notesMaster" Target="/ppt/notesMasters/notesMaster1.xml" Id="Rb1ee80e169c947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165c77b61841f7" /><Relationship Type="http://schemas.openxmlformats.org/officeDocument/2006/relationships/notesMaster" Target="/ppt/notesMasters/notesMaster1.xml" Id="R21a6856bd23f41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029474820549b5" /><Relationship Type="http://schemas.openxmlformats.org/officeDocument/2006/relationships/notesMaster" Target="/ppt/notesMasters/notesMaster1.xml" Id="R45f30a9114f549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b11d43c7874a17" /><Relationship Type="http://schemas.openxmlformats.org/officeDocument/2006/relationships/notesMaster" Target="/ppt/notesMasters/notesMaster1.xml" Id="R4fe297837eb748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f2c8a30bc344f4" /><Relationship Type="http://schemas.openxmlformats.org/officeDocument/2006/relationships/notesMaster" Target="/ppt/notesMasters/notesMaster1.xml" Id="R742c7372d2844d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13cb676b234490" /><Relationship Type="http://schemas.openxmlformats.org/officeDocument/2006/relationships/notesMaster" Target="/ppt/notesMasters/notesMaster1.xml" Id="R9db7d274425743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0a5371eada4d69" /><Relationship Type="http://schemas.openxmlformats.org/officeDocument/2006/relationships/notesMaster" Target="/ppt/notesMasters/notesMaster1.xml" Id="R00717223479946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9fd9ef281345c7" /><Relationship Type="http://schemas.openxmlformats.org/officeDocument/2006/relationships/notesMaster" Target="/ppt/notesMasters/notesMaster1.xml" Id="Ref17fb5d2ae64e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4bcfa7fec74ed8" /><Relationship Type="http://schemas.openxmlformats.org/officeDocument/2006/relationships/notesMaster" Target="/ppt/notesMasters/notesMaster1.xml" Id="Ra30f76b88e0d41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306e2442d6447e" /><Relationship Type="http://schemas.openxmlformats.org/officeDocument/2006/relationships/notesMaster" Target="/ppt/notesMasters/notesMaster1.xml" Id="Raa188b32364542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4e702be6ec40c5" /><Relationship Type="http://schemas.openxmlformats.org/officeDocument/2006/relationships/notesMaster" Target="/ppt/notesMasters/notesMaster1.xml" Id="R8ae32c4a5b7c48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69e6f574474ab1" /><Relationship Type="http://schemas.openxmlformats.org/officeDocument/2006/relationships/notesMaster" Target="/ppt/notesMasters/notesMaster1.xml" Id="Ra11146dddcff45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f3107c834d4fec" /><Relationship Type="http://schemas.openxmlformats.org/officeDocument/2006/relationships/notesMaster" Target="/ppt/notesMasters/notesMaster1.xml" Id="R23abe5f8c01a45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6d3475e58e4bbf" /><Relationship Type="http://schemas.openxmlformats.org/officeDocument/2006/relationships/notesMaster" Target="/ppt/notesMasters/notesMaster1.xml" Id="Re956debe826543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1c217454cd467a" /><Relationship Type="http://schemas.openxmlformats.org/officeDocument/2006/relationships/notesMaster" Target="/ppt/notesMasters/notesMaster1.xml" Id="R2034b094a19e4d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0319c110494511" /><Relationship Type="http://schemas.openxmlformats.org/officeDocument/2006/relationships/notesMaster" Target="/ppt/notesMasters/notesMaster1.xml" Id="R0dfd83ef8afb44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7fe9533c624d64" /><Relationship Type="http://schemas.openxmlformats.org/officeDocument/2006/relationships/notesMaster" Target="/ppt/notesMasters/notesMaster1.xml" Id="R46e04c58a6bf4a9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6e1fc1996604fd9" /><Relationship Type="http://schemas.openxmlformats.org/officeDocument/2006/relationships/notesMaster" Target="/ppt/notesMasters/notesMaster1.xml" Id="Re107c0a7f9ad49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258629313e40d4" /><Relationship Type="http://schemas.openxmlformats.org/officeDocument/2006/relationships/notesMaster" Target="/ppt/notesMasters/notesMaster1.xml" Id="Ra97f103e792340b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ca7d302594458d" /><Relationship Type="http://schemas.openxmlformats.org/officeDocument/2006/relationships/notesMaster" Target="/ppt/notesMasters/notesMaster1.xml" Id="Ref39d3c9ca8743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講師備註：本版依正確 YouTube 影片音訊完整轉錄後重製，封面插圖使用 baoyu-image-gen 產生的蠟筆童趣風主視覺。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講師備註：先說明今天不是追求一張漂亮圖片，而是完成可放進課堂的素材與任務。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講師備註：休息時間可依現場調整，不要犧牲最後的教材方案與分享。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講師備註：主題可以是詞彙、句型、生活情境或文化內容。若涉及特定文化元素，先確認教學脈絡與授權。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講師備註：影片先把 AI 生圖拆成五個可控制的部分。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講師備註：這張是影片的核心公式，原影片說明主體與動作合併講，並加入約束成為五大部分。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講師備註：影片以人物示範說明：如果表情、姿態、視線重要，就要明確寫出來；若長相重要，可提供參考圖。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講師備註：兩人互看提示詞，找出一個仍由 AI 自由決定、但其實對教學很重要的變數。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講師備註：影片把風格拆成光線、情緒、色彩、材質與表現形式。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講師備註：影片用香水與不同視覺風格示範，教師可將同一族語主題改寫成圖卡、繪本或教學簡報的視覺語氣。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講師備註：不要把不同族群的圖騰或服飾當作通用風格。風格描述可用視覺語言，文化內容則需另行確認。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講師備註：構圖決定素材能不能放進投影片、圖卡或手機畫面。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講師備註：示範時請把同一張族語詞彙圖卡分別想成手機直式、教室投影與影片封面，讓學員感受比例如何改變構圖。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講師備註：影片提到可在手機或紙上畫草圖，再交給 AI 還原構圖。這對教師規劃簡報版型特別實用。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講師備註：修改時要同時說明「要改什麼」與「不能改什麼」。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講師備註：影片以產品圖示範：只說「展示清楚」可能導致裁切或新增物件，必須補上完整性與數量約束。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講師備註：請學員互相檢查是否同時寫到修改目標、保留條件與禁止事項。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講師備註：影片示範封面圖、原理／科研圖與整套電商圖，教師可轉成三種教材任務。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講師備註：影片提醒：原理圖首要是資訊關係，不是好看；整套圖卡要維持品牌、名稱、參數與風格一致。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講師備註：評量重點是教學用途、資訊關係、可修改性與文化／語言審核，不以圖片華麗程度評分。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講師備註：結尾再次提醒：AI 可以協助視覺化，但族語文字、文化脈絡與教學判斷仍由教師把關。</a:t>
            </a:r>
          </a:p>
          <a:p xmlns:a="http://schemas.openxmlformats.org/drawingml/2006/main">
            <a:r>
              <a:t>逐字稿來源：outputs/youtube-transcript-OQnbnkt7lfk/transcript.md</a:t>
            </a:r>
          </a:p>
          <a:p xmlns:a="http://schemas.openxmlformats.org/drawingml/2006/main">
            <a:r>
              <a:t>影片：https://www.youtube.com/watch?v=OQnbnkt7lfk&amp;t=115s</a:t>
            </a:r>
          </a:p>
          <a:p xmlns:a="http://schemas.openxmlformats.org/drawingml/2006/main">
            <a:r>
              <a:t>提醒：族語詞彙、文化內容、人物與場景須由熟悉該族語及文化脈絡的人員審核。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7c814bc7b40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7f360683e54add" /><Relationship Type="http://schemas.openxmlformats.org/officeDocument/2006/relationships/slideLayout" Target="/ppt/slideLayouts/slideLayout1.xml" Id="R38ed41c534414d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ed41c534414d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e0dee2ece4505" /><Relationship Type="http://schemas.openxmlformats.org/officeDocument/2006/relationships/image" Target="/ppt/media/image.png" Id="R5d6cb0f794b54ea6" /><Relationship Type="http://schemas.openxmlformats.org/officeDocument/2006/relationships/notesSlide" Target="/ppt/notesSlides/notesSlide1.xml" Id="R6b37169175f841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6795e43044e56" /><Relationship Type="http://schemas.openxmlformats.org/officeDocument/2006/relationships/notesSlide" Target="/ppt/notesSlides/notesSlide2.xml" Id="Ra8111dfe1e0244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727efc08f403a" /><Relationship Type="http://schemas.openxmlformats.org/officeDocument/2006/relationships/notesSlide" Target="/ppt/notesSlides/notesSlide3.xml" Id="R06d058f217f24c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ab5323f794780" /><Relationship Type="http://schemas.openxmlformats.org/officeDocument/2006/relationships/image" Target="/ppt/media/image2.png" Id="R797f7fc81eeb4e75" /><Relationship Type="http://schemas.openxmlformats.org/officeDocument/2006/relationships/notesSlide" Target="/ppt/notesSlides/notesSlide4.xml" Id="Rd710b2d9ee2545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af4d26837415c" /><Relationship Type="http://schemas.openxmlformats.org/officeDocument/2006/relationships/notesSlide" Target="/ppt/notesSlides/notesSlide5.xml" Id="Rf28a707f547a4e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e27dbfa9b4e05" /><Relationship Type="http://schemas.openxmlformats.org/officeDocument/2006/relationships/notesSlide" Target="/ppt/notesSlides/notesSlide6.xml" Id="R1b41f199c5764e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5bbcae6eb4785" /><Relationship Type="http://schemas.openxmlformats.org/officeDocument/2006/relationships/notesSlide" Target="/ppt/notesSlides/notesSlide7.xml" Id="Rd25e415fd5114d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18f4211434dce" /><Relationship Type="http://schemas.openxmlformats.org/officeDocument/2006/relationships/notesSlide" Target="/ppt/notesSlides/notesSlide8.xml" Id="R0e588e10170344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c655b2e4547e6" /><Relationship Type="http://schemas.openxmlformats.org/officeDocument/2006/relationships/notesSlide" Target="/ppt/notesSlides/notesSlide9.xml" Id="R9eea1142907f4b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d116fdcd8416b" /><Relationship Type="http://schemas.openxmlformats.org/officeDocument/2006/relationships/notesSlide" Target="/ppt/notesSlides/notesSlide10.xml" Id="Rcc9da04d965f42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d25839c4a4abf" /><Relationship Type="http://schemas.openxmlformats.org/officeDocument/2006/relationships/notesSlide" Target="/ppt/notesSlides/notesSlide11.xml" Id="R92cd682e7b094d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dfc48536e40f0" /><Relationship Type="http://schemas.openxmlformats.org/officeDocument/2006/relationships/notesSlide" Target="/ppt/notesSlides/notesSlide12.xml" Id="R4ab6613a85d644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1ab06780048d6" /><Relationship Type="http://schemas.openxmlformats.org/officeDocument/2006/relationships/notesSlide" Target="/ppt/notesSlides/notesSlide13.xml" Id="R1f3a7bd08fe94d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d0ef9bbee409a" /><Relationship Type="http://schemas.openxmlformats.org/officeDocument/2006/relationships/notesSlide" Target="/ppt/notesSlides/notesSlide14.xml" Id="Rec9ca285cd7a4f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9eef6fe9d42d2" /><Relationship Type="http://schemas.openxmlformats.org/officeDocument/2006/relationships/notesSlide" Target="/ppt/notesSlides/notesSlide15.xml" Id="Rc93483b1a8a645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a77681c834376" /><Relationship Type="http://schemas.openxmlformats.org/officeDocument/2006/relationships/notesSlide" Target="/ppt/notesSlides/notesSlide16.xml" Id="Rf78519755f8f4a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a0ff45c1c4672" /><Relationship Type="http://schemas.openxmlformats.org/officeDocument/2006/relationships/notesSlide" Target="/ppt/notesSlides/notesSlide17.xml" Id="Rfbdf1185700c45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aaea822e44c72" /><Relationship Type="http://schemas.openxmlformats.org/officeDocument/2006/relationships/notesSlide" Target="/ppt/notesSlides/notesSlide18.xml" Id="R1c1fc89c225d4bf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b9d0d78c549ce" /><Relationship Type="http://schemas.openxmlformats.org/officeDocument/2006/relationships/notesSlide" Target="/ppt/notesSlides/notesSlide19.xml" Id="R8ec6bea9d3f94ab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cd90ef4c24fa6" /><Relationship Type="http://schemas.openxmlformats.org/officeDocument/2006/relationships/notesSlide" Target="/ppt/notesSlides/notesSlide20.xml" Id="R3f521de4d85043b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0461a673c49f4" /><Relationship Type="http://schemas.openxmlformats.org/officeDocument/2006/relationships/image" Target="/ppt/media/image3.png" Id="R703640a6531d46e5" /><Relationship Type="http://schemas.openxmlformats.org/officeDocument/2006/relationships/notesSlide" Target="/ppt/notesSlides/notesSlide21.xml" Id="Rc2347a47096648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cb0f794b54ea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E5D67-4E9D-42CE-B16B-2D5EE70C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6096000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DF4">
              <a:alpha val="88000"/>
            </a:srgbClr>
          </a:solidFill>
          <a:ln xmlns:a="http://schemas.openxmlformats.org/drawingml/2006/main" w="0">
            <a:solidFill>
              <a:srgbClr val="FFFDF4">
                <a:alpha val="88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3517E-191F-45B7-9D56-A0066488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3EB3C-B117-4A83-B7E3-E449C40A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多媒體師資培訓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202D5-FD23-4D8A-8C92-4BFFF5E0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AI 生圖與族語教材製作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8E02B-6B45-4577-8091-4E333564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依影片逐字稿整理的 3 小時實作課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78C2E-495D-4439-8829-4E9954EC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476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3027"/>
          </a:solidFill>
          <a:ln xmlns:a="http://schemas.openxmlformats.org/drawingml/2006/main" w="14288">
            <a:solidFill>
              <a:srgbClr val="1F30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族語教師專用教材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62517-412B-405B-9AA4-A43B9FFF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14775"/>
            <a:ext cx="2457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027"/>
          </a:solidFill>
          <a:ln xmlns:a="http://schemas.openxmlformats.org/drawingml/2006/main" w="0">
            <a:solidFill>
              <a:srgbClr val="1F302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342848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8DDB6-5B11-450A-8A4A-38D552CA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B8BF9-7075-4005-A358-A2934AD7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03571-B98F-4EFC-B25D-8D49AB29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32650-07D6-47B2-9676-362B236E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1B255-27D0-4543-9B12-259B9A5F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BF9B0-B3AA-4833-904D-802160D1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課程地圖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84BF6-4A8B-49F0-AF5F-EFC63639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362E4-4125-4F0E-9F4C-387DC965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今天完成一套可教的生圖流程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687E6-D980-4CA3-BFFD-89DD9186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從影片的理論框架，轉成族語教材的實作任務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709B0-6BE5-434B-877C-3BE36750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D24A"/>
          </a:solidFill>
          <a:ln xmlns:a="http://schemas.openxmlformats.org/drawingml/2006/main" w="14288">
            <a:solidFill>
              <a:srgbClr val="F8D2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知道 AI 哪些部分會自由補完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0BDA7-B7B6-4CAE-AF6B-DB799712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00275"/>
            <a:ext cx="23145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solidFill>
              <a:srgbClr val="F8D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7A3BD-D364-4C13-B01B-DD4C96EB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36F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描述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用五部分寫出教學圖像需求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9FD05-88D0-4042-8305-25214C1A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0275"/>
            <a:ext cx="23145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7504A-E584-418F-BADB-8F79CD0C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5B9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修改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重複關鍵約束，維持一致性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8CFD1-CBDC-48CB-96BF-2255D3AD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200275"/>
            <a:ext cx="23145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19EA4-C404-4C53-9D47-13870ABE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90750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5B8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應用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完成封面、流程圖或圖卡方案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C4C1A-1A35-46A3-A925-A5CD77D3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0275"/>
            <a:ext cx="23145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9015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8C96EA-F8DF-420B-82FB-6AC4E17E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CB925-A4F1-4471-9BDC-2C4DC7C3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5D3E4-547A-45FF-BA65-69C14442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B784F-1BE7-421E-BF04-27836CB5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DE051-75AD-4A0A-872F-E90907CE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33577-DC70-433D-87A8-DF65F3B8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課程地圖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9D24A-1C74-44DE-B03A-2FBEE185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CBA12-1D9F-48D8-B657-B6A45DD2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3 小時流程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F4B8E-155D-4F66-8B72-DB8E395F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理論與實作交替，最後完成一份微型教材方案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E2FC2-2676-4034-8024-C08D6F0E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00–15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73FD4-F28B-49F9-8443-8E4CA012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暖身：選一個族語教學主題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A44B7-8B41-44C5-9965-CD33FF8E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138D8-6C54-4D08-BC27-4FE039FD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15–55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AED63-6509-429F-9836-0BA48C09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955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五部分提示詞與生圖原理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7302D-DC97-4495-8153-F153B3DF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233B4-9B5C-48B4-AC29-F577B8DD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55–95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49F7F-9650-4C11-8615-1753925D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384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風格、構圖與約束實作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C2B7A-1F37-4541-B2E1-E81D0F75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F00541-4AA1-4A50-8823-0CB4BB3E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95–105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6F5A0-C774-4DDC-BF0F-9388BD1C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休息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4C5DF-15FC-4C1A-9E81-5DBE349C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9226E2-062B-43B3-930F-9801F42A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105–140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112E6-4323-4E26-8C64-49716988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243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三種教學素材情境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0A092D-9989-4421-BF19-63682D1A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CA6540-E242-4740-AF7D-5E1B15FC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140–170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DE644-DE19-4FC2-A007-9931396B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族語教材微型方案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15D25B-8F1F-4CAE-A51A-5D02ACAA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93E5A9-ABBC-4B1A-9935-6A8C7583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170–180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2E6382-81A1-4350-9FA3-1E5CE61C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01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分享、審核與下一步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77723E-B5CD-496D-A14D-BA43CE7D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9117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4B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35987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44FBE-411B-4286-82AF-302B5899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73BF5-581E-43C7-9363-7229A2DA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07BF7-2CB8-4631-A580-38629376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E8A63-AAFC-4FDD-9D13-84F17255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ABB40-3176-4050-AF03-780C3BF1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FD162-4280-4E99-9D13-FF1817EB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暖身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020BF-011A-4CED-91C0-DFF31ACD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DBACD-E1A8-4100-AF14-6ED2712F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先選一個族語教學任務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6FFEF-8801-46A5-8AD0-E42AB5CA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後面的提示詞與練習都圍繞同一個主題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C0399-377B-4031-B024-2F8DE3F4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請寫下一個你想讓學生完成的行動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17DBB-F9C5-4EB4-A47B-56F96CB4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953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4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主題詞彙／句型：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學生要做的事：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____________________________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B2A37-1134-4F6E-B9D8-B22F9CE6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52775"/>
            <a:ext cx="4933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BF"/>
          </a:solidFill>
          <a:ln xmlns:a="http://schemas.openxmlformats.org/drawingml/2006/main" w="0">
            <a:solidFill>
              <a:srgbClr val="D8D4B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f7fc81eeb4e75"/>
          <a:stretch xmlns:a="http://schemas.openxmlformats.org/drawingml/2006/main"/>
        </p:blipFill>
        <p:spPr>
          <a:xfrm xmlns:a="http://schemas.openxmlformats.org/drawingml/2006/main">
            <a:off x="7699092" y="2095500"/>
            <a:ext cx="2985067" cy="238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616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1B0F6-046F-4CE2-8725-E62FA38C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AA0E8-391B-4DE0-A7E9-5D167E1D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FF35C-3725-474B-8601-15A073C8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1CC65-647F-4A0A-9DA2-63066E05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73FCF-316F-42CE-B243-4DBF0733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42610-4805-4949-AF95-5A08892E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01 理論篇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40CC3-A191-4E8E-A927-7455B02A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8E11B-ED38-421B-ACFE-77CFC31C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01 理論篇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79292-E91B-419D-817E-C1CAC1A1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影片先把 AI 生圖拆成五個可控制的部分。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529EE-B900-4278-A56C-E4325B65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CE531-7DD4-4563-BE63-A1C27561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22123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E6A4B-23D0-4A46-A1D5-1C71D02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D9E80-2C6D-449D-8EC1-D3DC87C2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A891E-0F3F-4386-B489-6E46472E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F621B-C795-428D-8B07-EED3E77F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F3FFE-4AF2-403B-AA53-D8D7899F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64518-9D86-473B-AF13-0517EF4A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理論篇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93DCC-AED8-4734-9652-5A9BB6E1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BC554-D6DD-4A47-B862-A42BF252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提示詞五部分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BA61B-D145-4C46-8EF4-76D84A81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影片將主體與動作合併，並加入「約束」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FE41F-F3A9-4C26-924D-C1780C2A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952625" cy="20955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8D2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主體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畫什麼、做什麼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8F9DD-70CD-40C4-83DF-C99DC61D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00275"/>
            <a:ext cx="19335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solidFill>
              <a:srgbClr val="F8D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75B1D-94D0-4D03-B3E7-25ADB217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952625" cy="20955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36F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場景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在哪裡、周圍有什麼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EB5ED-7E35-49F9-8AB4-A37C536C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0275"/>
            <a:ext cx="19335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AA5DC-5193-4611-8E6B-122603CF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1952625" cy="20955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5B9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風格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看起來什麼感覺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85DE7-A48E-4201-9496-A0DEF560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200275"/>
            <a:ext cx="19335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E7D7B-5F8E-455F-AC06-3646923D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0750"/>
            <a:ext cx="1952625" cy="20955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5B8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構圖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怎麼拍、怎麼擺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BE512-B73B-4B54-A4F2-A912AC3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00275"/>
            <a:ext cx="19335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CA538-2E6D-412B-8454-DFB843B9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952625" cy="20955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39A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約束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什麼要改、什麼不能改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BEEB3-E1DE-478A-915B-7D5BD46F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200275"/>
            <a:ext cx="19335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12"/>
          </a:solidFill>
          <a:ln xmlns:a="http://schemas.openxmlformats.org/drawingml/2006/main" w="0">
            <a:solidFill>
              <a:srgbClr val="D39A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8ABBE-C139-41DF-BC15-331D29BD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482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主體＋場景＋風格＋構圖＋約束</a:t>
            </a:r>
          </a:p>
        </p:txBody>
      </p:sp>
    </p:spTree>
    <p:extLst>
      <p:ext uri="{BB962C8B-B14F-4D97-AF65-F5344CB8AC3E}">
        <p14:creationId xmlns:p14="http://schemas.microsoft.com/office/powerpoint/2010/main" val="13586371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8CBA7-2913-4B5C-A0A5-5B5CCB71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F699A-5ABA-4FD7-9C65-6862444E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7A1DA-8418-49C3-892A-77AAB2CE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57966-FD3D-4739-97BF-55C2058F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8DF77-8934-4D6A-8E5E-1DF67BFC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74809-91AA-414A-AA27-42B9B59F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理論篇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DE4E4-DCDB-4146-BCD4-C6B972C9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F1AC7-B5D8-438E-A451-A7987F27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細節越少，變化越大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DA43A-F11E-47D9-87F1-AFA599E3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AI 會把提示詞留下的空白，用自己的預設補上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F1914-343E-47F1-8AA7-4F2CF852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191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2ED"/>
          </a:solidFill>
          <a:ln xmlns:a="http://schemas.openxmlformats.org/drawingml/2006/main" w="14288">
            <a:solidFill>
              <a:srgbClr val="F36F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短提示詞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「一位族語老師在山裡」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AI 自由決定：</a:t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表情、姿勢、視線、畫面比例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6CA71-A180-47F8-B36C-D0C397C8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52650"/>
            <a:ext cx="4171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8A43C-4A77-4433-8109-CC207639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CF7F2"/>
          </a:solidFill>
          <a:ln xmlns:a="http://schemas.openxmlformats.org/drawingml/2006/main" w="14288">
            <a:solidFill>
              <a:srgbClr val="65B9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可控制提示詞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「一位族語老師手持詞彙卡，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在校園戶外教學生辨認植物，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人物在右側，中景，左側留白放標題」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關鍵變數由教師說清楚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98747-453F-47FC-B254-4990CE7C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9775"/>
            <a:ext cx="4743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5742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E1A76-631C-459C-B98E-FFE28C4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99436-419B-405E-B23C-913893AD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4699C-B125-4E0C-A3AE-E96C550A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6A7F8-2959-4FF5-9D72-EEAFBB40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75CA8-8F92-4813-80E7-3C27B539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FD7C7-4741-4381-9455-75A26CB1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理論篇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915FF-DF0A-419E-B8F9-705B0232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D304F-EBD7-493D-A590-25F735E7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練習 1｜把教學意圖拆成五部分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CE602-2FA6-4DBE-92B1-018FE8F9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時間：10 分鐘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AFB36-19D2-4B3F-8855-E3AD6483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主體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D1512-A65C-4A80-82F3-6C13A98A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0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F0970-DC41-4F9E-ADA9-50F6CB4D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場景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A4E37-A74C-42BA-A631-84FF09E1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81325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0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5178D-249B-49BD-9E6A-3FBB3FCE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風格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1130E-8F72-4411-86CD-4B70C61F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004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0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8DB9D-382F-4429-8BFF-E231D0D9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構圖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33F03-274A-49FE-AA3F-FA468B8C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19575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0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E1467-82A9-46C0-B1BE-A9ED5615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約束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CF881-2E18-4BE9-AB34-79F4670E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387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0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5160A-21C5-4AE8-9BFE-DD9CF5BC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8572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D24A"/>
          </a:solidFill>
          <a:ln xmlns:a="http://schemas.openxmlformats.org/drawingml/2006/main" w="14288">
            <a:solidFill>
              <a:srgbClr val="F8D2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檢查：這張圖要幫學生完成什麼？哪些資訊不能被 AI 改掉？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C4193-A869-4A2D-B3EC-990D7160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81650"/>
            <a:ext cx="8553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solidFill>
              <a:srgbClr val="F8D2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688310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56F7D-0D34-4EC4-9C72-10CFD4B4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9FE22-C868-40C8-8F04-DBA9E1E3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355D8-F3BB-4281-BED2-3AAB4257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3FADF-B881-4B77-8698-C0709E9A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7A3DB-CD67-4466-B854-E2B7D9F5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B3D98-544B-4572-BCB5-0378AF53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02 風格篇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14164-8E5A-4F90-A951-33AE2A87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38A50-247E-49FF-B571-3B87D6ED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02 風格篇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86373-28E5-479E-B661-A29BBF16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影片把風格拆成光線、情緒、色彩、材質與表現形式。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261F3-C7E6-487D-B0E9-4D1F4D4D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E60E2-632C-4DBC-B267-B8632C46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8358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5928E-B1F3-4E7D-AEEE-928F9DE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489F6-F1BD-4DCC-8921-03D19F92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7FB34-9109-4CFA-BC6C-9A1A81D8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F4C6F-AD47-4111-965F-92F323CC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BBC24-16AB-4740-A3FB-A6F09544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F7A58-009D-4C83-9BAD-5691F78A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風格篇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BD7D6-65CE-46C5-9574-F535361E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F2287-20C3-4621-87F1-AD473F2B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風格不是只寫「可愛」或「好看」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2538F-E483-40F7-8DC4-765099B5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把感覺拆成可操作的視覺條件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88C3A-9AB5-4F72-B15E-E21CCA0B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3143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8D2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光線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自然光、硬光、側光、逆光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6D91A-9520-4F11-9A47-77BFCDA3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3124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solidFill>
              <a:srgbClr val="F8D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28D4F-9D31-4820-B48E-D2B1EF17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143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36F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情緒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平靜、溫暖、活力、神秘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D671D-37BB-4156-900A-8ACB256A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09775"/>
            <a:ext cx="3124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EB2A9-EACC-47C2-9EAF-96DEB2AE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0250"/>
            <a:ext cx="3143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5B9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色彩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低飽和、高飽和、冷色、暖色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636DF-61F6-4A47-915C-F669BE81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9775"/>
            <a:ext cx="3124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B040C-1511-4075-8E38-88D7BC17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3143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5B8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材質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石頭、金屬、木材、紙張、絲綢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4031E-3F28-4FD3-B037-BFDFDD32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3124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7E7CC-D9E3-4CAA-B475-5588E195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3143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8D24A"/>
          </a:solidFill>
          <a:ln xmlns:a="http://schemas.openxmlformats.org/drawingml/2006/main" w="14288">
            <a:solidFill>
              <a:srgbClr val="D39A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表現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攝影、3D、雜誌插畫、水彩、手繪草圖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F98A0-4FBF-473C-A2A1-0B9AED02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38525"/>
            <a:ext cx="3124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12"/>
          </a:solidFill>
          <a:ln xmlns:a="http://schemas.openxmlformats.org/drawingml/2006/main" w="0">
            <a:solidFill>
              <a:srgbClr val="D39A1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84140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F4590-61B0-40CB-92AA-EADBB1EC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6741C-B37C-4CA0-9C57-2A157EB7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BE753-F68E-4397-B7DC-772F1C56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0F4F6-7273-43A8-9336-DC524D29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25CE9-3F75-43E5-8505-ED65CF6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E1A64-38FB-4E10-B9EC-4576E05E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風格篇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337EF-019D-48C1-B9C1-25BBF23A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9C4E3-6C14-4845-837C-3D0D1DDC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族語教材的風格選擇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9BFE1-EA2E-46FD-9EA6-EF5E7A75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先問學習用途，再決定視覺語氣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15C10-2C19-4125-AB0D-C59731D0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476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8D2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生活情境圖卡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自然光、暖色、手機拍攝感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913D5-7298-45C1-BF78-B56978D4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05025"/>
            <a:ext cx="4457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solidFill>
              <a:srgbClr val="F8D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40780-DB10-4161-A27D-8D4D7B98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4476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36F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文化故事繪本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紙張、手繪、水彩、留白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A2C63-C738-4F71-9B64-F8A2208F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105025"/>
            <a:ext cx="4457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263C0-A569-48E3-987E-3F075D16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476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5B9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概念與流程圖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手繪草圖、清楚線條、資訊層次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C07ED-0FC3-4220-AE12-070F7A53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724275"/>
            <a:ext cx="4457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53567-E255-4ABC-BA75-83760F8D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4476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5B8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課堂封面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高對比、單一視覺焦點、大標題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2BCFA-2A8D-44A7-8033-9084E4EC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724275"/>
            <a:ext cx="4457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91234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9B9A0-391A-4097-B799-441917B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B4025-C81E-48A9-9A89-3C417EE4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48C5E-AF4E-4FB0-B2BD-53AA9B64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0DF26-F2B9-4963-936E-82BEB597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E066B-0E5C-4890-A3F3-77BF0F11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8DAE8-EBE9-4AD7-B0F8-9F7E5E05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03 構圖篇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F79A3-F106-4435-8DBD-B338F33E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6D476-8621-4B97-A278-DA8F9B9B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03 構圖篇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9467A-786A-42BE-B991-8B43D5DD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構圖決定素材能不能放進投影片、圖卡或手機畫面。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35172-2B8F-49FB-B79F-740B2E0A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8B120-0005-40F6-BD09-B8CF1223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994835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58952-B432-457D-AE31-DEA79397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1A122-FFCE-47FB-BA8F-B2CB26A1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43DBC-2A7B-4600-9DB7-A1F10572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1E560-5A32-473C-9BD4-500E962E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FBD62-6653-4CDB-A16B-85D8167E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B7A6C-819C-4E11-B511-134093F2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構圖篇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C9C54-795B-4908-954D-AF3A7D6A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4B7A8-5136-4857-BCC5-D9B09722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先選畫面比例，再選景別與鏡頭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25D9E-DC3B-49CD-8834-4B7B5935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影片提醒：不同平台與用途需要不同畫面安排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5D422-CB27-40B2-9E19-74EF6841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5720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8D2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比例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3:4 直式圖卡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4:3 教室投影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16:9 影片與簡報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74CD7-205D-4C16-8DE3-6686F3BF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62150"/>
            <a:ext cx="4552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solidFill>
              <a:srgbClr val="F8D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CAE1A-BCCC-49E1-9BE0-C10589E7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45720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36F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景別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遠景看環境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中景看人物與環境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近景看主體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特寫看細節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D68FC-83AA-4EC1-AC19-E6688DE3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62150"/>
            <a:ext cx="4552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C05E0-7C17-4728-A802-B8E49AB4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45720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5B9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機位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俯視適合資訊圖與教程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仰視突出主體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CBDE7-E15C-42CE-A252-0489941C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62400"/>
            <a:ext cx="4552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6089A-A885-4575-9F02-EBDA5EEF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52875"/>
            <a:ext cx="45720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5B8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鏡頭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廣角有強烈透視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長焦背景更近、更穩</a:t>
            </a:r>
          </a:p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微距呈現細節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8866D-F330-45D8-BB0E-41602DDC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962400"/>
            <a:ext cx="4552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16719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DBD8C-95A3-40D6-B173-0AA39A1F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22330-DDD3-4F8F-9F77-96285371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FD34F-DC86-44A1-B005-063622CB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BDC64-447E-48F9-A3ED-7A3B5190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889CC-B04D-4E31-BBC7-1519D432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5713D-DD66-4764-B791-B546DB29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構圖篇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5BD82-1DCE-47CC-AD52-07456567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3FCF3-C4C4-429D-BF7A-B9CBDBBD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草圖也是提示詞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D1ECF-30A4-43C8-A1E2-774C6F0F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不確定怎麼描述，就先畫位置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02171-D4BF-4569-B6A5-6B502FB8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上方：標題</a:t>
            </a:r>
          </a:p>
          <a:p xmlns:a="http://schemas.openxmlformats.org/drawingml/2006/main">
            <a:pPr>
              <a:defRPr sz="21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左側：族語詞彙與例句</a:t>
            </a:r>
          </a:p>
          <a:p xmlns:a="http://schemas.openxmlformats.org/drawingml/2006/main">
            <a:pPr>
              <a:defRPr sz="21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右側：人物或情境圖</a:t>
            </a:r>
          </a:p>
          <a:p xmlns:a="http://schemas.openxmlformats.org/drawingml/2006/main">
            <a:pPr>
              <a:defRPr sz="21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下方：學生任務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C49F5-F08B-400E-8783-99A870C0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3905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5B8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構圖草圖區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標題：________________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圖像區：________________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文字／任務區：____________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EFFAF-E0DE-4E18-B10B-36946052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009775"/>
            <a:ext cx="388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E6EE1-6AC8-4430-9E1A-4206786C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958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可以把紙上草圖拍照，交給 AI 參考。</a:t>
            </a:r>
          </a:p>
        </p:txBody>
      </p:sp>
    </p:spTree>
    <p:extLst>
      <p:ext uri="{BB962C8B-B14F-4D97-AF65-F5344CB8AC3E}">
        <p14:creationId xmlns:p14="http://schemas.microsoft.com/office/powerpoint/2010/main" val="21218504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92D55-F666-4A94-AC1B-B8ED0C0B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962DB-BAE4-4855-A54E-4FB52782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9FA2B-354E-4B36-84FF-F24410DB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A8FD2-0F8D-4C46-AF1A-509E1697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B0CAD-9D5D-4081-8697-DFD3C6CD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E0356-ED74-4AB2-AC81-0E6A147D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04 約束篇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B6A77-5515-4493-8110-DB18C511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F04C8-154A-4459-95D6-D0E4B936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04 約束篇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71EDB-4948-4D4B-8C89-92CED82F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修改時要同時說明「要改什麼」與「不能改什麼」。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5B69F-5116-406F-BD23-2094E20D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9A12"/>
          </a:solidFill>
          <a:ln xmlns:a="http://schemas.openxmlformats.org/drawingml/2006/main" w="0">
            <a:solidFill>
              <a:srgbClr val="D39A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C0476-1451-4898-B2B6-5CF60218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022774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ADD03-F77E-42DB-9B66-93189061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43BB3-E19D-449C-84FB-DD7797E2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CD4D1-9C52-442B-9296-65B3BE71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34504-3E6F-4BB8-BE62-69478637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BD6FE-CFCC-4A8D-9885-B9A05469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BBEC4-EF0D-4EE3-9F68-94DED7EE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約束篇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5DAF1-F7E6-4EA6-B067-76A8CEEF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3A6CD-E97B-45E4-BF5B-76FCE490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只說「換背景」還不夠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D9F65-AE4E-4B04-A4F5-C929ED2A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關鍵約束要在每一輪修改中重新說一次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A95EC-9B81-42D4-8226-B593452F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095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8D8"/>
          </a:solidFill>
          <a:ln xmlns:a="http://schemas.openxmlformats.org/drawingml/2006/main" w="14288">
            <a:solidFill>
              <a:srgbClr val="F8D2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修改目標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只修改背景為深綠色</a:t>
            </a:r>
          </a:p>
          <a:p xmlns:a="http://schemas.openxmlformats.org/drawingml/2006/main">
            <a:pPr>
              <a:defRPr sz="19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保留主體與原本構圖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9F1A7-5628-45F3-B304-2213CD8F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52650"/>
            <a:ext cx="4076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solidFill>
              <a:srgbClr val="F8D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F8F4D-CCA7-46BB-8BAE-9DDDCAC8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CF7F2"/>
          </a:solidFill>
          <a:ln xmlns:a="http://schemas.openxmlformats.org/drawingml/2006/main" w="14288">
            <a:solidFill>
              <a:srgbClr val="65B9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保留條件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主體輪廓、比例、材質、顏色、</a:t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位置與角度完全不變</a:t>
            </a:r>
          </a:p>
          <a:p xmlns:a="http://schemas.openxmlformats.org/drawingml/2006/main">
            <a:pPr>
              <a:def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只出現一個完整主體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C01E9-348F-4885-8CA6-634358B1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57400"/>
            <a:ext cx="4743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0B2A9-A8A5-4B3E-BBFB-6B2DB705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006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每一輪都重複關鍵約束，降低主體漂移。</a:t>
            </a:r>
          </a:p>
        </p:txBody>
      </p:sp>
    </p:spTree>
    <p:extLst>
      <p:ext uri="{BB962C8B-B14F-4D97-AF65-F5344CB8AC3E}">
        <p14:creationId xmlns:p14="http://schemas.microsoft.com/office/powerpoint/2010/main" val="7454958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A85B9-D101-4596-A00A-6FCD3389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3B598-6967-4E97-96A4-A5D05984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B7179-3428-4101-AE8D-071BA99F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9472F-82CB-4877-A575-A710356F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A6AAC-45C2-482A-9D06-80D99A97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4C68B-FBE3-46A7-80AD-CCBF30FA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約束篇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4BA30-C56D-4CB7-9039-A21C3F44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99B66-AD75-4B92-9074-37560162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練習 2｜寫一輪可控的修改指令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A420C-185A-4566-8FDD-54C562F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時間：15 分鐘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0B4AF-241E-4549-ACF8-3EBEA1BF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請用以下句型改寫你的提示詞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77E43-5E42-4063-9D26-8816A155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7810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36F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我要修改：____________________________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請保留：______________________________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請不要新增／改變：_____________________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輸出用途與比例：_______________________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F7E7A-60E2-48CB-9C9E-C558EC61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28900"/>
            <a:ext cx="7791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29937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4D93D-3E11-4565-97C0-B858AEDC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53663-2984-4AF0-92B9-C2C596E9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F29BA-E76E-4067-9BE3-1FA73331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2E4AF-700A-49A5-9BBB-D5FB0116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53972-2173-453A-A878-3A379EC3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488E7-EF49-46DB-B171-F66C83BC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05 實戰篇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CE64E-8E62-4C6C-95EF-E431BDBC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825EE-682D-40B9-B5EA-F9775EE8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05 實戰篇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93030-6439-479F-8328-B113C35B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影片示範封面圖、原理／科研圖與整套電商圖，教師可轉成三種教材任務。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3EF04-7F07-48A6-B276-3E528D63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4EADE-0D0F-4260-8FFC-D9F46329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938178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03036-C2ED-462A-94B5-F9FE81AC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9DF63-8915-4363-AA87-4741F8CF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DD87D-5C12-43B3-A0CB-2BD800A0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156C3-E336-4CA5-83C8-856CAA23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39026-7A31-4463-974F-21773A4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D0F0C-CBC1-4E4B-85B0-8D87793D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實戰篇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0E8DC-8B72-4F24-821B-3CF0493C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6E5EE-3DF2-4408-B89B-73938DE5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三種實戰情境，對應三種教材需求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B8E34-5A54-4A99-A009-EE07B8BC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先決定資訊任務，再決定要生成什麼圖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B1736-5B5C-458C-B290-64910420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000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8D2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  <a:p xmlns:a="http://schemas.openxmlformats.org/drawingml/2006/main">
            <a:pPr>
              <a:def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課程封面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主題、標題、人物參考圖</a:t>
            </a:r>
          </a:p>
          <a:p xmlns:a="http://schemas.openxmlformats.org/drawingml/2006/main">
            <a:pPr>
              <a:def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誇張表情、廣角、單一視覺焦點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8B2BB-FBB4-4E4E-A41E-5E2926B6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05025"/>
            <a:ext cx="29813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solidFill>
              <a:srgbClr val="F8D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21399-C010-423B-A018-75A2F544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000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36F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  <a:p xmlns:a="http://schemas.openxmlformats.org/drawingml/2006/main">
            <a:pPr>
              <a:def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原理／流程圖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先想清楚要解釋什麼關係</a:t>
            </a:r>
          </a:p>
          <a:p xmlns:a="http://schemas.openxmlformats.org/drawingml/2006/main">
            <a:pPr>
              <a:def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技術路線、架構、機制、圖形摘要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1D7D5-8E52-49E8-A1CF-E7CB4782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05025"/>
            <a:ext cx="29813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0E6BB-333B-41D4-915E-47051E25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000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5B9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  <a:p xmlns:a="http://schemas.openxmlformats.org/drawingml/2006/main">
            <a:pPr>
              <a:def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一套學習圖卡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每張圖回答一個學生問題</a:t>
            </a:r>
          </a:p>
          <a:p xmlns:a="http://schemas.openxmlformats.org/drawingml/2006/main">
            <a:pPr>
              <a:def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同一主體、同一風格、不同任務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194EB-EA26-45A5-945D-D90558E6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105025"/>
            <a:ext cx="29813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61322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FCA9EB-DF6F-4DC2-B0E9-7AA624E1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D661B-94AD-465D-89CE-C85F4716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60928-C621-476A-8360-CD886348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AE6F3-DC3A-4E87-9B35-AC2AE951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EAC0E-B97D-42F0-A39C-FEA04AC3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A8634-EFD5-433D-9F27-C5B4AEDE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實戰篇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2B15A-19F6-4EEF-A423-FD002988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466F6-A155-413A-B2E0-2E567BC9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練習 3｜完成族語教材微型方案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4869E-C714-408C-B527-524888D3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時間：25 分鐘，最後 5 分鐘分享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AC610-4F71-4090-B690-0D591A88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教材類型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08C1B-072C-4230-9A4E-A26E5D45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0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D4AC1-F124-43C6-942A-A170315B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要回答的學習問題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0F5DB-8B69-48A6-B88F-E7D04BFD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0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D272F-11FC-4A71-A256-EF501D2A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五部分提示詞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D78D4-17FE-4206-87EF-4FA1276D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0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460CB-E548-4DA1-83B4-D3D6D03E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修改時的關鍵約束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17651-D1C4-40CE-98E8-6A5D14FB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767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0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8993FA-929C-4999-86E7-B39D7E7B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學生任務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D461B-2AB0-4063-8275-15DCC0A3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434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0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D57366-7508-4273-AE32-E22D5AA6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8382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D24A"/>
          </a:solidFill>
          <a:ln xmlns:a="http://schemas.openxmlformats.org/drawingml/2006/main" w="14288">
            <a:solidFill>
              <a:srgbClr val="F8D2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分享：這張素材要幫學生看懂、說出還是做出什麼？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95BB90-437E-4874-97B4-62EDCCAC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95900"/>
            <a:ext cx="8362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solidFill>
              <a:srgbClr val="F8D2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56581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D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CA8A2-3B25-482F-9E56-2173CA18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2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BEC15-2B14-452A-A44C-66CF173E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3258C-271D-44A2-B4B3-D442D886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D"/>
          </a:solidFill>
          <a:ln xmlns:a="http://schemas.openxmlformats.org/drawingml/2006/main" w="0">
            <a:solidFill>
              <a:srgbClr val="F36F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0991D-97D2-4A47-AC0D-F8231A0B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8E7"/>
          </a:solidFill>
          <a:ln xmlns:a="http://schemas.openxmlformats.org/drawingml/2006/main" w="0">
            <a:solidFill>
              <a:srgbClr val="65B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9FBF9-0CCD-4013-BC27-ED09C392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960"/>
          </a:solidFill>
          <a:ln xmlns:a="http://schemas.openxmlformats.org/drawingml/2006/main" w="0">
            <a:solidFill>
              <a:srgbClr val="65B9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B0A11-D10E-4663-8DCA-A9CE83A2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9A12"/>
                </a:solidFill>
                <a:latin typeface="Microsoft JhengHei"/>
                <a:ea typeface="Microsoft JhengHei"/>
                <a:cs typeface="Microsoft JhengHei"/>
              </a:rPr>
              <a:t>收尾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90FB4-0A7F-40CF-88BB-512454EC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A1ADF-E4A8-4CDA-85C2-35348033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帶走一套可重複使用的方法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2D8DB-3F2E-457E-B25A-12C55BF6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57067"/>
                </a:solidFill>
                <a:latin typeface="Microsoft JhengHei"/>
                <a:ea typeface="Microsoft JhengHei"/>
                <a:cs typeface="Microsoft JhengHei"/>
              </a:rPr>
              <a:t>下一次換主題，不必從零開始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640a6531d46e5"/>
          <a:stretch xmlns:a="http://schemas.openxmlformats.org/drawingml/2006/main"/>
        </p:blipFill>
        <p:spPr>
          <a:xfrm xmlns:a="http://schemas.openxmlformats.org/drawingml/2006/main">
            <a:off x="8151869" y="1714500"/>
            <a:ext cx="2746262" cy="2190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9FD9F-6532-45DB-9A1D-B6D4B8F8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1 先定義學生要學會什麼</a:t>
            </a:r>
          </a:p>
          <a:p xmlns:a="http://schemas.openxmlformats.org/drawingml/2006/main">
            <a:pPr>
              <a:defRPr sz="23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2 再拆五部分提示詞</a:t>
            </a:r>
          </a:p>
          <a:p xmlns:a="http://schemas.openxmlformats.org/drawingml/2006/main">
            <a:pPr>
              <a:defRPr sz="23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3 生成後檢查並重複約束</a:t>
            </a:r>
          </a:p>
          <a:p xmlns:a="http://schemas.openxmlformats.org/drawingml/2006/main">
            <a:pPr>
              <a:defRPr sz="23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F3027"/>
                </a:solidFill>
                <a:latin typeface="Microsoft JhengHei"/>
                <a:ea typeface="Microsoft JhengHei"/>
                <a:cs typeface="Microsoft JhengHei"/>
              </a:rPr>
              <a:t>4 把圖接上學生任務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4C3BD-044E-409A-A6BD-F82CA226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7239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1F3027"/>
          </a:solidFill>
          <a:ln xmlns:a="http://schemas.openxmlformats.org/drawingml/2006/main" w="14288">
            <a:solidFill>
              <a:srgbClr val="1F30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課後任務：用今天的方法完成一張族語教材圖，帶回課堂試用一次。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5BF25-0A0C-4DE8-9606-C113A96B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62525"/>
            <a:ext cx="7219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027"/>
          </a:solidFill>
          <a:ln xmlns:a="http://schemas.openxmlformats.org/drawingml/2006/main" w="0">
            <a:solidFill>
              <a:srgbClr val="1F302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5941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2026-09-04T09:58:14.9500000Z</dcterms:created>
  <dcterms:modified xsi:type="dcterms:W3CDTF">2026-09-04T09:58:14.9500000Z</dcterms:modified>
</coreProperties>
</file>